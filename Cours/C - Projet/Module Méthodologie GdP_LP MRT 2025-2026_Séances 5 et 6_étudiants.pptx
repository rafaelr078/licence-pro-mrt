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98"/>
  </p:notesMasterIdLst>
  <p:sldIdLst>
    <p:sldId id="256" r:id="rId2"/>
    <p:sldId id="281" r:id="rId3"/>
    <p:sldId id="287" r:id="rId4"/>
    <p:sldId id="289" r:id="rId5"/>
    <p:sldId id="291" r:id="rId6"/>
    <p:sldId id="286" r:id="rId7"/>
    <p:sldId id="295" r:id="rId8"/>
    <p:sldId id="296" r:id="rId9"/>
    <p:sldId id="318" r:id="rId10"/>
    <p:sldId id="319" r:id="rId11"/>
    <p:sldId id="320" r:id="rId12"/>
    <p:sldId id="297" r:id="rId13"/>
    <p:sldId id="298" r:id="rId14"/>
    <p:sldId id="303" r:id="rId15"/>
    <p:sldId id="304" r:id="rId16"/>
    <p:sldId id="283" r:id="rId17"/>
    <p:sldId id="284" r:id="rId18"/>
    <p:sldId id="285" r:id="rId19"/>
    <p:sldId id="292" r:id="rId20"/>
    <p:sldId id="299" r:id="rId21"/>
    <p:sldId id="288" r:id="rId22"/>
    <p:sldId id="305" r:id="rId23"/>
    <p:sldId id="306" r:id="rId24"/>
    <p:sldId id="308" r:id="rId25"/>
    <p:sldId id="310" r:id="rId26"/>
    <p:sldId id="312" r:id="rId27"/>
    <p:sldId id="309" r:id="rId28"/>
    <p:sldId id="313" r:id="rId29"/>
    <p:sldId id="323" r:id="rId30"/>
    <p:sldId id="324" r:id="rId31"/>
    <p:sldId id="336" r:id="rId32"/>
    <p:sldId id="387" r:id="rId33"/>
    <p:sldId id="388" r:id="rId34"/>
    <p:sldId id="389" r:id="rId35"/>
    <p:sldId id="315" r:id="rId36"/>
    <p:sldId id="316" r:id="rId37"/>
    <p:sldId id="317" r:id="rId38"/>
    <p:sldId id="390" r:id="rId39"/>
    <p:sldId id="391" r:id="rId40"/>
    <p:sldId id="392" r:id="rId41"/>
    <p:sldId id="393" r:id="rId42"/>
    <p:sldId id="394" r:id="rId43"/>
    <p:sldId id="337" r:id="rId44"/>
    <p:sldId id="395" r:id="rId45"/>
    <p:sldId id="396" r:id="rId46"/>
    <p:sldId id="325" r:id="rId47"/>
    <p:sldId id="326" r:id="rId48"/>
    <p:sldId id="327" r:id="rId49"/>
    <p:sldId id="328" r:id="rId50"/>
    <p:sldId id="329" r:id="rId51"/>
    <p:sldId id="330" r:id="rId52"/>
    <p:sldId id="331" r:id="rId53"/>
    <p:sldId id="332" r:id="rId54"/>
    <p:sldId id="333" r:id="rId55"/>
    <p:sldId id="334" r:id="rId56"/>
    <p:sldId id="335" r:id="rId57"/>
    <p:sldId id="338" r:id="rId58"/>
    <p:sldId id="339" r:id="rId59"/>
    <p:sldId id="340" r:id="rId60"/>
    <p:sldId id="341" r:id="rId61"/>
    <p:sldId id="342" r:id="rId62"/>
    <p:sldId id="343" r:id="rId63"/>
    <p:sldId id="344" r:id="rId64"/>
    <p:sldId id="348" r:id="rId65"/>
    <p:sldId id="349" r:id="rId66"/>
    <p:sldId id="397" r:id="rId67"/>
    <p:sldId id="350" r:id="rId68"/>
    <p:sldId id="351" r:id="rId69"/>
    <p:sldId id="355" r:id="rId70"/>
    <p:sldId id="345" r:id="rId71"/>
    <p:sldId id="400" r:id="rId72"/>
    <p:sldId id="356" r:id="rId73"/>
    <p:sldId id="357" r:id="rId74"/>
    <p:sldId id="358" r:id="rId75"/>
    <p:sldId id="359" r:id="rId76"/>
    <p:sldId id="360" r:id="rId77"/>
    <p:sldId id="361" r:id="rId78"/>
    <p:sldId id="362" r:id="rId79"/>
    <p:sldId id="363" r:id="rId80"/>
    <p:sldId id="364" r:id="rId81"/>
    <p:sldId id="365" r:id="rId82"/>
    <p:sldId id="366" r:id="rId83"/>
    <p:sldId id="367" r:id="rId84"/>
    <p:sldId id="368" r:id="rId85"/>
    <p:sldId id="369" r:id="rId86"/>
    <p:sldId id="370" r:id="rId87"/>
    <p:sldId id="371" r:id="rId88"/>
    <p:sldId id="372" r:id="rId89"/>
    <p:sldId id="373" r:id="rId90"/>
    <p:sldId id="374" r:id="rId91"/>
    <p:sldId id="375" r:id="rId92"/>
    <p:sldId id="376" r:id="rId93"/>
    <p:sldId id="377" r:id="rId94"/>
    <p:sldId id="378" r:id="rId95"/>
    <p:sldId id="379" r:id="rId96"/>
    <p:sldId id="273" r:id="rId97"/>
  </p:sldIdLst>
  <p:sldSz cx="9144000" cy="6858000" type="screen4x3"/>
  <p:notesSz cx="6799263" cy="9929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53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2" autoAdjust="0"/>
    <p:restoredTop sz="85695" autoAdjust="0"/>
  </p:normalViewPr>
  <p:slideViewPr>
    <p:cSldViewPr>
      <p:cViewPr varScale="1">
        <p:scale>
          <a:sx n="62" d="100"/>
          <a:sy n="62" d="100"/>
        </p:scale>
        <p:origin x="2026" y="274"/>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rothée Koe Effala" userId="0d03d5b95cb9741f" providerId="LiveId" clId="{9ACA4A33-6109-4DF2-A021-8DF41D078881}"/>
    <pc:docChg chg="modSld">
      <pc:chgData name="Dorothée Koe Effala" userId="0d03d5b95cb9741f" providerId="LiveId" clId="{9ACA4A33-6109-4DF2-A021-8DF41D078881}" dt="2025-10-15T06:51:00.369" v="57" actId="20577"/>
      <pc:docMkLst>
        <pc:docMk/>
      </pc:docMkLst>
      <pc:sldChg chg="modSp mod">
        <pc:chgData name="Dorothée Koe Effala" userId="0d03d5b95cb9741f" providerId="LiveId" clId="{9ACA4A33-6109-4DF2-A021-8DF41D078881}" dt="2025-10-15T06:46:27.321" v="10" actId="20577"/>
        <pc:sldMkLst>
          <pc:docMk/>
          <pc:sldMk cId="3236112972" sldId="256"/>
        </pc:sldMkLst>
        <pc:spChg chg="mod">
          <ac:chgData name="Dorothée Koe Effala" userId="0d03d5b95cb9741f" providerId="LiveId" clId="{9ACA4A33-6109-4DF2-A021-8DF41D078881}" dt="2025-10-15T06:46:27.321" v="10" actId="20577"/>
          <ac:spMkLst>
            <pc:docMk/>
            <pc:sldMk cId="3236112972" sldId="256"/>
            <ac:spMk id="3" creationId="{00000000-0000-0000-0000-000000000000}"/>
          </ac:spMkLst>
        </pc:spChg>
      </pc:sldChg>
      <pc:sldChg chg="modSp mod">
        <pc:chgData name="Dorothée Koe Effala" userId="0d03d5b95cb9741f" providerId="LiveId" clId="{9ACA4A33-6109-4DF2-A021-8DF41D078881}" dt="2025-10-15T06:47:25.223" v="11" actId="20577"/>
        <pc:sldMkLst>
          <pc:docMk/>
          <pc:sldMk cId="3206047447" sldId="315"/>
        </pc:sldMkLst>
        <pc:spChg chg="mod">
          <ac:chgData name="Dorothée Koe Effala" userId="0d03d5b95cb9741f" providerId="LiveId" clId="{9ACA4A33-6109-4DF2-A021-8DF41D078881}" dt="2025-10-15T06:47:25.223" v="11" actId="20577"/>
          <ac:spMkLst>
            <pc:docMk/>
            <pc:sldMk cId="3206047447" sldId="315"/>
            <ac:spMk id="3" creationId="{00000000-0000-0000-0000-000000000000}"/>
          </ac:spMkLst>
        </pc:spChg>
      </pc:sldChg>
      <pc:sldChg chg="modSp mod">
        <pc:chgData name="Dorothée Koe Effala" userId="0d03d5b95cb9741f" providerId="LiveId" clId="{9ACA4A33-6109-4DF2-A021-8DF41D078881}" dt="2025-10-15T06:48:04.751" v="15" actId="20577"/>
        <pc:sldMkLst>
          <pc:docMk/>
          <pc:sldMk cId="2085196289" sldId="326"/>
        </pc:sldMkLst>
        <pc:spChg chg="mod">
          <ac:chgData name="Dorothée Koe Effala" userId="0d03d5b95cb9741f" providerId="LiveId" clId="{9ACA4A33-6109-4DF2-A021-8DF41D078881}" dt="2025-10-15T06:48:04.751" v="15" actId="20577"/>
          <ac:spMkLst>
            <pc:docMk/>
            <pc:sldMk cId="2085196289" sldId="326"/>
            <ac:spMk id="3" creationId="{00000000-0000-0000-0000-000000000000}"/>
          </ac:spMkLst>
        </pc:spChg>
      </pc:sldChg>
      <pc:sldChg chg="modSp mod">
        <pc:chgData name="Dorothée Koe Effala" userId="0d03d5b95cb9741f" providerId="LiveId" clId="{9ACA4A33-6109-4DF2-A021-8DF41D078881}" dt="2025-10-15T06:49:45.424" v="49" actId="20577"/>
        <pc:sldMkLst>
          <pc:docMk/>
          <pc:sldMk cId="3031731254" sldId="327"/>
        </pc:sldMkLst>
        <pc:spChg chg="mod">
          <ac:chgData name="Dorothée Koe Effala" userId="0d03d5b95cb9741f" providerId="LiveId" clId="{9ACA4A33-6109-4DF2-A021-8DF41D078881}" dt="2025-10-15T06:49:45.424" v="49" actId="20577"/>
          <ac:spMkLst>
            <pc:docMk/>
            <pc:sldMk cId="3031731254" sldId="327"/>
            <ac:spMk id="3" creationId="{00000000-0000-0000-0000-000000000000}"/>
          </ac:spMkLst>
        </pc:spChg>
      </pc:sldChg>
      <pc:sldChg chg="modSp mod">
        <pc:chgData name="Dorothée Koe Effala" userId="0d03d5b95cb9741f" providerId="LiveId" clId="{9ACA4A33-6109-4DF2-A021-8DF41D078881}" dt="2025-10-15T06:50:29.253" v="51" actId="20577"/>
        <pc:sldMkLst>
          <pc:docMk/>
          <pc:sldMk cId="2981163775" sldId="334"/>
        </pc:sldMkLst>
        <pc:spChg chg="mod">
          <ac:chgData name="Dorothée Koe Effala" userId="0d03d5b95cb9741f" providerId="LiveId" clId="{9ACA4A33-6109-4DF2-A021-8DF41D078881}" dt="2025-10-15T06:50:29.253" v="51" actId="20577"/>
          <ac:spMkLst>
            <pc:docMk/>
            <pc:sldMk cId="2981163775" sldId="334"/>
            <ac:spMk id="3" creationId="{00000000-0000-0000-0000-000000000000}"/>
          </ac:spMkLst>
        </pc:spChg>
      </pc:sldChg>
      <pc:sldChg chg="modSp mod">
        <pc:chgData name="Dorothée Koe Effala" userId="0d03d5b95cb9741f" providerId="LiveId" clId="{9ACA4A33-6109-4DF2-A021-8DF41D078881}" dt="2025-10-15T06:51:00.369" v="57" actId="20577"/>
        <pc:sldMkLst>
          <pc:docMk/>
          <pc:sldMk cId="818118989" sldId="335"/>
        </pc:sldMkLst>
        <pc:spChg chg="mod">
          <ac:chgData name="Dorothée Koe Effala" userId="0d03d5b95cb9741f" providerId="LiveId" clId="{9ACA4A33-6109-4DF2-A021-8DF41D078881}" dt="2025-10-15T06:51:00.369" v="57" actId="20577"/>
          <ac:spMkLst>
            <pc:docMk/>
            <pc:sldMk cId="818118989" sldId="335"/>
            <ac:spMk id="3" creationId="{00000000-0000-0000-0000-000000000000}"/>
          </ac:spMkLst>
        </pc:spChg>
      </pc:sldChg>
      <pc:sldChg chg="modSp mod">
        <pc:chgData name="Dorothée Koe Effala" userId="0d03d5b95cb9741f" providerId="LiveId" clId="{9ACA4A33-6109-4DF2-A021-8DF41D078881}" dt="2025-10-15T06:47:39.120" v="12" actId="20577"/>
        <pc:sldMkLst>
          <pc:docMk/>
          <pc:sldMk cId="3612115935" sldId="390"/>
        </pc:sldMkLst>
        <pc:spChg chg="mod">
          <ac:chgData name="Dorothée Koe Effala" userId="0d03d5b95cb9741f" providerId="LiveId" clId="{9ACA4A33-6109-4DF2-A021-8DF41D078881}" dt="2025-10-15T06:47:39.120" v="12" actId="20577"/>
          <ac:spMkLst>
            <pc:docMk/>
            <pc:sldMk cId="3612115935" sldId="390"/>
            <ac:spMk id="3" creationId="{00000000-0000-0000-0000-000000000000}"/>
          </ac:spMkLst>
        </pc:spChg>
      </pc:sldChg>
    </pc:docChg>
  </pc:docChgLst>
  <pc:docChgLst>
    <pc:chgData name="Dorothée Koe Effala" userId="0d03d5b95cb9741f" providerId="LiveId" clId="{345BADFB-62ED-4480-B6CE-18F6E6D6D60C}"/>
    <pc:docChg chg="custSel modSld">
      <pc:chgData name="Dorothée Koe Effala" userId="0d03d5b95cb9741f" providerId="LiveId" clId="{345BADFB-62ED-4480-B6CE-18F6E6D6D60C}" dt="2024-10-16T14:50:00.058" v="120" actId="20577"/>
      <pc:docMkLst>
        <pc:docMk/>
      </pc:docMkLst>
      <pc:sldChg chg="modSp mod">
        <pc:chgData name="Dorothée Koe Effala" userId="0d03d5b95cb9741f" providerId="LiveId" clId="{345BADFB-62ED-4480-B6CE-18F6E6D6D60C}" dt="2024-10-16T14:50:00.058" v="120" actId="20577"/>
        <pc:sldMkLst>
          <pc:docMk/>
          <pc:sldMk cId="3236112972" sldId="256"/>
        </pc:sldMkLst>
      </pc:sldChg>
    </pc:docChg>
  </pc:docChgLst>
  <pc:docChgLst>
    <pc:chgData name="Dorothée Koe Effala" userId="0d03d5b95cb9741f" providerId="LiveId" clId="{842FF88A-C390-471F-94CD-727F48A3C2E7}"/>
    <pc:docChg chg="modSld">
      <pc:chgData name="Dorothée Koe Effala" userId="0d03d5b95cb9741f" providerId="LiveId" clId="{842FF88A-C390-471F-94CD-727F48A3C2E7}" dt="2024-11-06T15:57:23.601" v="1" actId="20577"/>
      <pc:docMkLst>
        <pc:docMk/>
      </pc:docMkLst>
      <pc:sldChg chg="modSp mod">
        <pc:chgData name="Dorothée Koe Effala" userId="0d03d5b95cb9741f" providerId="LiveId" clId="{842FF88A-C390-471F-94CD-727F48A3C2E7}" dt="2024-11-06T15:57:23.601" v="1" actId="20577"/>
        <pc:sldMkLst>
          <pc:docMk/>
          <pc:sldMk cId="3206047447" sldId="31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102D77-C61D-485C-8E2C-E6F5384872F5}" type="doc">
      <dgm:prSet loTypeId="urn:microsoft.com/office/officeart/2005/8/layout/orgChart1" loCatId="hierarchy" qsTypeId="urn:microsoft.com/office/officeart/2005/8/quickstyle/simple1" qsCatId="simple" csTypeId="urn:microsoft.com/office/officeart/2005/8/colors/accent1_5" csCatId="accent1" phldr="1"/>
      <dgm:spPr/>
      <dgm:t>
        <a:bodyPr/>
        <a:lstStyle/>
        <a:p>
          <a:endParaRPr lang="fr-FR"/>
        </a:p>
      </dgm:t>
    </dgm:pt>
    <dgm:pt modelId="{FF802F8C-CD31-4D36-A45E-C75B5EFE6661}">
      <dgm:prSet phldrT="[Texte]"/>
      <dgm:spPr/>
      <dgm:t>
        <a:bodyPr/>
        <a:lstStyle/>
        <a:p>
          <a:r>
            <a:rPr lang="fr-FR" dirty="0">
              <a:solidFill>
                <a:schemeClr val="tx1"/>
              </a:solidFill>
            </a:rPr>
            <a:t>Projet</a:t>
          </a:r>
        </a:p>
      </dgm:t>
    </dgm:pt>
    <dgm:pt modelId="{78FCD795-104D-4BCE-B938-4C18CC575352}" type="parTrans" cxnId="{0106DC34-5F79-4F56-8499-4F6E3FBABF24}">
      <dgm:prSet/>
      <dgm:spPr/>
      <dgm:t>
        <a:bodyPr/>
        <a:lstStyle/>
        <a:p>
          <a:endParaRPr lang="fr-FR"/>
        </a:p>
      </dgm:t>
    </dgm:pt>
    <dgm:pt modelId="{4825EA1E-60C9-4F74-BCFF-F818C537C578}" type="sibTrans" cxnId="{0106DC34-5F79-4F56-8499-4F6E3FBABF24}">
      <dgm:prSet/>
      <dgm:spPr/>
      <dgm:t>
        <a:bodyPr/>
        <a:lstStyle/>
        <a:p>
          <a:endParaRPr lang="fr-FR"/>
        </a:p>
      </dgm:t>
    </dgm:pt>
    <dgm:pt modelId="{4CB79DBD-49F3-4D3C-A308-528D347B241D}">
      <dgm:prSet phldrT="[Texte]"/>
      <dgm:spPr/>
      <dgm:t>
        <a:bodyPr/>
        <a:lstStyle/>
        <a:p>
          <a:r>
            <a:rPr lang="fr-FR" dirty="0">
              <a:solidFill>
                <a:schemeClr val="tx1"/>
              </a:solidFill>
            </a:rPr>
            <a:t>Lot 1</a:t>
          </a:r>
        </a:p>
      </dgm:t>
    </dgm:pt>
    <dgm:pt modelId="{027D4F15-5193-4256-B9F1-D74D55C81ADF}" type="parTrans" cxnId="{A8B6BCF9-834F-4713-8805-1DF16A8D5003}">
      <dgm:prSet/>
      <dgm:spPr/>
      <dgm:t>
        <a:bodyPr/>
        <a:lstStyle/>
        <a:p>
          <a:endParaRPr lang="fr-FR"/>
        </a:p>
      </dgm:t>
    </dgm:pt>
    <dgm:pt modelId="{BB16F5D2-BCBA-475C-B275-3C3297C16E18}" type="sibTrans" cxnId="{A8B6BCF9-834F-4713-8805-1DF16A8D5003}">
      <dgm:prSet/>
      <dgm:spPr/>
      <dgm:t>
        <a:bodyPr/>
        <a:lstStyle/>
        <a:p>
          <a:endParaRPr lang="fr-FR"/>
        </a:p>
      </dgm:t>
    </dgm:pt>
    <dgm:pt modelId="{5B134D48-3137-4EA8-9DB6-D89387C046F1}">
      <dgm:prSet phldrT="[Texte]"/>
      <dgm:spPr/>
      <dgm:t>
        <a:bodyPr/>
        <a:lstStyle/>
        <a:p>
          <a:r>
            <a:rPr lang="fr-FR" dirty="0">
              <a:solidFill>
                <a:schemeClr val="tx1"/>
              </a:solidFill>
            </a:rPr>
            <a:t>Lot 2</a:t>
          </a:r>
        </a:p>
      </dgm:t>
    </dgm:pt>
    <dgm:pt modelId="{6DE863AB-8382-49FF-920C-EEF97764528D}" type="parTrans" cxnId="{42AFF5BF-4D8E-43DB-BAD5-123CACFE71FA}">
      <dgm:prSet/>
      <dgm:spPr/>
      <dgm:t>
        <a:bodyPr/>
        <a:lstStyle/>
        <a:p>
          <a:endParaRPr lang="fr-FR"/>
        </a:p>
      </dgm:t>
    </dgm:pt>
    <dgm:pt modelId="{3827AB53-830F-4D8E-B505-6370F343A918}" type="sibTrans" cxnId="{42AFF5BF-4D8E-43DB-BAD5-123CACFE71FA}">
      <dgm:prSet/>
      <dgm:spPr/>
      <dgm:t>
        <a:bodyPr/>
        <a:lstStyle/>
        <a:p>
          <a:endParaRPr lang="fr-FR"/>
        </a:p>
      </dgm:t>
    </dgm:pt>
    <dgm:pt modelId="{D2CC29B4-CCB7-4ADC-8334-CE5ABBAE839D}">
      <dgm:prSet phldrT="[Texte]"/>
      <dgm:spPr/>
      <dgm:t>
        <a:bodyPr/>
        <a:lstStyle/>
        <a:p>
          <a:r>
            <a:rPr lang="fr-FR" dirty="0">
              <a:solidFill>
                <a:schemeClr val="tx1"/>
              </a:solidFill>
            </a:rPr>
            <a:t>Lot 3</a:t>
          </a:r>
        </a:p>
      </dgm:t>
    </dgm:pt>
    <dgm:pt modelId="{22AC6B26-B8E9-42D3-AF66-24CC82D24B61}" type="parTrans" cxnId="{9927F343-897B-46B0-9D8E-A7E3719504CB}">
      <dgm:prSet/>
      <dgm:spPr/>
      <dgm:t>
        <a:bodyPr/>
        <a:lstStyle/>
        <a:p>
          <a:endParaRPr lang="fr-FR"/>
        </a:p>
      </dgm:t>
    </dgm:pt>
    <dgm:pt modelId="{5410E785-C14F-4BB0-855A-90020D6FC32C}" type="sibTrans" cxnId="{9927F343-897B-46B0-9D8E-A7E3719504CB}">
      <dgm:prSet/>
      <dgm:spPr/>
      <dgm:t>
        <a:bodyPr/>
        <a:lstStyle/>
        <a:p>
          <a:endParaRPr lang="fr-FR"/>
        </a:p>
      </dgm:t>
    </dgm:pt>
    <dgm:pt modelId="{47EE9C14-3D3C-4F80-88FB-558A4C8A3819}">
      <dgm:prSet phldrT="[Texte]"/>
      <dgm:spPr/>
      <dgm:t>
        <a:bodyPr/>
        <a:lstStyle/>
        <a:p>
          <a:r>
            <a:rPr lang="fr-FR" dirty="0">
              <a:solidFill>
                <a:schemeClr val="tx1"/>
              </a:solidFill>
            </a:rPr>
            <a:t>Lot 4</a:t>
          </a:r>
        </a:p>
      </dgm:t>
    </dgm:pt>
    <dgm:pt modelId="{00876160-C3FB-48A7-ABA6-A5069A0EB0C3}" type="parTrans" cxnId="{2134C4BF-307B-4E48-B21B-4D75842CAEB1}">
      <dgm:prSet/>
      <dgm:spPr/>
      <dgm:t>
        <a:bodyPr/>
        <a:lstStyle/>
        <a:p>
          <a:endParaRPr lang="fr-FR"/>
        </a:p>
      </dgm:t>
    </dgm:pt>
    <dgm:pt modelId="{F8DF7069-9934-4938-AF2E-6D94C83CC60E}" type="sibTrans" cxnId="{2134C4BF-307B-4E48-B21B-4D75842CAEB1}">
      <dgm:prSet/>
      <dgm:spPr/>
      <dgm:t>
        <a:bodyPr/>
        <a:lstStyle/>
        <a:p>
          <a:endParaRPr lang="fr-FR"/>
        </a:p>
      </dgm:t>
    </dgm:pt>
    <dgm:pt modelId="{FE0B0AC2-F122-4AA2-AB94-9871284E362C}">
      <dgm:prSet phldrT="[Texte]"/>
      <dgm:spPr/>
      <dgm:t>
        <a:bodyPr/>
        <a:lstStyle/>
        <a:p>
          <a:r>
            <a:rPr lang="fr-FR" dirty="0">
              <a:solidFill>
                <a:schemeClr val="tx1"/>
              </a:solidFill>
            </a:rPr>
            <a:t>Tâche 1.1</a:t>
          </a:r>
        </a:p>
      </dgm:t>
    </dgm:pt>
    <dgm:pt modelId="{8F335577-BEA7-46B5-BBE4-3A08647E689E}" type="parTrans" cxnId="{294B2E5B-C086-4FB8-81D8-8F2686CC039F}">
      <dgm:prSet/>
      <dgm:spPr/>
      <dgm:t>
        <a:bodyPr/>
        <a:lstStyle/>
        <a:p>
          <a:endParaRPr lang="fr-FR"/>
        </a:p>
      </dgm:t>
    </dgm:pt>
    <dgm:pt modelId="{4789226E-0E5E-4712-9630-D4B81C9F4F59}" type="sibTrans" cxnId="{294B2E5B-C086-4FB8-81D8-8F2686CC039F}">
      <dgm:prSet/>
      <dgm:spPr/>
      <dgm:t>
        <a:bodyPr/>
        <a:lstStyle/>
        <a:p>
          <a:endParaRPr lang="fr-FR"/>
        </a:p>
      </dgm:t>
    </dgm:pt>
    <dgm:pt modelId="{47288AA7-AEAD-4119-BDC5-E4756CBF3E8D}">
      <dgm:prSet phldrT="[Texte]"/>
      <dgm:spPr/>
      <dgm:t>
        <a:bodyPr/>
        <a:lstStyle/>
        <a:p>
          <a:r>
            <a:rPr lang="fr-FR" dirty="0">
              <a:solidFill>
                <a:schemeClr val="tx1"/>
              </a:solidFill>
            </a:rPr>
            <a:t>Tâche 1.2</a:t>
          </a:r>
        </a:p>
      </dgm:t>
    </dgm:pt>
    <dgm:pt modelId="{DE662E5A-762B-49ED-8275-30D58A1ED9C9}" type="parTrans" cxnId="{85E1B02A-A447-44E2-BF36-96D65F806C3C}">
      <dgm:prSet/>
      <dgm:spPr/>
      <dgm:t>
        <a:bodyPr/>
        <a:lstStyle/>
        <a:p>
          <a:endParaRPr lang="fr-FR"/>
        </a:p>
      </dgm:t>
    </dgm:pt>
    <dgm:pt modelId="{64A65F6C-43B3-4BF3-BB12-BAD13FBD5989}" type="sibTrans" cxnId="{85E1B02A-A447-44E2-BF36-96D65F806C3C}">
      <dgm:prSet/>
      <dgm:spPr/>
      <dgm:t>
        <a:bodyPr/>
        <a:lstStyle/>
        <a:p>
          <a:endParaRPr lang="fr-FR"/>
        </a:p>
      </dgm:t>
    </dgm:pt>
    <dgm:pt modelId="{8453A048-0381-437D-9F63-CF466F1D3C34}">
      <dgm:prSet phldrT="[Texte]"/>
      <dgm:spPr/>
      <dgm:t>
        <a:bodyPr/>
        <a:lstStyle/>
        <a:p>
          <a:r>
            <a:rPr lang="fr-FR" dirty="0">
              <a:solidFill>
                <a:schemeClr val="tx1"/>
              </a:solidFill>
            </a:rPr>
            <a:t>Tâche 1.3</a:t>
          </a:r>
        </a:p>
      </dgm:t>
    </dgm:pt>
    <dgm:pt modelId="{540C0926-9C33-4017-BAB3-52F0FF896580}" type="parTrans" cxnId="{87CDD1F7-ACD7-480A-AB33-9E3104A47299}">
      <dgm:prSet/>
      <dgm:spPr/>
      <dgm:t>
        <a:bodyPr/>
        <a:lstStyle/>
        <a:p>
          <a:endParaRPr lang="fr-FR"/>
        </a:p>
      </dgm:t>
    </dgm:pt>
    <dgm:pt modelId="{D2D08E27-28F5-4549-8F51-C4BC9EF43326}" type="sibTrans" cxnId="{87CDD1F7-ACD7-480A-AB33-9E3104A47299}">
      <dgm:prSet/>
      <dgm:spPr/>
      <dgm:t>
        <a:bodyPr/>
        <a:lstStyle/>
        <a:p>
          <a:endParaRPr lang="fr-FR"/>
        </a:p>
      </dgm:t>
    </dgm:pt>
    <dgm:pt modelId="{1247DAFF-5585-4C24-AF1C-9F759C8658C9}">
      <dgm:prSet phldrT="[Texte]"/>
      <dgm:spPr/>
      <dgm:t>
        <a:bodyPr/>
        <a:lstStyle/>
        <a:p>
          <a:r>
            <a:rPr lang="fr-FR" dirty="0">
              <a:solidFill>
                <a:schemeClr val="tx1"/>
              </a:solidFill>
            </a:rPr>
            <a:t>Tâche 2.1</a:t>
          </a:r>
        </a:p>
      </dgm:t>
    </dgm:pt>
    <dgm:pt modelId="{EEA01FCF-6DB6-4342-BF82-9AA9F8CB1988}" type="parTrans" cxnId="{F7DFFBEC-64AE-435B-B404-82F97C63D5DD}">
      <dgm:prSet/>
      <dgm:spPr/>
      <dgm:t>
        <a:bodyPr/>
        <a:lstStyle/>
        <a:p>
          <a:endParaRPr lang="fr-FR"/>
        </a:p>
      </dgm:t>
    </dgm:pt>
    <dgm:pt modelId="{421A5395-E234-44AB-8FD2-05A08CE8FB8D}" type="sibTrans" cxnId="{F7DFFBEC-64AE-435B-B404-82F97C63D5DD}">
      <dgm:prSet/>
      <dgm:spPr/>
      <dgm:t>
        <a:bodyPr/>
        <a:lstStyle/>
        <a:p>
          <a:endParaRPr lang="fr-FR"/>
        </a:p>
      </dgm:t>
    </dgm:pt>
    <dgm:pt modelId="{42D750F1-BA49-4131-893D-354B407F60D1}">
      <dgm:prSet phldrT="[Texte]"/>
      <dgm:spPr/>
      <dgm:t>
        <a:bodyPr/>
        <a:lstStyle/>
        <a:p>
          <a:r>
            <a:rPr lang="fr-FR" dirty="0">
              <a:solidFill>
                <a:schemeClr val="tx1"/>
              </a:solidFill>
            </a:rPr>
            <a:t>Tâche 2.2</a:t>
          </a:r>
        </a:p>
      </dgm:t>
    </dgm:pt>
    <dgm:pt modelId="{899DA83A-D23B-47AD-876A-4D3F1D996FAA}" type="parTrans" cxnId="{A4D4A634-90D1-4F98-BE80-C73375D7471F}">
      <dgm:prSet/>
      <dgm:spPr/>
      <dgm:t>
        <a:bodyPr/>
        <a:lstStyle/>
        <a:p>
          <a:endParaRPr lang="fr-FR"/>
        </a:p>
      </dgm:t>
    </dgm:pt>
    <dgm:pt modelId="{49848338-0FB2-4538-BEB5-0528B03C3C13}" type="sibTrans" cxnId="{A4D4A634-90D1-4F98-BE80-C73375D7471F}">
      <dgm:prSet/>
      <dgm:spPr/>
      <dgm:t>
        <a:bodyPr/>
        <a:lstStyle/>
        <a:p>
          <a:endParaRPr lang="fr-FR"/>
        </a:p>
      </dgm:t>
    </dgm:pt>
    <dgm:pt modelId="{5C59FF88-3697-4CE2-8AF9-3403BFC25ACB}">
      <dgm:prSet phldrT="[Texte]"/>
      <dgm:spPr/>
      <dgm:t>
        <a:bodyPr/>
        <a:lstStyle/>
        <a:p>
          <a:r>
            <a:rPr lang="fr-FR" dirty="0">
              <a:solidFill>
                <a:schemeClr val="tx1"/>
              </a:solidFill>
            </a:rPr>
            <a:t>Tâche 2.3</a:t>
          </a:r>
        </a:p>
      </dgm:t>
    </dgm:pt>
    <dgm:pt modelId="{8CC2CC18-1CA6-4421-9CA2-12B04C06D895}" type="parTrans" cxnId="{22A139F2-DEC9-42E4-B328-D7E161657A58}">
      <dgm:prSet/>
      <dgm:spPr/>
      <dgm:t>
        <a:bodyPr/>
        <a:lstStyle/>
        <a:p>
          <a:endParaRPr lang="fr-FR"/>
        </a:p>
      </dgm:t>
    </dgm:pt>
    <dgm:pt modelId="{E24C58C7-459F-4CCC-9785-1BFF76A9D304}" type="sibTrans" cxnId="{22A139F2-DEC9-42E4-B328-D7E161657A58}">
      <dgm:prSet/>
      <dgm:spPr/>
      <dgm:t>
        <a:bodyPr/>
        <a:lstStyle/>
        <a:p>
          <a:endParaRPr lang="fr-FR"/>
        </a:p>
      </dgm:t>
    </dgm:pt>
    <dgm:pt modelId="{77B00DC7-1592-4F08-9BF6-EEBB463F451E}">
      <dgm:prSet phldrT="[Texte]"/>
      <dgm:spPr/>
      <dgm:t>
        <a:bodyPr/>
        <a:lstStyle/>
        <a:p>
          <a:r>
            <a:rPr lang="fr-FR" dirty="0">
              <a:solidFill>
                <a:schemeClr val="tx1"/>
              </a:solidFill>
            </a:rPr>
            <a:t>Tâche 3.1</a:t>
          </a:r>
        </a:p>
      </dgm:t>
    </dgm:pt>
    <dgm:pt modelId="{5601B581-AF68-49B2-A495-EE13FE0B84DA}" type="parTrans" cxnId="{6164B5E3-D376-432A-BE03-021774F1C1EC}">
      <dgm:prSet/>
      <dgm:spPr/>
      <dgm:t>
        <a:bodyPr/>
        <a:lstStyle/>
        <a:p>
          <a:endParaRPr lang="fr-FR"/>
        </a:p>
      </dgm:t>
    </dgm:pt>
    <dgm:pt modelId="{70BC6EF1-E447-4C6F-B6BA-3BB55D377B4A}" type="sibTrans" cxnId="{6164B5E3-D376-432A-BE03-021774F1C1EC}">
      <dgm:prSet/>
      <dgm:spPr/>
      <dgm:t>
        <a:bodyPr/>
        <a:lstStyle/>
        <a:p>
          <a:endParaRPr lang="fr-FR"/>
        </a:p>
      </dgm:t>
    </dgm:pt>
    <dgm:pt modelId="{6FD5A3D1-0E4C-46A5-804A-1ABBD42C50B2}">
      <dgm:prSet phldrT="[Texte]"/>
      <dgm:spPr/>
      <dgm:t>
        <a:bodyPr/>
        <a:lstStyle/>
        <a:p>
          <a:r>
            <a:rPr lang="fr-FR" dirty="0">
              <a:solidFill>
                <a:schemeClr val="tx1"/>
              </a:solidFill>
            </a:rPr>
            <a:t>Tâche 3.2</a:t>
          </a:r>
        </a:p>
      </dgm:t>
    </dgm:pt>
    <dgm:pt modelId="{05312109-A044-48A0-B5DD-E931BAE3D4D3}" type="parTrans" cxnId="{F25E9484-D4E4-40D1-A31C-70DFAA2DF369}">
      <dgm:prSet/>
      <dgm:spPr/>
      <dgm:t>
        <a:bodyPr/>
        <a:lstStyle/>
        <a:p>
          <a:endParaRPr lang="fr-FR"/>
        </a:p>
      </dgm:t>
    </dgm:pt>
    <dgm:pt modelId="{7115B1B4-0653-4D3A-9C9D-8479E98F6ABF}" type="sibTrans" cxnId="{F25E9484-D4E4-40D1-A31C-70DFAA2DF369}">
      <dgm:prSet/>
      <dgm:spPr/>
      <dgm:t>
        <a:bodyPr/>
        <a:lstStyle/>
        <a:p>
          <a:endParaRPr lang="fr-FR"/>
        </a:p>
      </dgm:t>
    </dgm:pt>
    <dgm:pt modelId="{19D382B6-56C7-4102-B33D-AA776D4CF0F7}">
      <dgm:prSet phldrT="[Texte]"/>
      <dgm:spPr/>
      <dgm:t>
        <a:bodyPr/>
        <a:lstStyle/>
        <a:p>
          <a:r>
            <a:rPr lang="fr-FR" dirty="0">
              <a:solidFill>
                <a:schemeClr val="tx1"/>
              </a:solidFill>
            </a:rPr>
            <a:t>Tâche 3.3</a:t>
          </a:r>
        </a:p>
      </dgm:t>
    </dgm:pt>
    <dgm:pt modelId="{3BB12A54-1A16-4252-95AF-1A40FAA8FA7A}" type="parTrans" cxnId="{76A4B500-4080-4EB5-A2C0-E4A256FF3F03}">
      <dgm:prSet/>
      <dgm:spPr/>
      <dgm:t>
        <a:bodyPr/>
        <a:lstStyle/>
        <a:p>
          <a:endParaRPr lang="fr-FR"/>
        </a:p>
      </dgm:t>
    </dgm:pt>
    <dgm:pt modelId="{ABA54B89-15C2-476B-B04F-8EED06CE3C15}" type="sibTrans" cxnId="{76A4B500-4080-4EB5-A2C0-E4A256FF3F03}">
      <dgm:prSet/>
      <dgm:spPr/>
      <dgm:t>
        <a:bodyPr/>
        <a:lstStyle/>
        <a:p>
          <a:endParaRPr lang="fr-FR"/>
        </a:p>
      </dgm:t>
    </dgm:pt>
    <dgm:pt modelId="{078D5C43-B197-44B8-ABE6-4273F001E91F}">
      <dgm:prSet phldrT="[Texte]"/>
      <dgm:spPr/>
      <dgm:t>
        <a:bodyPr/>
        <a:lstStyle/>
        <a:p>
          <a:r>
            <a:rPr lang="fr-FR" dirty="0">
              <a:solidFill>
                <a:schemeClr val="tx1"/>
              </a:solidFill>
            </a:rPr>
            <a:t>Tâche 4.1</a:t>
          </a:r>
        </a:p>
      </dgm:t>
    </dgm:pt>
    <dgm:pt modelId="{EF9899C6-C83E-4B46-BC3D-BFE2C90DA786}" type="parTrans" cxnId="{6C79D9DA-5097-448F-86D4-0D4410CBD284}">
      <dgm:prSet/>
      <dgm:spPr/>
      <dgm:t>
        <a:bodyPr/>
        <a:lstStyle/>
        <a:p>
          <a:endParaRPr lang="fr-FR"/>
        </a:p>
      </dgm:t>
    </dgm:pt>
    <dgm:pt modelId="{6B8F53C0-72D0-4D15-89B4-23FFB73048F9}" type="sibTrans" cxnId="{6C79D9DA-5097-448F-86D4-0D4410CBD284}">
      <dgm:prSet/>
      <dgm:spPr/>
      <dgm:t>
        <a:bodyPr/>
        <a:lstStyle/>
        <a:p>
          <a:endParaRPr lang="fr-FR"/>
        </a:p>
      </dgm:t>
    </dgm:pt>
    <dgm:pt modelId="{D7976A95-DC95-4FA6-9799-D0101D9ABE7F}">
      <dgm:prSet phldrT="[Texte]"/>
      <dgm:spPr/>
      <dgm:t>
        <a:bodyPr/>
        <a:lstStyle/>
        <a:p>
          <a:r>
            <a:rPr lang="fr-FR" dirty="0">
              <a:solidFill>
                <a:schemeClr val="tx1"/>
              </a:solidFill>
            </a:rPr>
            <a:t>Tâche 4.2</a:t>
          </a:r>
        </a:p>
      </dgm:t>
    </dgm:pt>
    <dgm:pt modelId="{9769F479-DB7D-4511-BDA2-D9E7D5914D10}" type="parTrans" cxnId="{191262FE-602E-41C2-ABFE-D6D9750878A3}">
      <dgm:prSet/>
      <dgm:spPr/>
      <dgm:t>
        <a:bodyPr/>
        <a:lstStyle/>
        <a:p>
          <a:endParaRPr lang="fr-FR"/>
        </a:p>
      </dgm:t>
    </dgm:pt>
    <dgm:pt modelId="{3458EDD2-02BB-4A06-A0E3-D79CBE6AFFCD}" type="sibTrans" cxnId="{191262FE-602E-41C2-ABFE-D6D9750878A3}">
      <dgm:prSet/>
      <dgm:spPr/>
      <dgm:t>
        <a:bodyPr/>
        <a:lstStyle/>
        <a:p>
          <a:endParaRPr lang="fr-FR"/>
        </a:p>
      </dgm:t>
    </dgm:pt>
    <dgm:pt modelId="{200F0858-1E91-4E36-9EA1-AEA1F50944B3}">
      <dgm:prSet phldrT="[Texte]"/>
      <dgm:spPr/>
      <dgm:t>
        <a:bodyPr/>
        <a:lstStyle/>
        <a:p>
          <a:r>
            <a:rPr lang="fr-FR" dirty="0">
              <a:solidFill>
                <a:schemeClr val="tx1"/>
              </a:solidFill>
            </a:rPr>
            <a:t>Tâche 4.3</a:t>
          </a:r>
        </a:p>
      </dgm:t>
    </dgm:pt>
    <dgm:pt modelId="{FD3F13A7-EFF0-48A3-8054-C3DC59A42584}" type="parTrans" cxnId="{9DF051E5-F3D1-4C3D-9B70-7BC4221E7033}">
      <dgm:prSet/>
      <dgm:spPr/>
      <dgm:t>
        <a:bodyPr/>
        <a:lstStyle/>
        <a:p>
          <a:endParaRPr lang="fr-FR"/>
        </a:p>
      </dgm:t>
    </dgm:pt>
    <dgm:pt modelId="{EE496D89-BFD4-4D80-805F-580684C67279}" type="sibTrans" cxnId="{9DF051E5-F3D1-4C3D-9B70-7BC4221E7033}">
      <dgm:prSet/>
      <dgm:spPr/>
      <dgm:t>
        <a:bodyPr/>
        <a:lstStyle/>
        <a:p>
          <a:endParaRPr lang="fr-FR"/>
        </a:p>
      </dgm:t>
    </dgm:pt>
    <dgm:pt modelId="{647C2804-7C80-4CF3-8ACF-62A12CF6A2AC}" type="pres">
      <dgm:prSet presAssocID="{E8102D77-C61D-485C-8E2C-E6F5384872F5}" presName="hierChild1" presStyleCnt="0">
        <dgm:presLayoutVars>
          <dgm:orgChart val="1"/>
          <dgm:chPref val="1"/>
          <dgm:dir/>
          <dgm:animOne val="branch"/>
          <dgm:animLvl val="lvl"/>
          <dgm:resizeHandles/>
        </dgm:presLayoutVars>
      </dgm:prSet>
      <dgm:spPr/>
    </dgm:pt>
    <dgm:pt modelId="{7DBC7437-5D8C-4F3F-8827-3F93DC473D86}" type="pres">
      <dgm:prSet presAssocID="{FF802F8C-CD31-4D36-A45E-C75B5EFE6661}" presName="hierRoot1" presStyleCnt="0">
        <dgm:presLayoutVars>
          <dgm:hierBranch val="init"/>
        </dgm:presLayoutVars>
      </dgm:prSet>
      <dgm:spPr/>
    </dgm:pt>
    <dgm:pt modelId="{52B476AD-4C35-45D4-8819-2673F8A2E86E}" type="pres">
      <dgm:prSet presAssocID="{FF802F8C-CD31-4D36-A45E-C75B5EFE6661}" presName="rootComposite1" presStyleCnt="0"/>
      <dgm:spPr/>
    </dgm:pt>
    <dgm:pt modelId="{7CDC0682-D26A-42AB-B69A-8FC8C1E42816}" type="pres">
      <dgm:prSet presAssocID="{FF802F8C-CD31-4D36-A45E-C75B5EFE6661}" presName="rootText1" presStyleLbl="node0" presStyleIdx="0" presStyleCnt="1">
        <dgm:presLayoutVars>
          <dgm:chPref val="3"/>
        </dgm:presLayoutVars>
      </dgm:prSet>
      <dgm:spPr/>
    </dgm:pt>
    <dgm:pt modelId="{6C77B112-B69A-4D04-8F49-33F4682702F0}" type="pres">
      <dgm:prSet presAssocID="{FF802F8C-CD31-4D36-A45E-C75B5EFE6661}" presName="rootConnector1" presStyleLbl="node1" presStyleIdx="0" presStyleCnt="0"/>
      <dgm:spPr/>
    </dgm:pt>
    <dgm:pt modelId="{32AD6DEC-B2BA-49F7-BFA7-D446FF4AC535}" type="pres">
      <dgm:prSet presAssocID="{FF802F8C-CD31-4D36-A45E-C75B5EFE6661}" presName="hierChild2" presStyleCnt="0"/>
      <dgm:spPr/>
    </dgm:pt>
    <dgm:pt modelId="{DCDEFD1F-47A7-4EF9-B10B-34C08474F077}" type="pres">
      <dgm:prSet presAssocID="{027D4F15-5193-4256-B9F1-D74D55C81ADF}" presName="Name37" presStyleLbl="parChTrans1D2" presStyleIdx="0" presStyleCnt="4"/>
      <dgm:spPr/>
    </dgm:pt>
    <dgm:pt modelId="{BA29F8FD-A9C4-4A88-BFD0-27A3D26E44DC}" type="pres">
      <dgm:prSet presAssocID="{4CB79DBD-49F3-4D3C-A308-528D347B241D}" presName="hierRoot2" presStyleCnt="0">
        <dgm:presLayoutVars>
          <dgm:hierBranch val="init"/>
        </dgm:presLayoutVars>
      </dgm:prSet>
      <dgm:spPr/>
    </dgm:pt>
    <dgm:pt modelId="{92029AC0-7385-4D45-B5DB-100DC92D7367}" type="pres">
      <dgm:prSet presAssocID="{4CB79DBD-49F3-4D3C-A308-528D347B241D}" presName="rootComposite" presStyleCnt="0"/>
      <dgm:spPr/>
    </dgm:pt>
    <dgm:pt modelId="{2297E30D-DD1C-4435-ACFF-7F0F301C3B6F}" type="pres">
      <dgm:prSet presAssocID="{4CB79DBD-49F3-4D3C-A308-528D347B241D}" presName="rootText" presStyleLbl="node2" presStyleIdx="0" presStyleCnt="4" custLinFactNeighborX="-2766" custLinFactNeighborY="11724">
        <dgm:presLayoutVars>
          <dgm:chPref val="3"/>
        </dgm:presLayoutVars>
      </dgm:prSet>
      <dgm:spPr/>
    </dgm:pt>
    <dgm:pt modelId="{1C68F317-2DFE-4139-8C36-A4E7B5F30DC1}" type="pres">
      <dgm:prSet presAssocID="{4CB79DBD-49F3-4D3C-A308-528D347B241D}" presName="rootConnector" presStyleLbl="node2" presStyleIdx="0" presStyleCnt="4"/>
      <dgm:spPr/>
    </dgm:pt>
    <dgm:pt modelId="{2445C409-39A6-4DB2-895A-59F4D0AC2300}" type="pres">
      <dgm:prSet presAssocID="{4CB79DBD-49F3-4D3C-A308-528D347B241D}" presName="hierChild4" presStyleCnt="0"/>
      <dgm:spPr/>
    </dgm:pt>
    <dgm:pt modelId="{BBA6DD35-D8F7-4901-AF34-FADBEADA69F5}" type="pres">
      <dgm:prSet presAssocID="{8F335577-BEA7-46B5-BBE4-3A08647E689E}" presName="Name37" presStyleLbl="parChTrans1D3" presStyleIdx="0" presStyleCnt="12"/>
      <dgm:spPr/>
    </dgm:pt>
    <dgm:pt modelId="{2070AD55-9CF3-4DD5-84CC-5AE2DEFC8BFA}" type="pres">
      <dgm:prSet presAssocID="{FE0B0AC2-F122-4AA2-AB94-9871284E362C}" presName="hierRoot2" presStyleCnt="0">
        <dgm:presLayoutVars>
          <dgm:hierBranch val="init"/>
        </dgm:presLayoutVars>
      </dgm:prSet>
      <dgm:spPr/>
    </dgm:pt>
    <dgm:pt modelId="{7D174D88-A8A0-43D2-977D-3D9C47833FB6}" type="pres">
      <dgm:prSet presAssocID="{FE0B0AC2-F122-4AA2-AB94-9871284E362C}" presName="rootComposite" presStyleCnt="0"/>
      <dgm:spPr/>
    </dgm:pt>
    <dgm:pt modelId="{AA3F2F77-60BA-4206-BC92-4CA41F15E83A}" type="pres">
      <dgm:prSet presAssocID="{FE0B0AC2-F122-4AA2-AB94-9871284E362C}" presName="rootText" presStyleLbl="node3" presStyleIdx="0" presStyleCnt="12">
        <dgm:presLayoutVars>
          <dgm:chPref val="3"/>
        </dgm:presLayoutVars>
      </dgm:prSet>
      <dgm:spPr/>
    </dgm:pt>
    <dgm:pt modelId="{741D6079-850E-4BFD-8FFE-919AC12332A6}" type="pres">
      <dgm:prSet presAssocID="{FE0B0AC2-F122-4AA2-AB94-9871284E362C}" presName="rootConnector" presStyleLbl="node3" presStyleIdx="0" presStyleCnt="12"/>
      <dgm:spPr/>
    </dgm:pt>
    <dgm:pt modelId="{654F6998-0F34-46E5-9411-516AD6D3750C}" type="pres">
      <dgm:prSet presAssocID="{FE0B0AC2-F122-4AA2-AB94-9871284E362C}" presName="hierChild4" presStyleCnt="0"/>
      <dgm:spPr/>
    </dgm:pt>
    <dgm:pt modelId="{62331B6F-BAD5-4909-956D-B12811BCD2B6}" type="pres">
      <dgm:prSet presAssocID="{FE0B0AC2-F122-4AA2-AB94-9871284E362C}" presName="hierChild5" presStyleCnt="0"/>
      <dgm:spPr/>
    </dgm:pt>
    <dgm:pt modelId="{99EC34E8-6CAB-457C-9591-CC87269395C0}" type="pres">
      <dgm:prSet presAssocID="{DE662E5A-762B-49ED-8275-30D58A1ED9C9}" presName="Name37" presStyleLbl="parChTrans1D3" presStyleIdx="1" presStyleCnt="12"/>
      <dgm:spPr/>
    </dgm:pt>
    <dgm:pt modelId="{E48E8264-6F8D-4132-9351-F0B743CDAA26}" type="pres">
      <dgm:prSet presAssocID="{47288AA7-AEAD-4119-BDC5-E4756CBF3E8D}" presName="hierRoot2" presStyleCnt="0">
        <dgm:presLayoutVars>
          <dgm:hierBranch val="init"/>
        </dgm:presLayoutVars>
      </dgm:prSet>
      <dgm:spPr/>
    </dgm:pt>
    <dgm:pt modelId="{685C733B-224C-4504-9AA3-3A4E27B0C54B}" type="pres">
      <dgm:prSet presAssocID="{47288AA7-AEAD-4119-BDC5-E4756CBF3E8D}" presName="rootComposite" presStyleCnt="0"/>
      <dgm:spPr/>
    </dgm:pt>
    <dgm:pt modelId="{DF7B5C19-7079-4FA8-9DF1-0FEEEC24ECEF}" type="pres">
      <dgm:prSet presAssocID="{47288AA7-AEAD-4119-BDC5-E4756CBF3E8D}" presName="rootText" presStyleLbl="node3" presStyleIdx="1" presStyleCnt="12">
        <dgm:presLayoutVars>
          <dgm:chPref val="3"/>
        </dgm:presLayoutVars>
      </dgm:prSet>
      <dgm:spPr/>
    </dgm:pt>
    <dgm:pt modelId="{4CEE745A-B010-4329-ACA3-D5B67630D2D8}" type="pres">
      <dgm:prSet presAssocID="{47288AA7-AEAD-4119-BDC5-E4756CBF3E8D}" presName="rootConnector" presStyleLbl="node3" presStyleIdx="1" presStyleCnt="12"/>
      <dgm:spPr/>
    </dgm:pt>
    <dgm:pt modelId="{458E58E5-C418-4687-B4A9-6E10EBF36D6B}" type="pres">
      <dgm:prSet presAssocID="{47288AA7-AEAD-4119-BDC5-E4756CBF3E8D}" presName="hierChild4" presStyleCnt="0"/>
      <dgm:spPr/>
    </dgm:pt>
    <dgm:pt modelId="{0204E1C3-1F12-4E4E-A511-201804263BDE}" type="pres">
      <dgm:prSet presAssocID="{47288AA7-AEAD-4119-BDC5-E4756CBF3E8D}" presName="hierChild5" presStyleCnt="0"/>
      <dgm:spPr/>
    </dgm:pt>
    <dgm:pt modelId="{3091691F-B9EA-4AA0-845D-DB21BEAD8E92}" type="pres">
      <dgm:prSet presAssocID="{540C0926-9C33-4017-BAB3-52F0FF896580}" presName="Name37" presStyleLbl="parChTrans1D3" presStyleIdx="2" presStyleCnt="12"/>
      <dgm:spPr/>
    </dgm:pt>
    <dgm:pt modelId="{5201463E-C4A2-4B27-B062-32E17BC88591}" type="pres">
      <dgm:prSet presAssocID="{8453A048-0381-437D-9F63-CF466F1D3C34}" presName="hierRoot2" presStyleCnt="0">
        <dgm:presLayoutVars>
          <dgm:hierBranch val="init"/>
        </dgm:presLayoutVars>
      </dgm:prSet>
      <dgm:spPr/>
    </dgm:pt>
    <dgm:pt modelId="{8203A250-596C-46D9-A028-C00233918FFC}" type="pres">
      <dgm:prSet presAssocID="{8453A048-0381-437D-9F63-CF466F1D3C34}" presName="rootComposite" presStyleCnt="0"/>
      <dgm:spPr/>
    </dgm:pt>
    <dgm:pt modelId="{856B9C74-1093-4FC2-829C-258884219C97}" type="pres">
      <dgm:prSet presAssocID="{8453A048-0381-437D-9F63-CF466F1D3C34}" presName="rootText" presStyleLbl="node3" presStyleIdx="2" presStyleCnt="12">
        <dgm:presLayoutVars>
          <dgm:chPref val="3"/>
        </dgm:presLayoutVars>
      </dgm:prSet>
      <dgm:spPr/>
    </dgm:pt>
    <dgm:pt modelId="{748EF0B3-4CC2-41C3-B540-BFBFEC45AC85}" type="pres">
      <dgm:prSet presAssocID="{8453A048-0381-437D-9F63-CF466F1D3C34}" presName="rootConnector" presStyleLbl="node3" presStyleIdx="2" presStyleCnt="12"/>
      <dgm:spPr/>
    </dgm:pt>
    <dgm:pt modelId="{A08D5209-1E6E-4009-B0CD-6782E713BBBF}" type="pres">
      <dgm:prSet presAssocID="{8453A048-0381-437D-9F63-CF466F1D3C34}" presName="hierChild4" presStyleCnt="0"/>
      <dgm:spPr/>
    </dgm:pt>
    <dgm:pt modelId="{63BB166B-B6ED-4FF7-A0D8-8FF1C87A2A65}" type="pres">
      <dgm:prSet presAssocID="{8453A048-0381-437D-9F63-CF466F1D3C34}" presName="hierChild5" presStyleCnt="0"/>
      <dgm:spPr/>
    </dgm:pt>
    <dgm:pt modelId="{19BF3EBC-B096-42DA-93B0-971DCE05D621}" type="pres">
      <dgm:prSet presAssocID="{4CB79DBD-49F3-4D3C-A308-528D347B241D}" presName="hierChild5" presStyleCnt="0"/>
      <dgm:spPr/>
    </dgm:pt>
    <dgm:pt modelId="{201ED0E1-52CD-4748-B257-98631BB3BD52}" type="pres">
      <dgm:prSet presAssocID="{6DE863AB-8382-49FF-920C-EEF97764528D}" presName="Name37" presStyleLbl="parChTrans1D2" presStyleIdx="1" presStyleCnt="4"/>
      <dgm:spPr/>
    </dgm:pt>
    <dgm:pt modelId="{35176ABE-3AC0-433E-8C0C-0E9416EB97A4}" type="pres">
      <dgm:prSet presAssocID="{5B134D48-3137-4EA8-9DB6-D89387C046F1}" presName="hierRoot2" presStyleCnt="0">
        <dgm:presLayoutVars>
          <dgm:hierBranch val="init"/>
        </dgm:presLayoutVars>
      </dgm:prSet>
      <dgm:spPr/>
    </dgm:pt>
    <dgm:pt modelId="{DB93A4C4-34FC-44A9-BEDC-1EE3FB83A554}" type="pres">
      <dgm:prSet presAssocID="{5B134D48-3137-4EA8-9DB6-D89387C046F1}" presName="rootComposite" presStyleCnt="0"/>
      <dgm:spPr/>
    </dgm:pt>
    <dgm:pt modelId="{6C767D22-1940-4FD9-9A35-ED589156F925}" type="pres">
      <dgm:prSet presAssocID="{5B134D48-3137-4EA8-9DB6-D89387C046F1}" presName="rootText" presStyleLbl="node2" presStyleIdx="1" presStyleCnt="4">
        <dgm:presLayoutVars>
          <dgm:chPref val="3"/>
        </dgm:presLayoutVars>
      </dgm:prSet>
      <dgm:spPr/>
    </dgm:pt>
    <dgm:pt modelId="{AC6CA882-C8D9-478D-BBF6-56870C72D104}" type="pres">
      <dgm:prSet presAssocID="{5B134D48-3137-4EA8-9DB6-D89387C046F1}" presName="rootConnector" presStyleLbl="node2" presStyleIdx="1" presStyleCnt="4"/>
      <dgm:spPr/>
    </dgm:pt>
    <dgm:pt modelId="{DB16BEA8-883D-4FDA-9031-222DB00ADD73}" type="pres">
      <dgm:prSet presAssocID="{5B134D48-3137-4EA8-9DB6-D89387C046F1}" presName="hierChild4" presStyleCnt="0"/>
      <dgm:spPr/>
    </dgm:pt>
    <dgm:pt modelId="{F5CD924D-B77D-4B72-95AF-27B79024A758}" type="pres">
      <dgm:prSet presAssocID="{EEA01FCF-6DB6-4342-BF82-9AA9F8CB1988}" presName="Name37" presStyleLbl="parChTrans1D3" presStyleIdx="3" presStyleCnt="12"/>
      <dgm:spPr/>
    </dgm:pt>
    <dgm:pt modelId="{9E33E8BC-B332-4EBD-8A1D-67A863FF3ED1}" type="pres">
      <dgm:prSet presAssocID="{1247DAFF-5585-4C24-AF1C-9F759C8658C9}" presName="hierRoot2" presStyleCnt="0">
        <dgm:presLayoutVars>
          <dgm:hierBranch val="init"/>
        </dgm:presLayoutVars>
      </dgm:prSet>
      <dgm:spPr/>
    </dgm:pt>
    <dgm:pt modelId="{19A7FD9D-96C6-4F14-B5E9-850D70CE7605}" type="pres">
      <dgm:prSet presAssocID="{1247DAFF-5585-4C24-AF1C-9F759C8658C9}" presName="rootComposite" presStyleCnt="0"/>
      <dgm:spPr/>
    </dgm:pt>
    <dgm:pt modelId="{11B74D83-2380-448A-AE17-E853DAD60BA1}" type="pres">
      <dgm:prSet presAssocID="{1247DAFF-5585-4C24-AF1C-9F759C8658C9}" presName="rootText" presStyleLbl="node3" presStyleIdx="3" presStyleCnt="12">
        <dgm:presLayoutVars>
          <dgm:chPref val="3"/>
        </dgm:presLayoutVars>
      </dgm:prSet>
      <dgm:spPr/>
    </dgm:pt>
    <dgm:pt modelId="{A6602D78-FCA5-4B63-B17C-DCFB089C4407}" type="pres">
      <dgm:prSet presAssocID="{1247DAFF-5585-4C24-AF1C-9F759C8658C9}" presName="rootConnector" presStyleLbl="node3" presStyleIdx="3" presStyleCnt="12"/>
      <dgm:spPr/>
    </dgm:pt>
    <dgm:pt modelId="{007FBCC7-0708-4E15-AD8D-1D3B660A15EE}" type="pres">
      <dgm:prSet presAssocID="{1247DAFF-5585-4C24-AF1C-9F759C8658C9}" presName="hierChild4" presStyleCnt="0"/>
      <dgm:spPr/>
    </dgm:pt>
    <dgm:pt modelId="{B17219EA-DB29-464F-99B5-D446AD075431}" type="pres">
      <dgm:prSet presAssocID="{1247DAFF-5585-4C24-AF1C-9F759C8658C9}" presName="hierChild5" presStyleCnt="0"/>
      <dgm:spPr/>
    </dgm:pt>
    <dgm:pt modelId="{60201650-D1F5-4C55-971E-DB9AAD4D8BB0}" type="pres">
      <dgm:prSet presAssocID="{899DA83A-D23B-47AD-876A-4D3F1D996FAA}" presName="Name37" presStyleLbl="parChTrans1D3" presStyleIdx="4" presStyleCnt="12"/>
      <dgm:spPr/>
    </dgm:pt>
    <dgm:pt modelId="{FE4BF52C-B514-4A3C-912A-49BC77161D74}" type="pres">
      <dgm:prSet presAssocID="{42D750F1-BA49-4131-893D-354B407F60D1}" presName="hierRoot2" presStyleCnt="0">
        <dgm:presLayoutVars>
          <dgm:hierBranch val="init"/>
        </dgm:presLayoutVars>
      </dgm:prSet>
      <dgm:spPr/>
    </dgm:pt>
    <dgm:pt modelId="{D9671ACE-FAB4-4CB4-9253-080BB8FD0B3E}" type="pres">
      <dgm:prSet presAssocID="{42D750F1-BA49-4131-893D-354B407F60D1}" presName="rootComposite" presStyleCnt="0"/>
      <dgm:spPr/>
    </dgm:pt>
    <dgm:pt modelId="{85864ED5-5091-46E8-BE86-6D75317AED39}" type="pres">
      <dgm:prSet presAssocID="{42D750F1-BA49-4131-893D-354B407F60D1}" presName="rootText" presStyleLbl="node3" presStyleIdx="4" presStyleCnt="12">
        <dgm:presLayoutVars>
          <dgm:chPref val="3"/>
        </dgm:presLayoutVars>
      </dgm:prSet>
      <dgm:spPr/>
    </dgm:pt>
    <dgm:pt modelId="{BF988A88-979B-43F2-B92C-7EBEE68151FA}" type="pres">
      <dgm:prSet presAssocID="{42D750F1-BA49-4131-893D-354B407F60D1}" presName="rootConnector" presStyleLbl="node3" presStyleIdx="4" presStyleCnt="12"/>
      <dgm:spPr/>
    </dgm:pt>
    <dgm:pt modelId="{9D3FECD9-CD28-424F-A972-DB2B5CE3252A}" type="pres">
      <dgm:prSet presAssocID="{42D750F1-BA49-4131-893D-354B407F60D1}" presName="hierChild4" presStyleCnt="0"/>
      <dgm:spPr/>
    </dgm:pt>
    <dgm:pt modelId="{3081878A-DD13-445A-BBDE-ADBF061DB2D0}" type="pres">
      <dgm:prSet presAssocID="{42D750F1-BA49-4131-893D-354B407F60D1}" presName="hierChild5" presStyleCnt="0"/>
      <dgm:spPr/>
    </dgm:pt>
    <dgm:pt modelId="{A2E0B213-9FA2-4012-8764-E48283ED5613}" type="pres">
      <dgm:prSet presAssocID="{8CC2CC18-1CA6-4421-9CA2-12B04C06D895}" presName="Name37" presStyleLbl="parChTrans1D3" presStyleIdx="5" presStyleCnt="12"/>
      <dgm:spPr/>
    </dgm:pt>
    <dgm:pt modelId="{03ABC034-F90B-4DAC-9147-5B89B9632BB8}" type="pres">
      <dgm:prSet presAssocID="{5C59FF88-3697-4CE2-8AF9-3403BFC25ACB}" presName="hierRoot2" presStyleCnt="0">
        <dgm:presLayoutVars>
          <dgm:hierBranch val="init"/>
        </dgm:presLayoutVars>
      </dgm:prSet>
      <dgm:spPr/>
    </dgm:pt>
    <dgm:pt modelId="{444CFAAA-5EB3-4C8D-A3E2-B67215FE6774}" type="pres">
      <dgm:prSet presAssocID="{5C59FF88-3697-4CE2-8AF9-3403BFC25ACB}" presName="rootComposite" presStyleCnt="0"/>
      <dgm:spPr/>
    </dgm:pt>
    <dgm:pt modelId="{F75F4C8A-27E4-4E4B-95F4-D10773F4A8EB}" type="pres">
      <dgm:prSet presAssocID="{5C59FF88-3697-4CE2-8AF9-3403BFC25ACB}" presName="rootText" presStyleLbl="node3" presStyleIdx="5" presStyleCnt="12">
        <dgm:presLayoutVars>
          <dgm:chPref val="3"/>
        </dgm:presLayoutVars>
      </dgm:prSet>
      <dgm:spPr/>
    </dgm:pt>
    <dgm:pt modelId="{F4CBF380-B246-4B3B-82F6-976546C78F67}" type="pres">
      <dgm:prSet presAssocID="{5C59FF88-3697-4CE2-8AF9-3403BFC25ACB}" presName="rootConnector" presStyleLbl="node3" presStyleIdx="5" presStyleCnt="12"/>
      <dgm:spPr/>
    </dgm:pt>
    <dgm:pt modelId="{000E5046-B567-4E1B-A937-F677CC62979F}" type="pres">
      <dgm:prSet presAssocID="{5C59FF88-3697-4CE2-8AF9-3403BFC25ACB}" presName="hierChild4" presStyleCnt="0"/>
      <dgm:spPr/>
    </dgm:pt>
    <dgm:pt modelId="{598A74B6-E043-4FFB-B3DA-D6AF36993C6A}" type="pres">
      <dgm:prSet presAssocID="{5C59FF88-3697-4CE2-8AF9-3403BFC25ACB}" presName="hierChild5" presStyleCnt="0"/>
      <dgm:spPr/>
    </dgm:pt>
    <dgm:pt modelId="{2630E5C9-0FB7-49C3-AA14-90C180CC541C}" type="pres">
      <dgm:prSet presAssocID="{5B134D48-3137-4EA8-9DB6-D89387C046F1}" presName="hierChild5" presStyleCnt="0"/>
      <dgm:spPr/>
    </dgm:pt>
    <dgm:pt modelId="{93570593-5E61-47F4-BEFD-8A755A709FD6}" type="pres">
      <dgm:prSet presAssocID="{22AC6B26-B8E9-42D3-AF66-24CC82D24B61}" presName="Name37" presStyleLbl="parChTrans1D2" presStyleIdx="2" presStyleCnt="4"/>
      <dgm:spPr/>
    </dgm:pt>
    <dgm:pt modelId="{27B62AEF-6F71-47F2-B708-C39E46157114}" type="pres">
      <dgm:prSet presAssocID="{D2CC29B4-CCB7-4ADC-8334-CE5ABBAE839D}" presName="hierRoot2" presStyleCnt="0">
        <dgm:presLayoutVars>
          <dgm:hierBranch val="init"/>
        </dgm:presLayoutVars>
      </dgm:prSet>
      <dgm:spPr/>
    </dgm:pt>
    <dgm:pt modelId="{706CAAF0-F687-4309-BCAF-45058D4BFBC8}" type="pres">
      <dgm:prSet presAssocID="{D2CC29B4-CCB7-4ADC-8334-CE5ABBAE839D}" presName="rootComposite" presStyleCnt="0"/>
      <dgm:spPr/>
    </dgm:pt>
    <dgm:pt modelId="{A68DC1F8-5C73-4E0A-8FE0-568792107B0A}" type="pres">
      <dgm:prSet presAssocID="{D2CC29B4-CCB7-4ADC-8334-CE5ABBAE839D}" presName="rootText" presStyleLbl="node2" presStyleIdx="2" presStyleCnt="4" custLinFactNeighborX="-2766" custLinFactNeighborY="11724">
        <dgm:presLayoutVars>
          <dgm:chPref val="3"/>
        </dgm:presLayoutVars>
      </dgm:prSet>
      <dgm:spPr/>
    </dgm:pt>
    <dgm:pt modelId="{B9990603-935D-4B2F-ACBF-9AE374B0450F}" type="pres">
      <dgm:prSet presAssocID="{D2CC29B4-CCB7-4ADC-8334-CE5ABBAE839D}" presName="rootConnector" presStyleLbl="node2" presStyleIdx="2" presStyleCnt="4"/>
      <dgm:spPr/>
    </dgm:pt>
    <dgm:pt modelId="{25900915-8FE6-4E20-BDB9-B59A13070ED2}" type="pres">
      <dgm:prSet presAssocID="{D2CC29B4-CCB7-4ADC-8334-CE5ABBAE839D}" presName="hierChild4" presStyleCnt="0"/>
      <dgm:spPr/>
    </dgm:pt>
    <dgm:pt modelId="{613710A1-63D3-4D1D-8424-504B92C81B6F}" type="pres">
      <dgm:prSet presAssocID="{5601B581-AF68-49B2-A495-EE13FE0B84DA}" presName="Name37" presStyleLbl="parChTrans1D3" presStyleIdx="6" presStyleCnt="12"/>
      <dgm:spPr/>
    </dgm:pt>
    <dgm:pt modelId="{DA25D39D-51EF-4A63-BB28-3702C7662E12}" type="pres">
      <dgm:prSet presAssocID="{77B00DC7-1592-4F08-9BF6-EEBB463F451E}" presName="hierRoot2" presStyleCnt="0">
        <dgm:presLayoutVars>
          <dgm:hierBranch val="init"/>
        </dgm:presLayoutVars>
      </dgm:prSet>
      <dgm:spPr/>
    </dgm:pt>
    <dgm:pt modelId="{82AFF0B8-C196-4726-9F5E-003D425E9132}" type="pres">
      <dgm:prSet presAssocID="{77B00DC7-1592-4F08-9BF6-EEBB463F451E}" presName="rootComposite" presStyleCnt="0"/>
      <dgm:spPr/>
    </dgm:pt>
    <dgm:pt modelId="{C046C017-8934-4879-8358-84520CA4BFD6}" type="pres">
      <dgm:prSet presAssocID="{77B00DC7-1592-4F08-9BF6-EEBB463F451E}" presName="rootText" presStyleLbl="node3" presStyleIdx="6" presStyleCnt="12">
        <dgm:presLayoutVars>
          <dgm:chPref val="3"/>
        </dgm:presLayoutVars>
      </dgm:prSet>
      <dgm:spPr/>
    </dgm:pt>
    <dgm:pt modelId="{E2CFB2FF-896B-44EF-BD2A-4B9FBD8B1EA7}" type="pres">
      <dgm:prSet presAssocID="{77B00DC7-1592-4F08-9BF6-EEBB463F451E}" presName="rootConnector" presStyleLbl="node3" presStyleIdx="6" presStyleCnt="12"/>
      <dgm:spPr/>
    </dgm:pt>
    <dgm:pt modelId="{27651960-D3DE-421E-9876-407AD5FC40FA}" type="pres">
      <dgm:prSet presAssocID="{77B00DC7-1592-4F08-9BF6-EEBB463F451E}" presName="hierChild4" presStyleCnt="0"/>
      <dgm:spPr/>
    </dgm:pt>
    <dgm:pt modelId="{E33D2681-A4B0-412C-B36A-13E1AD1EAD23}" type="pres">
      <dgm:prSet presAssocID="{77B00DC7-1592-4F08-9BF6-EEBB463F451E}" presName="hierChild5" presStyleCnt="0"/>
      <dgm:spPr/>
    </dgm:pt>
    <dgm:pt modelId="{662C4B65-7DB8-45DC-8A23-23C63F798023}" type="pres">
      <dgm:prSet presAssocID="{05312109-A044-48A0-B5DD-E931BAE3D4D3}" presName="Name37" presStyleLbl="parChTrans1D3" presStyleIdx="7" presStyleCnt="12"/>
      <dgm:spPr/>
    </dgm:pt>
    <dgm:pt modelId="{D1D8E3D9-8F51-4590-9ADC-ACB7717E6570}" type="pres">
      <dgm:prSet presAssocID="{6FD5A3D1-0E4C-46A5-804A-1ABBD42C50B2}" presName="hierRoot2" presStyleCnt="0">
        <dgm:presLayoutVars>
          <dgm:hierBranch val="init"/>
        </dgm:presLayoutVars>
      </dgm:prSet>
      <dgm:spPr/>
    </dgm:pt>
    <dgm:pt modelId="{64AEE860-5435-467D-AB9F-F9254569663F}" type="pres">
      <dgm:prSet presAssocID="{6FD5A3D1-0E4C-46A5-804A-1ABBD42C50B2}" presName="rootComposite" presStyleCnt="0"/>
      <dgm:spPr/>
    </dgm:pt>
    <dgm:pt modelId="{A50B18A9-A471-4448-BA0A-6AAC6EB9BAB5}" type="pres">
      <dgm:prSet presAssocID="{6FD5A3D1-0E4C-46A5-804A-1ABBD42C50B2}" presName="rootText" presStyleLbl="node3" presStyleIdx="7" presStyleCnt="12">
        <dgm:presLayoutVars>
          <dgm:chPref val="3"/>
        </dgm:presLayoutVars>
      </dgm:prSet>
      <dgm:spPr/>
    </dgm:pt>
    <dgm:pt modelId="{9CCF5BCA-11F3-408B-B963-01736420F768}" type="pres">
      <dgm:prSet presAssocID="{6FD5A3D1-0E4C-46A5-804A-1ABBD42C50B2}" presName="rootConnector" presStyleLbl="node3" presStyleIdx="7" presStyleCnt="12"/>
      <dgm:spPr/>
    </dgm:pt>
    <dgm:pt modelId="{7D854F89-2795-416A-9997-A40579BA3F16}" type="pres">
      <dgm:prSet presAssocID="{6FD5A3D1-0E4C-46A5-804A-1ABBD42C50B2}" presName="hierChild4" presStyleCnt="0"/>
      <dgm:spPr/>
    </dgm:pt>
    <dgm:pt modelId="{E6677AA4-E7C9-44CF-9D6A-2BC2C74B7247}" type="pres">
      <dgm:prSet presAssocID="{6FD5A3D1-0E4C-46A5-804A-1ABBD42C50B2}" presName="hierChild5" presStyleCnt="0"/>
      <dgm:spPr/>
    </dgm:pt>
    <dgm:pt modelId="{E0358394-2F45-4DDA-A2F3-D7FE277F3E8D}" type="pres">
      <dgm:prSet presAssocID="{3BB12A54-1A16-4252-95AF-1A40FAA8FA7A}" presName="Name37" presStyleLbl="parChTrans1D3" presStyleIdx="8" presStyleCnt="12"/>
      <dgm:spPr/>
    </dgm:pt>
    <dgm:pt modelId="{56D85F54-87F3-4775-9310-EBB774C62E51}" type="pres">
      <dgm:prSet presAssocID="{19D382B6-56C7-4102-B33D-AA776D4CF0F7}" presName="hierRoot2" presStyleCnt="0">
        <dgm:presLayoutVars>
          <dgm:hierBranch val="init"/>
        </dgm:presLayoutVars>
      </dgm:prSet>
      <dgm:spPr/>
    </dgm:pt>
    <dgm:pt modelId="{81E62BBA-EAF9-48D0-B101-B52890A533AC}" type="pres">
      <dgm:prSet presAssocID="{19D382B6-56C7-4102-B33D-AA776D4CF0F7}" presName="rootComposite" presStyleCnt="0"/>
      <dgm:spPr/>
    </dgm:pt>
    <dgm:pt modelId="{C9B13269-083A-4347-B604-45237454F4FC}" type="pres">
      <dgm:prSet presAssocID="{19D382B6-56C7-4102-B33D-AA776D4CF0F7}" presName="rootText" presStyleLbl="node3" presStyleIdx="8" presStyleCnt="12">
        <dgm:presLayoutVars>
          <dgm:chPref val="3"/>
        </dgm:presLayoutVars>
      </dgm:prSet>
      <dgm:spPr/>
    </dgm:pt>
    <dgm:pt modelId="{EED1DA84-A537-4687-A0E4-F6BF711880C1}" type="pres">
      <dgm:prSet presAssocID="{19D382B6-56C7-4102-B33D-AA776D4CF0F7}" presName="rootConnector" presStyleLbl="node3" presStyleIdx="8" presStyleCnt="12"/>
      <dgm:spPr/>
    </dgm:pt>
    <dgm:pt modelId="{BE84EB3D-B658-43D4-A42E-A14D0635B52C}" type="pres">
      <dgm:prSet presAssocID="{19D382B6-56C7-4102-B33D-AA776D4CF0F7}" presName="hierChild4" presStyleCnt="0"/>
      <dgm:spPr/>
    </dgm:pt>
    <dgm:pt modelId="{41F93499-EBC7-4C57-8F00-B8E35CFA3C8C}" type="pres">
      <dgm:prSet presAssocID="{19D382B6-56C7-4102-B33D-AA776D4CF0F7}" presName="hierChild5" presStyleCnt="0"/>
      <dgm:spPr/>
    </dgm:pt>
    <dgm:pt modelId="{9FAB3396-8367-44F1-B1BA-FE5C0FA2ABC2}" type="pres">
      <dgm:prSet presAssocID="{D2CC29B4-CCB7-4ADC-8334-CE5ABBAE839D}" presName="hierChild5" presStyleCnt="0"/>
      <dgm:spPr/>
    </dgm:pt>
    <dgm:pt modelId="{AA0B9631-6EAC-40A4-A3B3-D912EB52FE37}" type="pres">
      <dgm:prSet presAssocID="{00876160-C3FB-48A7-ABA6-A5069A0EB0C3}" presName="Name37" presStyleLbl="parChTrans1D2" presStyleIdx="3" presStyleCnt="4"/>
      <dgm:spPr/>
    </dgm:pt>
    <dgm:pt modelId="{7AE94727-90D8-441F-BE09-8A5A85EFCDF4}" type="pres">
      <dgm:prSet presAssocID="{47EE9C14-3D3C-4F80-88FB-558A4C8A3819}" presName="hierRoot2" presStyleCnt="0">
        <dgm:presLayoutVars>
          <dgm:hierBranch val="init"/>
        </dgm:presLayoutVars>
      </dgm:prSet>
      <dgm:spPr/>
    </dgm:pt>
    <dgm:pt modelId="{BB59AB8A-4862-412D-98BA-487F76A79429}" type="pres">
      <dgm:prSet presAssocID="{47EE9C14-3D3C-4F80-88FB-558A4C8A3819}" presName="rootComposite" presStyleCnt="0"/>
      <dgm:spPr/>
    </dgm:pt>
    <dgm:pt modelId="{B615732A-7EF2-42AA-824F-B538D03D89A9}" type="pres">
      <dgm:prSet presAssocID="{47EE9C14-3D3C-4F80-88FB-558A4C8A3819}" presName="rootText" presStyleLbl="node2" presStyleIdx="3" presStyleCnt="4">
        <dgm:presLayoutVars>
          <dgm:chPref val="3"/>
        </dgm:presLayoutVars>
      </dgm:prSet>
      <dgm:spPr/>
    </dgm:pt>
    <dgm:pt modelId="{F7A2E950-ADCD-4655-9C26-895C383268B5}" type="pres">
      <dgm:prSet presAssocID="{47EE9C14-3D3C-4F80-88FB-558A4C8A3819}" presName="rootConnector" presStyleLbl="node2" presStyleIdx="3" presStyleCnt="4"/>
      <dgm:spPr/>
    </dgm:pt>
    <dgm:pt modelId="{4DFED5BE-EFA0-4FA5-84A5-DC72968D2267}" type="pres">
      <dgm:prSet presAssocID="{47EE9C14-3D3C-4F80-88FB-558A4C8A3819}" presName="hierChild4" presStyleCnt="0"/>
      <dgm:spPr/>
    </dgm:pt>
    <dgm:pt modelId="{6DD58E4B-47C4-4AA7-863A-ADB3D8D54FF2}" type="pres">
      <dgm:prSet presAssocID="{EF9899C6-C83E-4B46-BC3D-BFE2C90DA786}" presName="Name37" presStyleLbl="parChTrans1D3" presStyleIdx="9" presStyleCnt="12"/>
      <dgm:spPr/>
    </dgm:pt>
    <dgm:pt modelId="{45BBC2A0-4C65-49C6-8847-B96EC3BDA4F9}" type="pres">
      <dgm:prSet presAssocID="{078D5C43-B197-44B8-ABE6-4273F001E91F}" presName="hierRoot2" presStyleCnt="0">
        <dgm:presLayoutVars>
          <dgm:hierBranch val="init"/>
        </dgm:presLayoutVars>
      </dgm:prSet>
      <dgm:spPr/>
    </dgm:pt>
    <dgm:pt modelId="{527835A1-C60E-44FB-8417-9A6EFFAF338D}" type="pres">
      <dgm:prSet presAssocID="{078D5C43-B197-44B8-ABE6-4273F001E91F}" presName="rootComposite" presStyleCnt="0"/>
      <dgm:spPr/>
    </dgm:pt>
    <dgm:pt modelId="{9E54CA74-D652-4C8A-96AC-E6D28070822A}" type="pres">
      <dgm:prSet presAssocID="{078D5C43-B197-44B8-ABE6-4273F001E91F}" presName="rootText" presStyleLbl="node3" presStyleIdx="9" presStyleCnt="12">
        <dgm:presLayoutVars>
          <dgm:chPref val="3"/>
        </dgm:presLayoutVars>
      </dgm:prSet>
      <dgm:spPr/>
    </dgm:pt>
    <dgm:pt modelId="{EB614F39-C054-4C69-9ADC-D344922A3A15}" type="pres">
      <dgm:prSet presAssocID="{078D5C43-B197-44B8-ABE6-4273F001E91F}" presName="rootConnector" presStyleLbl="node3" presStyleIdx="9" presStyleCnt="12"/>
      <dgm:spPr/>
    </dgm:pt>
    <dgm:pt modelId="{693AC8C8-8423-41E9-85D2-C5ABFACFC919}" type="pres">
      <dgm:prSet presAssocID="{078D5C43-B197-44B8-ABE6-4273F001E91F}" presName="hierChild4" presStyleCnt="0"/>
      <dgm:spPr/>
    </dgm:pt>
    <dgm:pt modelId="{8A13CF58-9628-4E6E-939E-52D77A342795}" type="pres">
      <dgm:prSet presAssocID="{078D5C43-B197-44B8-ABE6-4273F001E91F}" presName="hierChild5" presStyleCnt="0"/>
      <dgm:spPr/>
    </dgm:pt>
    <dgm:pt modelId="{ACA0B4F8-4B13-4030-918A-D091F0AAE74E}" type="pres">
      <dgm:prSet presAssocID="{9769F479-DB7D-4511-BDA2-D9E7D5914D10}" presName="Name37" presStyleLbl="parChTrans1D3" presStyleIdx="10" presStyleCnt="12"/>
      <dgm:spPr/>
    </dgm:pt>
    <dgm:pt modelId="{AC6C8EEB-1F78-47EA-8581-452958A4AB16}" type="pres">
      <dgm:prSet presAssocID="{D7976A95-DC95-4FA6-9799-D0101D9ABE7F}" presName="hierRoot2" presStyleCnt="0">
        <dgm:presLayoutVars>
          <dgm:hierBranch val="init"/>
        </dgm:presLayoutVars>
      </dgm:prSet>
      <dgm:spPr/>
    </dgm:pt>
    <dgm:pt modelId="{D7B2BC47-443B-49E9-BA14-E4E8F90506D5}" type="pres">
      <dgm:prSet presAssocID="{D7976A95-DC95-4FA6-9799-D0101D9ABE7F}" presName="rootComposite" presStyleCnt="0"/>
      <dgm:spPr/>
    </dgm:pt>
    <dgm:pt modelId="{D956B4D6-105B-483B-8706-3FDFACF8A436}" type="pres">
      <dgm:prSet presAssocID="{D7976A95-DC95-4FA6-9799-D0101D9ABE7F}" presName="rootText" presStyleLbl="node3" presStyleIdx="10" presStyleCnt="12">
        <dgm:presLayoutVars>
          <dgm:chPref val="3"/>
        </dgm:presLayoutVars>
      </dgm:prSet>
      <dgm:spPr/>
    </dgm:pt>
    <dgm:pt modelId="{0E2CCF66-05BA-448F-8269-2913F7022364}" type="pres">
      <dgm:prSet presAssocID="{D7976A95-DC95-4FA6-9799-D0101D9ABE7F}" presName="rootConnector" presStyleLbl="node3" presStyleIdx="10" presStyleCnt="12"/>
      <dgm:spPr/>
    </dgm:pt>
    <dgm:pt modelId="{CBF190CC-94C8-41F8-9B84-1B0A519A55E5}" type="pres">
      <dgm:prSet presAssocID="{D7976A95-DC95-4FA6-9799-D0101D9ABE7F}" presName="hierChild4" presStyleCnt="0"/>
      <dgm:spPr/>
    </dgm:pt>
    <dgm:pt modelId="{2EEF7E0C-C07D-427C-AA0F-E199E3B9F56F}" type="pres">
      <dgm:prSet presAssocID="{D7976A95-DC95-4FA6-9799-D0101D9ABE7F}" presName="hierChild5" presStyleCnt="0"/>
      <dgm:spPr/>
    </dgm:pt>
    <dgm:pt modelId="{FFEB1E62-45AB-48C5-817E-29DE941819B3}" type="pres">
      <dgm:prSet presAssocID="{FD3F13A7-EFF0-48A3-8054-C3DC59A42584}" presName="Name37" presStyleLbl="parChTrans1D3" presStyleIdx="11" presStyleCnt="12"/>
      <dgm:spPr/>
    </dgm:pt>
    <dgm:pt modelId="{2D1BDDE8-1C32-4DE7-A4A7-29C56BB61B07}" type="pres">
      <dgm:prSet presAssocID="{200F0858-1E91-4E36-9EA1-AEA1F50944B3}" presName="hierRoot2" presStyleCnt="0">
        <dgm:presLayoutVars>
          <dgm:hierBranch val="init"/>
        </dgm:presLayoutVars>
      </dgm:prSet>
      <dgm:spPr/>
    </dgm:pt>
    <dgm:pt modelId="{CE026A92-C4DC-4A88-8D90-22562F63A9C3}" type="pres">
      <dgm:prSet presAssocID="{200F0858-1E91-4E36-9EA1-AEA1F50944B3}" presName="rootComposite" presStyleCnt="0"/>
      <dgm:spPr/>
    </dgm:pt>
    <dgm:pt modelId="{FF61011D-57D0-4FB0-BEBA-F34106DE8BB6}" type="pres">
      <dgm:prSet presAssocID="{200F0858-1E91-4E36-9EA1-AEA1F50944B3}" presName="rootText" presStyleLbl="node3" presStyleIdx="11" presStyleCnt="12">
        <dgm:presLayoutVars>
          <dgm:chPref val="3"/>
        </dgm:presLayoutVars>
      </dgm:prSet>
      <dgm:spPr/>
    </dgm:pt>
    <dgm:pt modelId="{BFF40E3A-EB49-41B9-95EB-A6224244D72B}" type="pres">
      <dgm:prSet presAssocID="{200F0858-1E91-4E36-9EA1-AEA1F50944B3}" presName="rootConnector" presStyleLbl="node3" presStyleIdx="11" presStyleCnt="12"/>
      <dgm:spPr/>
    </dgm:pt>
    <dgm:pt modelId="{6D0DE94B-DC1E-4001-A2A4-585D984B523D}" type="pres">
      <dgm:prSet presAssocID="{200F0858-1E91-4E36-9EA1-AEA1F50944B3}" presName="hierChild4" presStyleCnt="0"/>
      <dgm:spPr/>
    </dgm:pt>
    <dgm:pt modelId="{F1D27F57-A123-4AAA-8C22-7FE16A734A05}" type="pres">
      <dgm:prSet presAssocID="{200F0858-1E91-4E36-9EA1-AEA1F50944B3}" presName="hierChild5" presStyleCnt="0"/>
      <dgm:spPr/>
    </dgm:pt>
    <dgm:pt modelId="{36E49065-5421-4F94-9C63-3C50C4974D87}" type="pres">
      <dgm:prSet presAssocID="{47EE9C14-3D3C-4F80-88FB-558A4C8A3819}" presName="hierChild5" presStyleCnt="0"/>
      <dgm:spPr/>
    </dgm:pt>
    <dgm:pt modelId="{3FE43585-84D5-4D23-9ABF-373587DD6C3B}" type="pres">
      <dgm:prSet presAssocID="{FF802F8C-CD31-4D36-A45E-C75B5EFE6661}" presName="hierChild3" presStyleCnt="0"/>
      <dgm:spPr/>
    </dgm:pt>
  </dgm:ptLst>
  <dgm:cxnLst>
    <dgm:cxn modelId="{76A4B500-4080-4EB5-A2C0-E4A256FF3F03}" srcId="{D2CC29B4-CCB7-4ADC-8334-CE5ABBAE839D}" destId="{19D382B6-56C7-4102-B33D-AA776D4CF0F7}" srcOrd="2" destOrd="0" parTransId="{3BB12A54-1A16-4252-95AF-1A40FAA8FA7A}" sibTransId="{ABA54B89-15C2-476B-B04F-8EED06CE3C15}"/>
    <dgm:cxn modelId="{83AD7F01-57C0-4835-B121-9A2684B27A1A}" type="presOf" srcId="{42D750F1-BA49-4131-893D-354B407F60D1}" destId="{BF988A88-979B-43F2-B92C-7EBEE68151FA}" srcOrd="1" destOrd="0" presId="urn:microsoft.com/office/officeart/2005/8/layout/orgChart1"/>
    <dgm:cxn modelId="{3E8DD401-33A6-4B24-9475-76A1F059ADCD}" type="presOf" srcId="{D7976A95-DC95-4FA6-9799-D0101D9ABE7F}" destId="{D956B4D6-105B-483B-8706-3FDFACF8A436}" srcOrd="0" destOrd="0" presId="urn:microsoft.com/office/officeart/2005/8/layout/orgChart1"/>
    <dgm:cxn modelId="{7569F002-8897-4787-8EC8-8CA5F6D15A21}" type="presOf" srcId="{027D4F15-5193-4256-B9F1-D74D55C81ADF}" destId="{DCDEFD1F-47A7-4EF9-B10B-34C08474F077}" srcOrd="0" destOrd="0" presId="urn:microsoft.com/office/officeart/2005/8/layout/orgChart1"/>
    <dgm:cxn modelId="{3B609608-FA3D-41BF-98F6-73A903483217}" type="presOf" srcId="{47EE9C14-3D3C-4F80-88FB-558A4C8A3819}" destId="{F7A2E950-ADCD-4655-9C26-895C383268B5}" srcOrd="1" destOrd="0" presId="urn:microsoft.com/office/officeart/2005/8/layout/orgChart1"/>
    <dgm:cxn modelId="{7E636F10-384C-4B89-9DFE-4C2706FAE808}" type="presOf" srcId="{00876160-C3FB-48A7-ABA6-A5069A0EB0C3}" destId="{AA0B9631-6EAC-40A4-A3B3-D912EB52FE37}" srcOrd="0" destOrd="0" presId="urn:microsoft.com/office/officeart/2005/8/layout/orgChart1"/>
    <dgm:cxn modelId="{444A5019-EB6B-4407-B03F-E21D0B09A54E}" type="presOf" srcId="{8453A048-0381-437D-9F63-CF466F1D3C34}" destId="{856B9C74-1093-4FC2-829C-258884219C97}" srcOrd="0" destOrd="0" presId="urn:microsoft.com/office/officeart/2005/8/layout/orgChart1"/>
    <dgm:cxn modelId="{83AA0A1D-F80E-46CC-BE60-67CB01AC931D}" type="presOf" srcId="{DE662E5A-762B-49ED-8275-30D58A1ED9C9}" destId="{99EC34E8-6CAB-457C-9591-CC87269395C0}" srcOrd="0" destOrd="0" presId="urn:microsoft.com/office/officeart/2005/8/layout/orgChart1"/>
    <dgm:cxn modelId="{34861B1E-D9EA-4B16-94FC-AD6B338BFA5C}" type="presOf" srcId="{6DE863AB-8382-49FF-920C-EEF97764528D}" destId="{201ED0E1-52CD-4748-B257-98631BB3BD52}" srcOrd="0" destOrd="0" presId="urn:microsoft.com/office/officeart/2005/8/layout/orgChart1"/>
    <dgm:cxn modelId="{2A342B1E-0E11-4F56-BE5D-935811DB96E1}" type="presOf" srcId="{5B134D48-3137-4EA8-9DB6-D89387C046F1}" destId="{AC6CA882-C8D9-478D-BBF6-56870C72D104}" srcOrd="1" destOrd="0" presId="urn:microsoft.com/office/officeart/2005/8/layout/orgChart1"/>
    <dgm:cxn modelId="{EC752521-6F43-4CA1-B77B-D47C452EB20D}" type="presOf" srcId="{540C0926-9C33-4017-BAB3-52F0FF896580}" destId="{3091691F-B9EA-4AA0-845D-DB21BEAD8E92}" srcOrd="0" destOrd="0" presId="urn:microsoft.com/office/officeart/2005/8/layout/orgChart1"/>
    <dgm:cxn modelId="{4D244321-9B14-4C22-B5AA-99678A5B134F}" type="presOf" srcId="{5B134D48-3137-4EA8-9DB6-D89387C046F1}" destId="{6C767D22-1940-4FD9-9A35-ED589156F925}" srcOrd="0" destOrd="0" presId="urn:microsoft.com/office/officeart/2005/8/layout/orgChart1"/>
    <dgm:cxn modelId="{85E1B02A-A447-44E2-BF36-96D65F806C3C}" srcId="{4CB79DBD-49F3-4D3C-A308-528D347B241D}" destId="{47288AA7-AEAD-4119-BDC5-E4756CBF3E8D}" srcOrd="1" destOrd="0" parTransId="{DE662E5A-762B-49ED-8275-30D58A1ED9C9}" sibTransId="{64A65F6C-43B3-4BF3-BB12-BAD13FBD5989}"/>
    <dgm:cxn modelId="{EBB37630-6164-45A7-A9EA-2AA8CB202A2C}" type="presOf" srcId="{078D5C43-B197-44B8-ABE6-4273F001E91F}" destId="{9E54CA74-D652-4C8A-96AC-E6D28070822A}" srcOrd="0" destOrd="0" presId="urn:microsoft.com/office/officeart/2005/8/layout/orgChart1"/>
    <dgm:cxn modelId="{A4D4A634-90D1-4F98-BE80-C73375D7471F}" srcId="{5B134D48-3137-4EA8-9DB6-D89387C046F1}" destId="{42D750F1-BA49-4131-893D-354B407F60D1}" srcOrd="1" destOrd="0" parTransId="{899DA83A-D23B-47AD-876A-4D3F1D996FAA}" sibTransId="{49848338-0FB2-4538-BEB5-0528B03C3C13}"/>
    <dgm:cxn modelId="{0106DC34-5F79-4F56-8499-4F6E3FBABF24}" srcId="{E8102D77-C61D-485C-8E2C-E6F5384872F5}" destId="{FF802F8C-CD31-4D36-A45E-C75B5EFE6661}" srcOrd="0" destOrd="0" parTransId="{78FCD795-104D-4BCE-B938-4C18CC575352}" sibTransId="{4825EA1E-60C9-4F74-BCFF-F818C537C578}"/>
    <dgm:cxn modelId="{B4A68739-0465-40B6-B024-47F5DDD9FD6A}" type="presOf" srcId="{1247DAFF-5585-4C24-AF1C-9F759C8658C9}" destId="{A6602D78-FCA5-4B63-B17C-DCFB089C4407}" srcOrd="1" destOrd="0" presId="urn:microsoft.com/office/officeart/2005/8/layout/orgChart1"/>
    <dgm:cxn modelId="{294B2E5B-C086-4FB8-81D8-8F2686CC039F}" srcId="{4CB79DBD-49F3-4D3C-A308-528D347B241D}" destId="{FE0B0AC2-F122-4AA2-AB94-9871284E362C}" srcOrd="0" destOrd="0" parTransId="{8F335577-BEA7-46B5-BBE4-3A08647E689E}" sibTransId="{4789226E-0E5E-4712-9630-D4B81C9F4F59}"/>
    <dgm:cxn modelId="{DA600B5E-643C-4962-A8D7-0EBF50B4E1B2}" type="presOf" srcId="{FF802F8C-CD31-4D36-A45E-C75B5EFE6661}" destId="{6C77B112-B69A-4D04-8F49-33F4682702F0}" srcOrd="1" destOrd="0" presId="urn:microsoft.com/office/officeart/2005/8/layout/orgChart1"/>
    <dgm:cxn modelId="{15BA3B5F-3F7B-4270-A7CE-F88C3819B38D}" type="presOf" srcId="{1247DAFF-5585-4C24-AF1C-9F759C8658C9}" destId="{11B74D83-2380-448A-AE17-E853DAD60BA1}" srcOrd="0" destOrd="0" presId="urn:microsoft.com/office/officeart/2005/8/layout/orgChart1"/>
    <dgm:cxn modelId="{3638F061-0E2C-4EA0-91E9-98E5CC937322}" type="presOf" srcId="{5601B581-AF68-49B2-A495-EE13FE0B84DA}" destId="{613710A1-63D3-4D1D-8424-504B92C81B6F}" srcOrd="0" destOrd="0" presId="urn:microsoft.com/office/officeart/2005/8/layout/orgChart1"/>
    <dgm:cxn modelId="{3E3B1262-E265-4484-A6AE-B5478BDCE616}" type="presOf" srcId="{EEA01FCF-6DB6-4342-BF82-9AA9F8CB1988}" destId="{F5CD924D-B77D-4B72-95AF-27B79024A758}" srcOrd="0" destOrd="0" presId="urn:microsoft.com/office/officeart/2005/8/layout/orgChart1"/>
    <dgm:cxn modelId="{9927F343-897B-46B0-9D8E-A7E3719504CB}" srcId="{FF802F8C-CD31-4D36-A45E-C75B5EFE6661}" destId="{D2CC29B4-CCB7-4ADC-8334-CE5ABBAE839D}" srcOrd="2" destOrd="0" parTransId="{22AC6B26-B8E9-42D3-AF66-24CC82D24B61}" sibTransId="{5410E785-C14F-4BB0-855A-90020D6FC32C}"/>
    <dgm:cxn modelId="{D9ECED65-92C3-4671-9FB1-7D4FC4F037FA}" type="presOf" srcId="{4CB79DBD-49F3-4D3C-A308-528D347B241D}" destId="{2297E30D-DD1C-4435-ACFF-7F0F301C3B6F}" srcOrd="0" destOrd="0" presId="urn:microsoft.com/office/officeart/2005/8/layout/orgChart1"/>
    <dgm:cxn modelId="{A8416247-55D6-4A3D-A944-0F5A68CD381F}" type="presOf" srcId="{3BB12A54-1A16-4252-95AF-1A40FAA8FA7A}" destId="{E0358394-2F45-4DDA-A2F3-D7FE277F3E8D}" srcOrd="0" destOrd="0" presId="urn:microsoft.com/office/officeart/2005/8/layout/orgChart1"/>
    <dgm:cxn modelId="{D7167C6D-91CC-4DED-A60D-9A400D51EDB2}" type="presOf" srcId="{D2CC29B4-CCB7-4ADC-8334-CE5ABBAE839D}" destId="{A68DC1F8-5C73-4E0A-8FE0-568792107B0A}" srcOrd="0" destOrd="0" presId="urn:microsoft.com/office/officeart/2005/8/layout/orgChart1"/>
    <dgm:cxn modelId="{EB73D26D-93BB-4DEF-866F-CE16AE096F17}" type="presOf" srcId="{D2CC29B4-CCB7-4ADC-8334-CE5ABBAE839D}" destId="{B9990603-935D-4B2F-ACBF-9AE374B0450F}" srcOrd="1" destOrd="0" presId="urn:microsoft.com/office/officeart/2005/8/layout/orgChart1"/>
    <dgm:cxn modelId="{BACAFB74-8E99-4F8A-B4D2-2EE6EACB4D53}" type="presOf" srcId="{05312109-A044-48A0-B5DD-E931BAE3D4D3}" destId="{662C4B65-7DB8-45DC-8A23-23C63F798023}" srcOrd="0" destOrd="0" presId="urn:microsoft.com/office/officeart/2005/8/layout/orgChart1"/>
    <dgm:cxn modelId="{EC03B27B-26E9-4B63-984E-3BB2EED3B9E2}" type="presOf" srcId="{19D382B6-56C7-4102-B33D-AA776D4CF0F7}" destId="{C9B13269-083A-4347-B604-45237454F4FC}" srcOrd="0" destOrd="0" presId="urn:microsoft.com/office/officeart/2005/8/layout/orgChart1"/>
    <dgm:cxn modelId="{40B40A7E-707B-4EBF-B1D6-249914774954}" type="presOf" srcId="{FE0B0AC2-F122-4AA2-AB94-9871284E362C}" destId="{741D6079-850E-4BFD-8FFE-919AC12332A6}" srcOrd="1" destOrd="0" presId="urn:microsoft.com/office/officeart/2005/8/layout/orgChart1"/>
    <dgm:cxn modelId="{76167C82-5F8F-44F3-B10B-187A360B1547}" type="presOf" srcId="{22AC6B26-B8E9-42D3-AF66-24CC82D24B61}" destId="{93570593-5E61-47F4-BEFD-8A755A709FD6}" srcOrd="0" destOrd="0" presId="urn:microsoft.com/office/officeart/2005/8/layout/orgChart1"/>
    <dgm:cxn modelId="{F25E9484-D4E4-40D1-A31C-70DFAA2DF369}" srcId="{D2CC29B4-CCB7-4ADC-8334-CE5ABBAE839D}" destId="{6FD5A3D1-0E4C-46A5-804A-1ABBD42C50B2}" srcOrd="1" destOrd="0" parTransId="{05312109-A044-48A0-B5DD-E931BAE3D4D3}" sibTransId="{7115B1B4-0653-4D3A-9C9D-8479E98F6ABF}"/>
    <dgm:cxn modelId="{B8A3EA87-8E57-4B72-BDBA-A1BA9C873C2A}" type="presOf" srcId="{47EE9C14-3D3C-4F80-88FB-558A4C8A3819}" destId="{B615732A-7EF2-42AA-824F-B538D03D89A9}" srcOrd="0" destOrd="0" presId="urn:microsoft.com/office/officeart/2005/8/layout/orgChart1"/>
    <dgm:cxn modelId="{7A498693-0348-4C51-8919-B4B109965D6F}" type="presOf" srcId="{77B00DC7-1592-4F08-9BF6-EEBB463F451E}" destId="{C046C017-8934-4879-8358-84520CA4BFD6}" srcOrd="0" destOrd="0" presId="urn:microsoft.com/office/officeart/2005/8/layout/orgChart1"/>
    <dgm:cxn modelId="{56854399-A564-47C5-97C9-ED6D13456C6C}" type="presOf" srcId="{FE0B0AC2-F122-4AA2-AB94-9871284E362C}" destId="{AA3F2F77-60BA-4206-BC92-4CA41F15E83A}" srcOrd="0" destOrd="0" presId="urn:microsoft.com/office/officeart/2005/8/layout/orgChart1"/>
    <dgm:cxn modelId="{DDED5399-0921-4248-86EA-2A567D203626}" type="presOf" srcId="{200F0858-1E91-4E36-9EA1-AEA1F50944B3}" destId="{FF61011D-57D0-4FB0-BEBA-F34106DE8BB6}" srcOrd="0" destOrd="0" presId="urn:microsoft.com/office/officeart/2005/8/layout/orgChart1"/>
    <dgm:cxn modelId="{A205E09C-5835-40FD-9211-51E69B06E367}" type="presOf" srcId="{8F335577-BEA7-46B5-BBE4-3A08647E689E}" destId="{BBA6DD35-D8F7-4901-AF34-FADBEADA69F5}" srcOrd="0" destOrd="0" presId="urn:microsoft.com/office/officeart/2005/8/layout/orgChart1"/>
    <dgm:cxn modelId="{49E3BB9E-D48D-4D29-AF56-4F5C60C74670}" type="presOf" srcId="{EF9899C6-C83E-4B46-BC3D-BFE2C90DA786}" destId="{6DD58E4B-47C4-4AA7-863A-ADB3D8D54FF2}" srcOrd="0" destOrd="0" presId="urn:microsoft.com/office/officeart/2005/8/layout/orgChart1"/>
    <dgm:cxn modelId="{1DCA1EA3-3019-4770-A27E-9EA9F2C68E10}" type="presOf" srcId="{9769F479-DB7D-4511-BDA2-D9E7D5914D10}" destId="{ACA0B4F8-4B13-4030-918A-D091F0AAE74E}" srcOrd="0" destOrd="0" presId="urn:microsoft.com/office/officeart/2005/8/layout/orgChart1"/>
    <dgm:cxn modelId="{B0598DA5-3FAF-4049-864B-5F8257182763}" type="presOf" srcId="{FF802F8C-CD31-4D36-A45E-C75B5EFE6661}" destId="{7CDC0682-D26A-42AB-B69A-8FC8C1E42816}" srcOrd="0" destOrd="0" presId="urn:microsoft.com/office/officeart/2005/8/layout/orgChart1"/>
    <dgm:cxn modelId="{30659DA7-C735-493F-AE73-64A28AF726BA}" type="presOf" srcId="{77B00DC7-1592-4F08-9BF6-EEBB463F451E}" destId="{E2CFB2FF-896B-44EF-BD2A-4B9FBD8B1EA7}" srcOrd="1" destOrd="0" presId="urn:microsoft.com/office/officeart/2005/8/layout/orgChart1"/>
    <dgm:cxn modelId="{CD6D06B1-E9E5-4F68-8E79-3E5A18B9892E}" type="presOf" srcId="{200F0858-1E91-4E36-9EA1-AEA1F50944B3}" destId="{BFF40E3A-EB49-41B9-95EB-A6224244D72B}" srcOrd="1" destOrd="0" presId="urn:microsoft.com/office/officeart/2005/8/layout/orgChart1"/>
    <dgm:cxn modelId="{0DB09EBB-7082-4293-8F56-FB99601DBBFF}" type="presOf" srcId="{6FD5A3D1-0E4C-46A5-804A-1ABBD42C50B2}" destId="{A50B18A9-A471-4448-BA0A-6AAC6EB9BAB5}" srcOrd="0" destOrd="0" presId="urn:microsoft.com/office/officeart/2005/8/layout/orgChart1"/>
    <dgm:cxn modelId="{6C2D96BC-D240-4847-BB70-194A91952C70}" type="presOf" srcId="{6FD5A3D1-0E4C-46A5-804A-1ABBD42C50B2}" destId="{9CCF5BCA-11F3-408B-B963-01736420F768}" srcOrd="1" destOrd="0" presId="urn:microsoft.com/office/officeart/2005/8/layout/orgChart1"/>
    <dgm:cxn modelId="{2134C4BF-307B-4E48-B21B-4D75842CAEB1}" srcId="{FF802F8C-CD31-4D36-A45E-C75B5EFE6661}" destId="{47EE9C14-3D3C-4F80-88FB-558A4C8A3819}" srcOrd="3" destOrd="0" parTransId="{00876160-C3FB-48A7-ABA6-A5069A0EB0C3}" sibTransId="{F8DF7069-9934-4938-AF2E-6D94C83CC60E}"/>
    <dgm:cxn modelId="{42AFF5BF-4D8E-43DB-BAD5-123CACFE71FA}" srcId="{FF802F8C-CD31-4D36-A45E-C75B5EFE6661}" destId="{5B134D48-3137-4EA8-9DB6-D89387C046F1}" srcOrd="1" destOrd="0" parTransId="{6DE863AB-8382-49FF-920C-EEF97764528D}" sibTransId="{3827AB53-830F-4D8E-B505-6370F343A918}"/>
    <dgm:cxn modelId="{887100C3-568F-426D-9624-9895CDE4318B}" type="presOf" srcId="{E8102D77-C61D-485C-8E2C-E6F5384872F5}" destId="{647C2804-7C80-4CF3-8ACF-62A12CF6A2AC}" srcOrd="0" destOrd="0" presId="urn:microsoft.com/office/officeart/2005/8/layout/orgChart1"/>
    <dgm:cxn modelId="{429E35CA-B51E-4255-8B9B-4D6473FCEFAF}" type="presOf" srcId="{5C59FF88-3697-4CE2-8AF9-3403BFC25ACB}" destId="{F4CBF380-B246-4B3B-82F6-976546C78F67}" srcOrd="1" destOrd="0" presId="urn:microsoft.com/office/officeart/2005/8/layout/orgChart1"/>
    <dgm:cxn modelId="{E19887CB-67F0-40B3-84FD-001476EB41D5}" type="presOf" srcId="{4CB79DBD-49F3-4D3C-A308-528D347B241D}" destId="{1C68F317-2DFE-4139-8C36-A4E7B5F30DC1}" srcOrd="1" destOrd="0" presId="urn:microsoft.com/office/officeart/2005/8/layout/orgChart1"/>
    <dgm:cxn modelId="{F9FB4FD2-C2EF-4E23-8E48-C0F865BD402C}" type="presOf" srcId="{47288AA7-AEAD-4119-BDC5-E4756CBF3E8D}" destId="{DF7B5C19-7079-4FA8-9DF1-0FEEEC24ECEF}" srcOrd="0" destOrd="0" presId="urn:microsoft.com/office/officeart/2005/8/layout/orgChart1"/>
    <dgm:cxn modelId="{6C79D9DA-5097-448F-86D4-0D4410CBD284}" srcId="{47EE9C14-3D3C-4F80-88FB-558A4C8A3819}" destId="{078D5C43-B197-44B8-ABE6-4273F001E91F}" srcOrd="0" destOrd="0" parTransId="{EF9899C6-C83E-4B46-BC3D-BFE2C90DA786}" sibTransId="{6B8F53C0-72D0-4D15-89B4-23FFB73048F9}"/>
    <dgm:cxn modelId="{297ECEDF-7993-4C09-BBC1-342F5ACB4553}" type="presOf" srcId="{19D382B6-56C7-4102-B33D-AA776D4CF0F7}" destId="{EED1DA84-A537-4687-A0E4-F6BF711880C1}" srcOrd="1" destOrd="0" presId="urn:microsoft.com/office/officeart/2005/8/layout/orgChart1"/>
    <dgm:cxn modelId="{3FD217E1-20CA-42D8-8984-5FCBF743D8CB}" type="presOf" srcId="{078D5C43-B197-44B8-ABE6-4273F001E91F}" destId="{EB614F39-C054-4C69-9ADC-D344922A3A15}" srcOrd="1" destOrd="0" presId="urn:microsoft.com/office/officeart/2005/8/layout/orgChart1"/>
    <dgm:cxn modelId="{38FD72E3-0726-4F59-A262-85F4E4053648}" type="presOf" srcId="{5C59FF88-3697-4CE2-8AF9-3403BFC25ACB}" destId="{F75F4C8A-27E4-4E4B-95F4-D10773F4A8EB}" srcOrd="0" destOrd="0" presId="urn:microsoft.com/office/officeart/2005/8/layout/orgChart1"/>
    <dgm:cxn modelId="{6164B5E3-D376-432A-BE03-021774F1C1EC}" srcId="{D2CC29B4-CCB7-4ADC-8334-CE5ABBAE839D}" destId="{77B00DC7-1592-4F08-9BF6-EEBB463F451E}" srcOrd="0" destOrd="0" parTransId="{5601B581-AF68-49B2-A495-EE13FE0B84DA}" sibTransId="{70BC6EF1-E447-4C6F-B6BA-3BB55D377B4A}"/>
    <dgm:cxn modelId="{9DF051E5-F3D1-4C3D-9B70-7BC4221E7033}" srcId="{47EE9C14-3D3C-4F80-88FB-558A4C8A3819}" destId="{200F0858-1E91-4E36-9EA1-AEA1F50944B3}" srcOrd="2" destOrd="0" parTransId="{FD3F13A7-EFF0-48A3-8054-C3DC59A42584}" sibTransId="{EE496D89-BFD4-4D80-805F-580684C67279}"/>
    <dgm:cxn modelId="{213CDCE6-A93F-4271-9722-AB4F5103A472}" type="presOf" srcId="{899DA83A-D23B-47AD-876A-4D3F1D996FAA}" destId="{60201650-D1F5-4C55-971E-DB9AAD4D8BB0}" srcOrd="0" destOrd="0" presId="urn:microsoft.com/office/officeart/2005/8/layout/orgChart1"/>
    <dgm:cxn modelId="{1F9192EB-E91F-4748-92FA-77966A94E11E}" type="presOf" srcId="{8453A048-0381-437D-9F63-CF466F1D3C34}" destId="{748EF0B3-4CC2-41C3-B540-BFBFEC45AC85}" srcOrd="1" destOrd="0" presId="urn:microsoft.com/office/officeart/2005/8/layout/orgChart1"/>
    <dgm:cxn modelId="{B935CCEB-10E8-4967-9780-D67E0A59CC00}" type="presOf" srcId="{8CC2CC18-1CA6-4421-9CA2-12B04C06D895}" destId="{A2E0B213-9FA2-4012-8764-E48283ED5613}" srcOrd="0" destOrd="0" presId="urn:microsoft.com/office/officeart/2005/8/layout/orgChart1"/>
    <dgm:cxn modelId="{F7DFFBEC-64AE-435B-B404-82F97C63D5DD}" srcId="{5B134D48-3137-4EA8-9DB6-D89387C046F1}" destId="{1247DAFF-5585-4C24-AF1C-9F759C8658C9}" srcOrd="0" destOrd="0" parTransId="{EEA01FCF-6DB6-4342-BF82-9AA9F8CB1988}" sibTransId="{421A5395-E234-44AB-8FD2-05A08CE8FB8D}"/>
    <dgm:cxn modelId="{DFEA51EE-D0FC-4C34-8CE4-C7A049745ADE}" type="presOf" srcId="{47288AA7-AEAD-4119-BDC5-E4756CBF3E8D}" destId="{4CEE745A-B010-4329-ACA3-D5B67630D2D8}" srcOrd="1" destOrd="0" presId="urn:microsoft.com/office/officeart/2005/8/layout/orgChart1"/>
    <dgm:cxn modelId="{029825EF-B9FE-40DB-BE6E-3BD6765C0672}" type="presOf" srcId="{D7976A95-DC95-4FA6-9799-D0101D9ABE7F}" destId="{0E2CCF66-05BA-448F-8269-2913F7022364}" srcOrd="1" destOrd="0" presId="urn:microsoft.com/office/officeart/2005/8/layout/orgChart1"/>
    <dgm:cxn modelId="{22A139F2-DEC9-42E4-B328-D7E161657A58}" srcId="{5B134D48-3137-4EA8-9DB6-D89387C046F1}" destId="{5C59FF88-3697-4CE2-8AF9-3403BFC25ACB}" srcOrd="2" destOrd="0" parTransId="{8CC2CC18-1CA6-4421-9CA2-12B04C06D895}" sibTransId="{E24C58C7-459F-4CCC-9785-1BFF76A9D304}"/>
    <dgm:cxn modelId="{45138EF3-FBB2-4512-A1C3-9A31B687EA0D}" type="presOf" srcId="{FD3F13A7-EFF0-48A3-8054-C3DC59A42584}" destId="{FFEB1E62-45AB-48C5-817E-29DE941819B3}" srcOrd="0" destOrd="0" presId="urn:microsoft.com/office/officeart/2005/8/layout/orgChart1"/>
    <dgm:cxn modelId="{87CDD1F7-ACD7-480A-AB33-9E3104A47299}" srcId="{4CB79DBD-49F3-4D3C-A308-528D347B241D}" destId="{8453A048-0381-437D-9F63-CF466F1D3C34}" srcOrd="2" destOrd="0" parTransId="{540C0926-9C33-4017-BAB3-52F0FF896580}" sibTransId="{D2D08E27-28F5-4549-8F51-C4BC9EF43326}"/>
    <dgm:cxn modelId="{A8B6BCF9-834F-4713-8805-1DF16A8D5003}" srcId="{FF802F8C-CD31-4D36-A45E-C75B5EFE6661}" destId="{4CB79DBD-49F3-4D3C-A308-528D347B241D}" srcOrd="0" destOrd="0" parTransId="{027D4F15-5193-4256-B9F1-D74D55C81ADF}" sibTransId="{BB16F5D2-BCBA-475C-B275-3C3297C16E18}"/>
    <dgm:cxn modelId="{944890FC-427B-42E6-AF54-3E399195F741}" type="presOf" srcId="{42D750F1-BA49-4131-893D-354B407F60D1}" destId="{85864ED5-5091-46E8-BE86-6D75317AED39}" srcOrd="0" destOrd="0" presId="urn:microsoft.com/office/officeart/2005/8/layout/orgChart1"/>
    <dgm:cxn modelId="{191262FE-602E-41C2-ABFE-D6D9750878A3}" srcId="{47EE9C14-3D3C-4F80-88FB-558A4C8A3819}" destId="{D7976A95-DC95-4FA6-9799-D0101D9ABE7F}" srcOrd="1" destOrd="0" parTransId="{9769F479-DB7D-4511-BDA2-D9E7D5914D10}" sibTransId="{3458EDD2-02BB-4A06-A0E3-D79CBE6AFFCD}"/>
    <dgm:cxn modelId="{92D04A1B-E299-4433-80A5-BECCDA556B79}" type="presParOf" srcId="{647C2804-7C80-4CF3-8ACF-62A12CF6A2AC}" destId="{7DBC7437-5D8C-4F3F-8827-3F93DC473D86}" srcOrd="0" destOrd="0" presId="urn:microsoft.com/office/officeart/2005/8/layout/orgChart1"/>
    <dgm:cxn modelId="{10AF7D89-93BE-45E0-8BAB-4211C0A74537}" type="presParOf" srcId="{7DBC7437-5D8C-4F3F-8827-3F93DC473D86}" destId="{52B476AD-4C35-45D4-8819-2673F8A2E86E}" srcOrd="0" destOrd="0" presId="urn:microsoft.com/office/officeart/2005/8/layout/orgChart1"/>
    <dgm:cxn modelId="{2CB27EDB-DD41-42FF-A4A4-1BCD0660CB10}" type="presParOf" srcId="{52B476AD-4C35-45D4-8819-2673F8A2E86E}" destId="{7CDC0682-D26A-42AB-B69A-8FC8C1E42816}" srcOrd="0" destOrd="0" presId="urn:microsoft.com/office/officeart/2005/8/layout/orgChart1"/>
    <dgm:cxn modelId="{1D7B4AAC-A04A-4DF8-B130-E372FA333407}" type="presParOf" srcId="{52B476AD-4C35-45D4-8819-2673F8A2E86E}" destId="{6C77B112-B69A-4D04-8F49-33F4682702F0}" srcOrd="1" destOrd="0" presId="urn:microsoft.com/office/officeart/2005/8/layout/orgChart1"/>
    <dgm:cxn modelId="{DA2FA093-49E2-4BA4-87FA-7C293811F84C}" type="presParOf" srcId="{7DBC7437-5D8C-4F3F-8827-3F93DC473D86}" destId="{32AD6DEC-B2BA-49F7-BFA7-D446FF4AC535}" srcOrd="1" destOrd="0" presId="urn:microsoft.com/office/officeart/2005/8/layout/orgChart1"/>
    <dgm:cxn modelId="{23CE0AF8-FE9F-454D-A425-023F1C853344}" type="presParOf" srcId="{32AD6DEC-B2BA-49F7-BFA7-D446FF4AC535}" destId="{DCDEFD1F-47A7-4EF9-B10B-34C08474F077}" srcOrd="0" destOrd="0" presId="urn:microsoft.com/office/officeart/2005/8/layout/orgChart1"/>
    <dgm:cxn modelId="{857600D0-0252-4F8E-BEB0-ABF99A95E8DD}" type="presParOf" srcId="{32AD6DEC-B2BA-49F7-BFA7-D446FF4AC535}" destId="{BA29F8FD-A9C4-4A88-BFD0-27A3D26E44DC}" srcOrd="1" destOrd="0" presId="urn:microsoft.com/office/officeart/2005/8/layout/orgChart1"/>
    <dgm:cxn modelId="{D58D96C4-2A1F-48D5-9699-2EC4429FAA0C}" type="presParOf" srcId="{BA29F8FD-A9C4-4A88-BFD0-27A3D26E44DC}" destId="{92029AC0-7385-4D45-B5DB-100DC92D7367}" srcOrd="0" destOrd="0" presId="urn:microsoft.com/office/officeart/2005/8/layout/orgChart1"/>
    <dgm:cxn modelId="{2179B3B7-C3BA-432F-9F20-AFDA2706B95B}" type="presParOf" srcId="{92029AC0-7385-4D45-B5DB-100DC92D7367}" destId="{2297E30D-DD1C-4435-ACFF-7F0F301C3B6F}" srcOrd="0" destOrd="0" presId="urn:microsoft.com/office/officeart/2005/8/layout/orgChart1"/>
    <dgm:cxn modelId="{0796F0E3-8A2B-4352-9D42-A05F38B6BC60}" type="presParOf" srcId="{92029AC0-7385-4D45-B5DB-100DC92D7367}" destId="{1C68F317-2DFE-4139-8C36-A4E7B5F30DC1}" srcOrd="1" destOrd="0" presId="urn:microsoft.com/office/officeart/2005/8/layout/orgChart1"/>
    <dgm:cxn modelId="{53708EE2-8A6F-4D93-B858-438D71D62656}" type="presParOf" srcId="{BA29F8FD-A9C4-4A88-BFD0-27A3D26E44DC}" destId="{2445C409-39A6-4DB2-895A-59F4D0AC2300}" srcOrd="1" destOrd="0" presId="urn:microsoft.com/office/officeart/2005/8/layout/orgChart1"/>
    <dgm:cxn modelId="{99AD7670-80C9-4579-9BF6-DEBC7D4CB4A6}" type="presParOf" srcId="{2445C409-39A6-4DB2-895A-59F4D0AC2300}" destId="{BBA6DD35-D8F7-4901-AF34-FADBEADA69F5}" srcOrd="0" destOrd="0" presId="urn:microsoft.com/office/officeart/2005/8/layout/orgChart1"/>
    <dgm:cxn modelId="{286BFC3E-01C3-4D04-B047-778B0A98C157}" type="presParOf" srcId="{2445C409-39A6-4DB2-895A-59F4D0AC2300}" destId="{2070AD55-9CF3-4DD5-84CC-5AE2DEFC8BFA}" srcOrd="1" destOrd="0" presId="urn:microsoft.com/office/officeart/2005/8/layout/orgChart1"/>
    <dgm:cxn modelId="{3D9749CF-8E85-472F-968F-75F66A08CF36}" type="presParOf" srcId="{2070AD55-9CF3-4DD5-84CC-5AE2DEFC8BFA}" destId="{7D174D88-A8A0-43D2-977D-3D9C47833FB6}" srcOrd="0" destOrd="0" presId="urn:microsoft.com/office/officeart/2005/8/layout/orgChart1"/>
    <dgm:cxn modelId="{3373388B-8730-4850-BF89-7C314562C835}" type="presParOf" srcId="{7D174D88-A8A0-43D2-977D-3D9C47833FB6}" destId="{AA3F2F77-60BA-4206-BC92-4CA41F15E83A}" srcOrd="0" destOrd="0" presId="urn:microsoft.com/office/officeart/2005/8/layout/orgChart1"/>
    <dgm:cxn modelId="{53058A2D-9A77-43A3-B713-5C6ECE214274}" type="presParOf" srcId="{7D174D88-A8A0-43D2-977D-3D9C47833FB6}" destId="{741D6079-850E-4BFD-8FFE-919AC12332A6}" srcOrd="1" destOrd="0" presId="urn:microsoft.com/office/officeart/2005/8/layout/orgChart1"/>
    <dgm:cxn modelId="{718B17F1-2362-4EE6-BA9F-6340A01B763A}" type="presParOf" srcId="{2070AD55-9CF3-4DD5-84CC-5AE2DEFC8BFA}" destId="{654F6998-0F34-46E5-9411-516AD6D3750C}" srcOrd="1" destOrd="0" presId="urn:microsoft.com/office/officeart/2005/8/layout/orgChart1"/>
    <dgm:cxn modelId="{B9882306-F347-4A30-A6E4-33EF6990F985}" type="presParOf" srcId="{2070AD55-9CF3-4DD5-84CC-5AE2DEFC8BFA}" destId="{62331B6F-BAD5-4909-956D-B12811BCD2B6}" srcOrd="2" destOrd="0" presId="urn:microsoft.com/office/officeart/2005/8/layout/orgChart1"/>
    <dgm:cxn modelId="{EFCC680A-F638-49F8-A408-25456414BBE6}" type="presParOf" srcId="{2445C409-39A6-4DB2-895A-59F4D0AC2300}" destId="{99EC34E8-6CAB-457C-9591-CC87269395C0}" srcOrd="2" destOrd="0" presId="urn:microsoft.com/office/officeart/2005/8/layout/orgChart1"/>
    <dgm:cxn modelId="{0489AD78-D420-4E39-BEED-B46FA4489A42}" type="presParOf" srcId="{2445C409-39A6-4DB2-895A-59F4D0AC2300}" destId="{E48E8264-6F8D-4132-9351-F0B743CDAA26}" srcOrd="3" destOrd="0" presId="urn:microsoft.com/office/officeart/2005/8/layout/orgChart1"/>
    <dgm:cxn modelId="{5D4EEDC6-91BB-4211-B3E7-716A6641AF66}" type="presParOf" srcId="{E48E8264-6F8D-4132-9351-F0B743CDAA26}" destId="{685C733B-224C-4504-9AA3-3A4E27B0C54B}" srcOrd="0" destOrd="0" presId="urn:microsoft.com/office/officeart/2005/8/layout/orgChart1"/>
    <dgm:cxn modelId="{6C9C01A3-AA94-4310-9642-6AD963C965B9}" type="presParOf" srcId="{685C733B-224C-4504-9AA3-3A4E27B0C54B}" destId="{DF7B5C19-7079-4FA8-9DF1-0FEEEC24ECEF}" srcOrd="0" destOrd="0" presId="urn:microsoft.com/office/officeart/2005/8/layout/orgChart1"/>
    <dgm:cxn modelId="{73D66F41-79E2-44EE-A2F4-E4583E6C2F0A}" type="presParOf" srcId="{685C733B-224C-4504-9AA3-3A4E27B0C54B}" destId="{4CEE745A-B010-4329-ACA3-D5B67630D2D8}" srcOrd="1" destOrd="0" presId="urn:microsoft.com/office/officeart/2005/8/layout/orgChart1"/>
    <dgm:cxn modelId="{85C9592C-594D-433C-9821-BC9BF6837D8A}" type="presParOf" srcId="{E48E8264-6F8D-4132-9351-F0B743CDAA26}" destId="{458E58E5-C418-4687-B4A9-6E10EBF36D6B}" srcOrd="1" destOrd="0" presId="urn:microsoft.com/office/officeart/2005/8/layout/orgChart1"/>
    <dgm:cxn modelId="{1B3F6CC9-ADC7-46CE-923A-86AD95378CA7}" type="presParOf" srcId="{E48E8264-6F8D-4132-9351-F0B743CDAA26}" destId="{0204E1C3-1F12-4E4E-A511-201804263BDE}" srcOrd="2" destOrd="0" presId="urn:microsoft.com/office/officeart/2005/8/layout/orgChart1"/>
    <dgm:cxn modelId="{C14617DF-3F4A-4148-AC36-92B713047E4E}" type="presParOf" srcId="{2445C409-39A6-4DB2-895A-59F4D0AC2300}" destId="{3091691F-B9EA-4AA0-845D-DB21BEAD8E92}" srcOrd="4" destOrd="0" presId="urn:microsoft.com/office/officeart/2005/8/layout/orgChart1"/>
    <dgm:cxn modelId="{D808A0A7-B6E6-432E-AB2A-466C14425EAC}" type="presParOf" srcId="{2445C409-39A6-4DB2-895A-59F4D0AC2300}" destId="{5201463E-C4A2-4B27-B062-32E17BC88591}" srcOrd="5" destOrd="0" presId="urn:microsoft.com/office/officeart/2005/8/layout/orgChart1"/>
    <dgm:cxn modelId="{F4191B9B-E9B8-4BCB-A22A-CAA50038E030}" type="presParOf" srcId="{5201463E-C4A2-4B27-B062-32E17BC88591}" destId="{8203A250-596C-46D9-A028-C00233918FFC}" srcOrd="0" destOrd="0" presId="urn:microsoft.com/office/officeart/2005/8/layout/orgChart1"/>
    <dgm:cxn modelId="{88B37E63-72CF-4A4D-BE99-6F8192677779}" type="presParOf" srcId="{8203A250-596C-46D9-A028-C00233918FFC}" destId="{856B9C74-1093-4FC2-829C-258884219C97}" srcOrd="0" destOrd="0" presId="urn:microsoft.com/office/officeart/2005/8/layout/orgChart1"/>
    <dgm:cxn modelId="{5E5A9C3F-0945-49CA-B22C-B848F38857DA}" type="presParOf" srcId="{8203A250-596C-46D9-A028-C00233918FFC}" destId="{748EF0B3-4CC2-41C3-B540-BFBFEC45AC85}" srcOrd="1" destOrd="0" presId="urn:microsoft.com/office/officeart/2005/8/layout/orgChart1"/>
    <dgm:cxn modelId="{94848062-3323-49DF-A498-B5EBDB3DD22D}" type="presParOf" srcId="{5201463E-C4A2-4B27-B062-32E17BC88591}" destId="{A08D5209-1E6E-4009-B0CD-6782E713BBBF}" srcOrd="1" destOrd="0" presId="urn:microsoft.com/office/officeart/2005/8/layout/orgChart1"/>
    <dgm:cxn modelId="{7756200B-1ACF-44D8-AA43-9813EFAE10D1}" type="presParOf" srcId="{5201463E-C4A2-4B27-B062-32E17BC88591}" destId="{63BB166B-B6ED-4FF7-A0D8-8FF1C87A2A65}" srcOrd="2" destOrd="0" presId="urn:microsoft.com/office/officeart/2005/8/layout/orgChart1"/>
    <dgm:cxn modelId="{A67ADF32-19DD-4AF0-B3B3-4309DEFB6714}" type="presParOf" srcId="{BA29F8FD-A9C4-4A88-BFD0-27A3D26E44DC}" destId="{19BF3EBC-B096-42DA-93B0-971DCE05D621}" srcOrd="2" destOrd="0" presId="urn:microsoft.com/office/officeart/2005/8/layout/orgChart1"/>
    <dgm:cxn modelId="{37860BA5-AFD4-4B3B-A941-1551E79BCE8A}" type="presParOf" srcId="{32AD6DEC-B2BA-49F7-BFA7-D446FF4AC535}" destId="{201ED0E1-52CD-4748-B257-98631BB3BD52}" srcOrd="2" destOrd="0" presId="urn:microsoft.com/office/officeart/2005/8/layout/orgChart1"/>
    <dgm:cxn modelId="{14B7706B-B585-4030-97A2-A35B672F9504}" type="presParOf" srcId="{32AD6DEC-B2BA-49F7-BFA7-D446FF4AC535}" destId="{35176ABE-3AC0-433E-8C0C-0E9416EB97A4}" srcOrd="3" destOrd="0" presId="urn:microsoft.com/office/officeart/2005/8/layout/orgChart1"/>
    <dgm:cxn modelId="{6CD576DD-8C3A-4DEF-8F27-A98A128FE857}" type="presParOf" srcId="{35176ABE-3AC0-433E-8C0C-0E9416EB97A4}" destId="{DB93A4C4-34FC-44A9-BEDC-1EE3FB83A554}" srcOrd="0" destOrd="0" presId="urn:microsoft.com/office/officeart/2005/8/layout/orgChart1"/>
    <dgm:cxn modelId="{BD05B68A-FF0F-42D4-B265-BC10A6CBEE6C}" type="presParOf" srcId="{DB93A4C4-34FC-44A9-BEDC-1EE3FB83A554}" destId="{6C767D22-1940-4FD9-9A35-ED589156F925}" srcOrd="0" destOrd="0" presId="urn:microsoft.com/office/officeart/2005/8/layout/orgChart1"/>
    <dgm:cxn modelId="{CF87CE9D-F3D1-4DD3-8487-B71716B1FCE5}" type="presParOf" srcId="{DB93A4C4-34FC-44A9-BEDC-1EE3FB83A554}" destId="{AC6CA882-C8D9-478D-BBF6-56870C72D104}" srcOrd="1" destOrd="0" presId="urn:microsoft.com/office/officeart/2005/8/layout/orgChart1"/>
    <dgm:cxn modelId="{057BDBC9-F34B-42D7-975F-793457E5ED2F}" type="presParOf" srcId="{35176ABE-3AC0-433E-8C0C-0E9416EB97A4}" destId="{DB16BEA8-883D-4FDA-9031-222DB00ADD73}" srcOrd="1" destOrd="0" presId="urn:microsoft.com/office/officeart/2005/8/layout/orgChart1"/>
    <dgm:cxn modelId="{E2707481-F993-41A1-9A33-FC648F0FE91B}" type="presParOf" srcId="{DB16BEA8-883D-4FDA-9031-222DB00ADD73}" destId="{F5CD924D-B77D-4B72-95AF-27B79024A758}" srcOrd="0" destOrd="0" presId="urn:microsoft.com/office/officeart/2005/8/layout/orgChart1"/>
    <dgm:cxn modelId="{7E3F233B-3E69-4C9F-A0D6-B9C0F60ECE15}" type="presParOf" srcId="{DB16BEA8-883D-4FDA-9031-222DB00ADD73}" destId="{9E33E8BC-B332-4EBD-8A1D-67A863FF3ED1}" srcOrd="1" destOrd="0" presId="urn:microsoft.com/office/officeart/2005/8/layout/orgChart1"/>
    <dgm:cxn modelId="{B27B803E-F426-4A76-BE1F-5288E51DB9A5}" type="presParOf" srcId="{9E33E8BC-B332-4EBD-8A1D-67A863FF3ED1}" destId="{19A7FD9D-96C6-4F14-B5E9-850D70CE7605}" srcOrd="0" destOrd="0" presId="urn:microsoft.com/office/officeart/2005/8/layout/orgChart1"/>
    <dgm:cxn modelId="{17BAC7EC-66E6-41BD-A34F-2E0A1B1EDD07}" type="presParOf" srcId="{19A7FD9D-96C6-4F14-B5E9-850D70CE7605}" destId="{11B74D83-2380-448A-AE17-E853DAD60BA1}" srcOrd="0" destOrd="0" presId="urn:microsoft.com/office/officeart/2005/8/layout/orgChart1"/>
    <dgm:cxn modelId="{FABA28A1-24C0-43A2-A3ED-BDA24886B1A8}" type="presParOf" srcId="{19A7FD9D-96C6-4F14-B5E9-850D70CE7605}" destId="{A6602D78-FCA5-4B63-B17C-DCFB089C4407}" srcOrd="1" destOrd="0" presId="urn:microsoft.com/office/officeart/2005/8/layout/orgChart1"/>
    <dgm:cxn modelId="{FBC39C09-A249-4F1D-8139-0228AC1FFE64}" type="presParOf" srcId="{9E33E8BC-B332-4EBD-8A1D-67A863FF3ED1}" destId="{007FBCC7-0708-4E15-AD8D-1D3B660A15EE}" srcOrd="1" destOrd="0" presId="urn:microsoft.com/office/officeart/2005/8/layout/orgChart1"/>
    <dgm:cxn modelId="{F250AAC4-CF9E-47D4-82A7-0CB4F1F5A230}" type="presParOf" srcId="{9E33E8BC-B332-4EBD-8A1D-67A863FF3ED1}" destId="{B17219EA-DB29-464F-99B5-D446AD075431}" srcOrd="2" destOrd="0" presId="urn:microsoft.com/office/officeart/2005/8/layout/orgChart1"/>
    <dgm:cxn modelId="{F20AC9B4-3D00-416C-A6DE-6D67339D25E7}" type="presParOf" srcId="{DB16BEA8-883D-4FDA-9031-222DB00ADD73}" destId="{60201650-D1F5-4C55-971E-DB9AAD4D8BB0}" srcOrd="2" destOrd="0" presId="urn:microsoft.com/office/officeart/2005/8/layout/orgChart1"/>
    <dgm:cxn modelId="{A5EE32E3-BDE8-4370-9E0A-B68B3D1AC8A0}" type="presParOf" srcId="{DB16BEA8-883D-4FDA-9031-222DB00ADD73}" destId="{FE4BF52C-B514-4A3C-912A-49BC77161D74}" srcOrd="3" destOrd="0" presId="urn:microsoft.com/office/officeart/2005/8/layout/orgChart1"/>
    <dgm:cxn modelId="{DEAAF722-0DB9-45F5-B4E3-51880EED54DA}" type="presParOf" srcId="{FE4BF52C-B514-4A3C-912A-49BC77161D74}" destId="{D9671ACE-FAB4-4CB4-9253-080BB8FD0B3E}" srcOrd="0" destOrd="0" presId="urn:microsoft.com/office/officeart/2005/8/layout/orgChart1"/>
    <dgm:cxn modelId="{431BBB18-8760-4BE0-8B7B-8A9317E83DFE}" type="presParOf" srcId="{D9671ACE-FAB4-4CB4-9253-080BB8FD0B3E}" destId="{85864ED5-5091-46E8-BE86-6D75317AED39}" srcOrd="0" destOrd="0" presId="urn:microsoft.com/office/officeart/2005/8/layout/orgChart1"/>
    <dgm:cxn modelId="{F58F2214-D9CC-4037-8F3D-C3B05E3841C3}" type="presParOf" srcId="{D9671ACE-FAB4-4CB4-9253-080BB8FD0B3E}" destId="{BF988A88-979B-43F2-B92C-7EBEE68151FA}" srcOrd="1" destOrd="0" presId="urn:microsoft.com/office/officeart/2005/8/layout/orgChart1"/>
    <dgm:cxn modelId="{145053B5-3C74-4C9D-B29E-5C45A90ABE0A}" type="presParOf" srcId="{FE4BF52C-B514-4A3C-912A-49BC77161D74}" destId="{9D3FECD9-CD28-424F-A972-DB2B5CE3252A}" srcOrd="1" destOrd="0" presId="urn:microsoft.com/office/officeart/2005/8/layout/orgChart1"/>
    <dgm:cxn modelId="{2A023C93-C59C-4BFB-B23A-5E16961EC5AB}" type="presParOf" srcId="{FE4BF52C-B514-4A3C-912A-49BC77161D74}" destId="{3081878A-DD13-445A-BBDE-ADBF061DB2D0}" srcOrd="2" destOrd="0" presId="urn:microsoft.com/office/officeart/2005/8/layout/orgChart1"/>
    <dgm:cxn modelId="{D74913D3-67C0-47AA-B830-32E88F0EBB3F}" type="presParOf" srcId="{DB16BEA8-883D-4FDA-9031-222DB00ADD73}" destId="{A2E0B213-9FA2-4012-8764-E48283ED5613}" srcOrd="4" destOrd="0" presId="urn:microsoft.com/office/officeart/2005/8/layout/orgChart1"/>
    <dgm:cxn modelId="{80B901C3-3FB1-4CFB-B522-2AFF24118C55}" type="presParOf" srcId="{DB16BEA8-883D-4FDA-9031-222DB00ADD73}" destId="{03ABC034-F90B-4DAC-9147-5B89B9632BB8}" srcOrd="5" destOrd="0" presId="urn:microsoft.com/office/officeart/2005/8/layout/orgChart1"/>
    <dgm:cxn modelId="{70DBDDA4-5ACD-4821-8D4D-DFD36C2E9890}" type="presParOf" srcId="{03ABC034-F90B-4DAC-9147-5B89B9632BB8}" destId="{444CFAAA-5EB3-4C8D-A3E2-B67215FE6774}" srcOrd="0" destOrd="0" presId="urn:microsoft.com/office/officeart/2005/8/layout/orgChart1"/>
    <dgm:cxn modelId="{841FD2CA-DBDF-457D-83B7-1DB83790234D}" type="presParOf" srcId="{444CFAAA-5EB3-4C8D-A3E2-B67215FE6774}" destId="{F75F4C8A-27E4-4E4B-95F4-D10773F4A8EB}" srcOrd="0" destOrd="0" presId="urn:microsoft.com/office/officeart/2005/8/layout/orgChart1"/>
    <dgm:cxn modelId="{3B6D17F7-E32C-4264-BAEA-BEB5308B32A7}" type="presParOf" srcId="{444CFAAA-5EB3-4C8D-A3E2-B67215FE6774}" destId="{F4CBF380-B246-4B3B-82F6-976546C78F67}" srcOrd="1" destOrd="0" presId="urn:microsoft.com/office/officeart/2005/8/layout/orgChart1"/>
    <dgm:cxn modelId="{0E976DAD-1FFF-4BF5-925C-8F71E580E6AC}" type="presParOf" srcId="{03ABC034-F90B-4DAC-9147-5B89B9632BB8}" destId="{000E5046-B567-4E1B-A937-F677CC62979F}" srcOrd="1" destOrd="0" presId="urn:microsoft.com/office/officeart/2005/8/layout/orgChart1"/>
    <dgm:cxn modelId="{9318B51C-E9EC-4631-BADC-D8EA92954E15}" type="presParOf" srcId="{03ABC034-F90B-4DAC-9147-5B89B9632BB8}" destId="{598A74B6-E043-4FFB-B3DA-D6AF36993C6A}" srcOrd="2" destOrd="0" presId="urn:microsoft.com/office/officeart/2005/8/layout/orgChart1"/>
    <dgm:cxn modelId="{5BA19FFF-8B24-4FB5-AB95-049EAB46FFB1}" type="presParOf" srcId="{35176ABE-3AC0-433E-8C0C-0E9416EB97A4}" destId="{2630E5C9-0FB7-49C3-AA14-90C180CC541C}" srcOrd="2" destOrd="0" presId="urn:microsoft.com/office/officeart/2005/8/layout/orgChart1"/>
    <dgm:cxn modelId="{B61CDCF9-CAC4-4F7C-886F-F5C0428A59FE}" type="presParOf" srcId="{32AD6DEC-B2BA-49F7-BFA7-D446FF4AC535}" destId="{93570593-5E61-47F4-BEFD-8A755A709FD6}" srcOrd="4" destOrd="0" presId="urn:microsoft.com/office/officeart/2005/8/layout/orgChart1"/>
    <dgm:cxn modelId="{7920E1D8-E2A4-4F65-9A8E-1BF90CF3F7F9}" type="presParOf" srcId="{32AD6DEC-B2BA-49F7-BFA7-D446FF4AC535}" destId="{27B62AEF-6F71-47F2-B708-C39E46157114}" srcOrd="5" destOrd="0" presId="urn:microsoft.com/office/officeart/2005/8/layout/orgChart1"/>
    <dgm:cxn modelId="{CB9FBADD-31C5-41ED-8601-01510DE5F91F}" type="presParOf" srcId="{27B62AEF-6F71-47F2-B708-C39E46157114}" destId="{706CAAF0-F687-4309-BCAF-45058D4BFBC8}" srcOrd="0" destOrd="0" presId="urn:microsoft.com/office/officeart/2005/8/layout/orgChart1"/>
    <dgm:cxn modelId="{0D7F83A8-880E-4327-A18B-E1AE5FF562B8}" type="presParOf" srcId="{706CAAF0-F687-4309-BCAF-45058D4BFBC8}" destId="{A68DC1F8-5C73-4E0A-8FE0-568792107B0A}" srcOrd="0" destOrd="0" presId="urn:microsoft.com/office/officeart/2005/8/layout/orgChart1"/>
    <dgm:cxn modelId="{17D1F53D-1F87-42B8-8BA7-1D960D9B5D0B}" type="presParOf" srcId="{706CAAF0-F687-4309-BCAF-45058D4BFBC8}" destId="{B9990603-935D-4B2F-ACBF-9AE374B0450F}" srcOrd="1" destOrd="0" presId="urn:microsoft.com/office/officeart/2005/8/layout/orgChart1"/>
    <dgm:cxn modelId="{4007D18D-C5CC-43FE-B60E-ABAFEB3BFA0C}" type="presParOf" srcId="{27B62AEF-6F71-47F2-B708-C39E46157114}" destId="{25900915-8FE6-4E20-BDB9-B59A13070ED2}" srcOrd="1" destOrd="0" presId="urn:microsoft.com/office/officeart/2005/8/layout/orgChart1"/>
    <dgm:cxn modelId="{76186229-862B-4906-8454-84953232426F}" type="presParOf" srcId="{25900915-8FE6-4E20-BDB9-B59A13070ED2}" destId="{613710A1-63D3-4D1D-8424-504B92C81B6F}" srcOrd="0" destOrd="0" presId="urn:microsoft.com/office/officeart/2005/8/layout/orgChart1"/>
    <dgm:cxn modelId="{5B3F054D-637D-44A3-8D7D-BFA2DFEF61AB}" type="presParOf" srcId="{25900915-8FE6-4E20-BDB9-B59A13070ED2}" destId="{DA25D39D-51EF-4A63-BB28-3702C7662E12}" srcOrd="1" destOrd="0" presId="urn:microsoft.com/office/officeart/2005/8/layout/orgChart1"/>
    <dgm:cxn modelId="{1D514E3D-36C3-4670-8834-E767A620ADD4}" type="presParOf" srcId="{DA25D39D-51EF-4A63-BB28-3702C7662E12}" destId="{82AFF0B8-C196-4726-9F5E-003D425E9132}" srcOrd="0" destOrd="0" presId="urn:microsoft.com/office/officeart/2005/8/layout/orgChart1"/>
    <dgm:cxn modelId="{A43D5D22-C34D-48A6-9B0C-F5F49A233134}" type="presParOf" srcId="{82AFF0B8-C196-4726-9F5E-003D425E9132}" destId="{C046C017-8934-4879-8358-84520CA4BFD6}" srcOrd="0" destOrd="0" presId="urn:microsoft.com/office/officeart/2005/8/layout/orgChart1"/>
    <dgm:cxn modelId="{B266AD5A-C1CE-4843-9FCD-4459044D6E6C}" type="presParOf" srcId="{82AFF0B8-C196-4726-9F5E-003D425E9132}" destId="{E2CFB2FF-896B-44EF-BD2A-4B9FBD8B1EA7}" srcOrd="1" destOrd="0" presId="urn:microsoft.com/office/officeart/2005/8/layout/orgChart1"/>
    <dgm:cxn modelId="{C94621B9-1070-4AE7-B078-FF7100A82E00}" type="presParOf" srcId="{DA25D39D-51EF-4A63-BB28-3702C7662E12}" destId="{27651960-D3DE-421E-9876-407AD5FC40FA}" srcOrd="1" destOrd="0" presId="urn:microsoft.com/office/officeart/2005/8/layout/orgChart1"/>
    <dgm:cxn modelId="{144C53B2-3EEB-401F-8B44-E1802E94EF17}" type="presParOf" srcId="{DA25D39D-51EF-4A63-BB28-3702C7662E12}" destId="{E33D2681-A4B0-412C-B36A-13E1AD1EAD23}" srcOrd="2" destOrd="0" presId="urn:microsoft.com/office/officeart/2005/8/layout/orgChart1"/>
    <dgm:cxn modelId="{44C96883-E4D4-4C3C-A811-0CCBE9E6BAE6}" type="presParOf" srcId="{25900915-8FE6-4E20-BDB9-B59A13070ED2}" destId="{662C4B65-7DB8-45DC-8A23-23C63F798023}" srcOrd="2" destOrd="0" presId="urn:microsoft.com/office/officeart/2005/8/layout/orgChart1"/>
    <dgm:cxn modelId="{41655149-BE2A-46BE-9561-02FC22DE12CF}" type="presParOf" srcId="{25900915-8FE6-4E20-BDB9-B59A13070ED2}" destId="{D1D8E3D9-8F51-4590-9ADC-ACB7717E6570}" srcOrd="3" destOrd="0" presId="urn:microsoft.com/office/officeart/2005/8/layout/orgChart1"/>
    <dgm:cxn modelId="{C589C0A1-D9D8-4851-BF8C-508533D47788}" type="presParOf" srcId="{D1D8E3D9-8F51-4590-9ADC-ACB7717E6570}" destId="{64AEE860-5435-467D-AB9F-F9254569663F}" srcOrd="0" destOrd="0" presId="urn:microsoft.com/office/officeart/2005/8/layout/orgChart1"/>
    <dgm:cxn modelId="{3274FF6C-9368-4713-8ADD-D4132D50D7D3}" type="presParOf" srcId="{64AEE860-5435-467D-AB9F-F9254569663F}" destId="{A50B18A9-A471-4448-BA0A-6AAC6EB9BAB5}" srcOrd="0" destOrd="0" presId="urn:microsoft.com/office/officeart/2005/8/layout/orgChart1"/>
    <dgm:cxn modelId="{B2E2DA0B-A7E7-4080-9AA2-BB87C2A80888}" type="presParOf" srcId="{64AEE860-5435-467D-AB9F-F9254569663F}" destId="{9CCF5BCA-11F3-408B-B963-01736420F768}" srcOrd="1" destOrd="0" presId="urn:microsoft.com/office/officeart/2005/8/layout/orgChart1"/>
    <dgm:cxn modelId="{947D5C7A-CEFF-46FF-A95F-4DF318103564}" type="presParOf" srcId="{D1D8E3D9-8F51-4590-9ADC-ACB7717E6570}" destId="{7D854F89-2795-416A-9997-A40579BA3F16}" srcOrd="1" destOrd="0" presId="urn:microsoft.com/office/officeart/2005/8/layout/orgChart1"/>
    <dgm:cxn modelId="{4BCB9C59-5918-44C9-B794-4EAB8C995D7D}" type="presParOf" srcId="{D1D8E3D9-8F51-4590-9ADC-ACB7717E6570}" destId="{E6677AA4-E7C9-44CF-9D6A-2BC2C74B7247}" srcOrd="2" destOrd="0" presId="urn:microsoft.com/office/officeart/2005/8/layout/orgChart1"/>
    <dgm:cxn modelId="{60930BC0-FFD4-4CE3-B3FE-D849C4A9CB61}" type="presParOf" srcId="{25900915-8FE6-4E20-BDB9-B59A13070ED2}" destId="{E0358394-2F45-4DDA-A2F3-D7FE277F3E8D}" srcOrd="4" destOrd="0" presId="urn:microsoft.com/office/officeart/2005/8/layout/orgChart1"/>
    <dgm:cxn modelId="{7E2088AC-BA6A-4293-A2CE-E99FD6934DF8}" type="presParOf" srcId="{25900915-8FE6-4E20-BDB9-B59A13070ED2}" destId="{56D85F54-87F3-4775-9310-EBB774C62E51}" srcOrd="5" destOrd="0" presId="urn:microsoft.com/office/officeart/2005/8/layout/orgChart1"/>
    <dgm:cxn modelId="{66B21220-ABF1-45CA-9B5D-93EC6A03D06D}" type="presParOf" srcId="{56D85F54-87F3-4775-9310-EBB774C62E51}" destId="{81E62BBA-EAF9-48D0-B101-B52890A533AC}" srcOrd="0" destOrd="0" presId="urn:microsoft.com/office/officeart/2005/8/layout/orgChart1"/>
    <dgm:cxn modelId="{68C0A66C-5DCB-472B-94BE-1F726D4C8D39}" type="presParOf" srcId="{81E62BBA-EAF9-48D0-B101-B52890A533AC}" destId="{C9B13269-083A-4347-B604-45237454F4FC}" srcOrd="0" destOrd="0" presId="urn:microsoft.com/office/officeart/2005/8/layout/orgChart1"/>
    <dgm:cxn modelId="{275E785D-155F-4317-83AB-9D18BA4D62F1}" type="presParOf" srcId="{81E62BBA-EAF9-48D0-B101-B52890A533AC}" destId="{EED1DA84-A537-4687-A0E4-F6BF711880C1}" srcOrd="1" destOrd="0" presId="urn:microsoft.com/office/officeart/2005/8/layout/orgChart1"/>
    <dgm:cxn modelId="{5CECB329-A107-472B-8F05-5A35E69184B2}" type="presParOf" srcId="{56D85F54-87F3-4775-9310-EBB774C62E51}" destId="{BE84EB3D-B658-43D4-A42E-A14D0635B52C}" srcOrd="1" destOrd="0" presId="urn:microsoft.com/office/officeart/2005/8/layout/orgChart1"/>
    <dgm:cxn modelId="{29B7293E-1D26-4EF9-A5EB-443B1216ABCC}" type="presParOf" srcId="{56D85F54-87F3-4775-9310-EBB774C62E51}" destId="{41F93499-EBC7-4C57-8F00-B8E35CFA3C8C}" srcOrd="2" destOrd="0" presId="urn:microsoft.com/office/officeart/2005/8/layout/orgChart1"/>
    <dgm:cxn modelId="{250090FE-2488-4464-9716-A90D71446A19}" type="presParOf" srcId="{27B62AEF-6F71-47F2-B708-C39E46157114}" destId="{9FAB3396-8367-44F1-B1BA-FE5C0FA2ABC2}" srcOrd="2" destOrd="0" presId="urn:microsoft.com/office/officeart/2005/8/layout/orgChart1"/>
    <dgm:cxn modelId="{5F8320B8-D4BE-4169-8C4B-9A04994432B1}" type="presParOf" srcId="{32AD6DEC-B2BA-49F7-BFA7-D446FF4AC535}" destId="{AA0B9631-6EAC-40A4-A3B3-D912EB52FE37}" srcOrd="6" destOrd="0" presId="urn:microsoft.com/office/officeart/2005/8/layout/orgChart1"/>
    <dgm:cxn modelId="{C15D909D-483F-4BAA-9717-CD9D57DB891E}" type="presParOf" srcId="{32AD6DEC-B2BA-49F7-BFA7-D446FF4AC535}" destId="{7AE94727-90D8-441F-BE09-8A5A85EFCDF4}" srcOrd="7" destOrd="0" presId="urn:microsoft.com/office/officeart/2005/8/layout/orgChart1"/>
    <dgm:cxn modelId="{E7FA53E8-91B6-42C4-9FCD-BF83AF68C0FC}" type="presParOf" srcId="{7AE94727-90D8-441F-BE09-8A5A85EFCDF4}" destId="{BB59AB8A-4862-412D-98BA-487F76A79429}" srcOrd="0" destOrd="0" presId="urn:microsoft.com/office/officeart/2005/8/layout/orgChart1"/>
    <dgm:cxn modelId="{27B29BAC-63CF-4DA5-A20E-6A98020D50D8}" type="presParOf" srcId="{BB59AB8A-4862-412D-98BA-487F76A79429}" destId="{B615732A-7EF2-42AA-824F-B538D03D89A9}" srcOrd="0" destOrd="0" presId="urn:microsoft.com/office/officeart/2005/8/layout/orgChart1"/>
    <dgm:cxn modelId="{496CC58D-7746-4642-BCF1-BD8707436E03}" type="presParOf" srcId="{BB59AB8A-4862-412D-98BA-487F76A79429}" destId="{F7A2E950-ADCD-4655-9C26-895C383268B5}" srcOrd="1" destOrd="0" presId="urn:microsoft.com/office/officeart/2005/8/layout/orgChart1"/>
    <dgm:cxn modelId="{D6972727-F3E5-4890-95FB-D5E0610172BB}" type="presParOf" srcId="{7AE94727-90D8-441F-BE09-8A5A85EFCDF4}" destId="{4DFED5BE-EFA0-4FA5-84A5-DC72968D2267}" srcOrd="1" destOrd="0" presId="urn:microsoft.com/office/officeart/2005/8/layout/orgChart1"/>
    <dgm:cxn modelId="{D9D889D0-7C4A-44BD-8F15-55A33F763489}" type="presParOf" srcId="{4DFED5BE-EFA0-4FA5-84A5-DC72968D2267}" destId="{6DD58E4B-47C4-4AA7-863A-ADB3D8D54FF2}" srcOrd="0" destOrd="0" presId="urn:microsoft.com/office/officeart/2005/8/layout/orgChart1"/>
    <dgm:cxn modelId="{9A66134A-A6A0-4DDA-B184-3B54535513B6}" type="presParOf" srcId="{4DFED5BE-EFA0-4FA5-84A5-DC72968D2267}" destId="{45BBC2A0-4C65-49C6-8847-B96EC3BDA4F9}" srcOrd="1" destOrd="0" presId="urn:microsoft.com/office/officeart/2005/8/layout/orgChart1"/>
    <dgm:cxn modelId="{256C2F02-DC73-44D7-92AA-C7340596D45A}" type="presParOf" srcId="{45BBC2A0-4C65-49C6-8847-B96EC3BDA4F9}" destId="{527835A1-C60E-44FB-8417-9A6EFFAF338D}" srcOrd="0" destOrd="0" presId="urn:microsoft.com/office/officeart/2005/8/layout/orgChart1"/>
    <dgm:cxn modelId="{AA163E75-7BDE-4C98-9D55-FCE093DCB20E}" type="presParOf" srcId="{527835A1-C60E-44FB-8417-9A6EFFAF338D}" destId="{9E54CA74-D652-4C8A-96AC-E6D28070822A}" srcOrd="0" destOrd="0" presId="urn:microsoft.com/office/officeart/2005/8/layout/orgChart1"/>
    <dgm:cxn modelId="{52473BEA-6B89-4B55-B5C1-BBF3BF4DFE05}" type="presParOf" srcId="{527835A1-C60E-44FB-8417-9A6EFFAF338D}" destId="{EB614F39-C054-4C69-9ADC-D344922A3A15}" srcOrd="1" destOrd="0" presId="urn:microsoft.com/office/officeart/2005/8/layout/orgChart1"/>
    <dgm:cxn modelId="{0767D89F-9304-4AF0-A11E-CFA570A3A469}" type="presParOf" srcId="{45BBC2A0-4C65-49C6-8847-B96EC3BDA4F9}" destId="{693AC8C8-8423-41E9-85D2-C5ABFACFC919}" srcOrd="1" destOrd="0" presId="urn:microsoft.com/office/officeart/2005/8/layout/orgChart1"/>
    <dgm:cxn modelId="{DDC66585-7D4C-438D-854C-2F07428B4D84}" type="presParOf" srcId="{45BBC2A0-4C65-49C6-8847-B96EC3BDA4F9}" destId="{8A13CF58-9628-4E6E-939E-52D77A342795}" srcOrd="2" destOrd="0" presId="urn:microsoft.com/office/officeart/2005/8/layout/orgChart1"/>
    <dgm:cxn modelId="{6F4A5781-9625-42C6-91E2-CDEA1DE51847}" type="presParOf" srcId="{4DFED5BE-EFA0-4FA5-84A5-DC72968D2267}" destId="{ACA0B4F8-4B13-4030-918A-D091F0AAE74E}" srcOrd="2" destOrd="0" presId="urn:microsoft.com/office/officeart/2005/8/layout/orgChart1"/>
    <dgm:cxn modelId="{ED6F7995-9300-4B53-9C90-CF33880A2D9D}" type="presParOf" srcId="{4DFED5BE-EFA0-4FA5-84A5-DC72968D2267}" destId="{AC6C8EEB-1F78-47EA-8581-452958A4AB16}" srcOrd="3" destOrd="0" presId="urn:microsoft.com/office/officeart/2005/8/layout/orgChart1"/>
    <dgm:cxn modelId="{B98BF044-57BF-49AB-9727-6261FD4F2FE0}" type="presParOf" srcId="{AC6C8EEB-1F78-47EA-8581-452958A4AB16}" destId="{D7B2BC47-443B-49E9-BA14-E4E8F90506D5}" srcOrd="0" destOrd="0" presId="urn:microsoft.com/office/officeart/2005/8/layout/orgChart1"/>
    <dgm:cxn modelId="{99C41025-37BC-4F14-B77E-50EBA26B2A4E}" type="presParOf" srcId="{D7B2BC47-443B-49E9-BA14-E4E8F90506D5}" destId="{D956B4D6-105B-483B-8706-3FDFACF8A436}" srcOrd="0" destOrd="0" presId="urn:microsoft.com/office/officeart/2005/8/layout/orgChart1"/>
    <dgm:cxn modelId="{C31F92DB-DFF7-41E3-B06C-12BCEC162BE5}" type="presParOf" srcId="{D7B2BC47-443B-49E9-BA14-E4E8F90506D5}" destId="{0E2CCF66-05BA-448F-8269-2913F7022364}" srcOrd="1" destOrd="0" presId="urn:microsoft.com/office/officeart/2005/8/layout/orgChart1"/>
    <dgm:cxn modelId="{70585219-75BA-4683-BE7E-CFBCFDAB2C6E}" type="presParOf" srcId="{AC6C8EEB-1F78-47EA-8581-452958A4AB16}" destId="{CBF190CC-94C8-41F8-9B84-1B0A519A55E5}" srcOrd="1" destOrd="0" presId="urn:microsoft.com/office/officeart/2005/8/layout/orgChart1"/>
    <dgm:cxn modelId="{DE6190B6-9695-4EBB-A407-A7E314C07AEC}" type="presParOf" srcId="{AC6C8EEB-1F78-47EA-8581-452958A4AB16}" destId="{2EEF7E0C-C07D-427C-AA0F-E199E3B9F56F}" srcOrd="2" destOrd="0" presId="urn:microsoft.com/office/officeart/2005/8/layout/orgChart1"/>
    <dgm:cxn modelId="{D022607A-5F27-438F-A30D-9964BD41570B}" type="presParOf" srcId="{4DFED5BE-EFA0-4FA5-84A5-DC72968D2267}" destId="{FFEB1E62-45AB-48C5-817E-29DE941819B3}" srcOrd="4" destOrd="0" presId="urn:microsoft.com/office/officeart/2005/8/layout/orgChart1"/>
    <dgm:cxn modelId="{48591B0D-F1FB-49C0-A39F-09AA584A3334}" type="presParOf" srcId="{4DFED5BE-EFA0-4FA5-84A5-DC72968D2267}" destId="{2D1BDDE8-1C32-4DE7-A4A7-29C56BB61B07}" srcOrd="5" destOrd="0" presId="urn:microsoft.com/office/officeart/2005/8/layout/orgChart1"/>
    <dgm:cxn modelId="{61F63092-F0EA-472D-A884-6A5EE5256E9C}" type="presParOf" srcId="{2D1BDDE8-1C32-4DE7-A4A7-29C56BB61B07}" destId="{CE026A92-C4DC-4A88-8D90-22562F63A9C3}" srcOrd="0" destOrd="0" presId="urn:microsoft.com/office/officeart/2005/8/layout/orgChart1"/>
    <dgm:cxn modelId="{0F9A169A-870F-4DD4-B954-976A02F73A9C}" type="presParOf" srcId="{CE026A92-C4DC-4A88-8D90-22562F63A9C3}" destId="{FF61011D-57D0-4FB0-BEBA-F34106DE8BB6}" srcOrd="0" destOrd="0" presId="urn:microsoft.com/office/officeart/2005/8/layout/orgChart1"/>
    <dgm:cxn modelId="{BEF1BA16-9D41-4BBA-88F9-599D146C97AB}" type="presParOf" srcId="{CE026A92-C4DC-4A88-8D90-22562F63A9C3}" destId="{BFF40E3A-EB49-41B9-95EB-A6224244D72B}" srcOrd="1" destOrd="0" presId="urn:microsoft.com/office/officeart/2005/8/layout/orgChart1"/>
    <dgm:cxn modelId="{F2FAC8AF-9F1A-4F6D-AF89-F4B0FD4732EF}" type="presParOf" srcId="{2D1BDDE8-1C32-4DE7-A4A7-29C56BB61B07}" destId="{6D0DE94B-DC1E-4001-A2A4-585D984B523D}" srcOrd="1" destOrd="0" presId="urn:microsoft.com/office/officeart/2005/8/layout/orgChart1"/>
    <dgm:cxn modelId="{74D2EB11-A3B7-4DEA-8D91-64303A4163F5}" type="presParOf" srcId="{2D1BDDE8-1C32-4DE7-A4A7-29C56BB61B07}" destId="{F1D27F57-A123-4AAA-8C22-7FE16A734A05}" srcOrd="2" destOrd="0" presId="urn:microsoft.com/office/officeart/2005/8/layout/orgChart1"/>
    <dgm:cxn modelId="{EB163EBC-49AB-42DB-A717-26445A6361AD}" type="presParOf" srcId="{7AE94727-90D8-441F-BE09-8A5A85EFCDF4}" destId="{36E49065-5421-4F94-9C63-3C50C4974D87}" srcOrd="2" destOrd="0" presId="urn:microsoft.com/office/officeart/2005/8/layout/orgChart1"/>
    <dgm:cxn modelId="{7D51A9A1-B9BA-486B-8F57-3F616FE472D4}" type="presParOf" srcId="{7DBC7437-5D8C-4F3F-8827-3F93DC473D86}" destId="{3FE43585-84D5-4D23-9ABF-373587DD6C3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EB1E62-45AB-48C5-817E-29DE941819B3}">
      <dsp:nvSpPr>
        <dsp:cNvPr id="0" name=""/>
        <dsp:cNvSpPr/>
      </dsp:nvSpPr>
      <dsp:spPr>
        <a:xfrm>
          <a:off x="5144603" y="1472734"/>
          <a:ext cx="182369" cy="2285695"/>
        </a:xfrm>
        <a:custGeom>
          <a:avLst/>
          <a:gdLst/>
          <a:ahLst/>
          <a:cxnLst/>
          <a:rect l="0" t="0" r="0" b="0"/>
          <a:pathLst>
            <a:path>
              <a:moveTo>
                <a:pt x="0" y="0"/>
              </a:moveTo>
              <a:lnTo>
                <a:pt x="0" y="2285695"/>
              </a:lnTo>
              <a:lnTo>
                <a:pt x="182369" y="2285695"/>
              </a:lnTo>
            </a:path>
          </a:pathLst>
        </a:custGeom>
        <a:noFill/>
        <a:ln w="26425" cap="flat" cmpd="sng" algn="ctr">
          <a:solidFill>
            <a:schemeClr val="accent1">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A0B4F8-4B13-4030-918A-D091F0AAE74E}">
      <dsp:nvSpPr>
        <dsp:cNvPr id="0" name=""/>
        <dsp:cNvSpPr/>
      </dsp:nvSpPr>
      <dsp:spPr>
        <a:xfrm>
          <a:off x="5144603" y="1472734"/>
          <a:ext cx="182369" cy="1422480"/>
        </a:xfrm>
        <a:custGeom>
          <a:avLst/>
          <a:gdLst/>
          <a:ahLst/>
          <a:cxnLst/>
          <a:rect l="0" t="0" r="0" b="0"/>
          <a:pathLst>
            <a:path>
              <a:moveTo>
                <a:pt x="0" y="0"/>
              </a:moveTo>
              <a:lnTo>
                <a:pt x="0" y="1422480"/>
              </a:lnTo>
              <a:lnTo>
                <a:pt x="182369" y="1422480"/>
              </a:lnTo>
            </a:path>
          </a:pathLst>
        </a:custGeom>
        <a:noFill/>
        <a:ln w="26425" cap="flat" cmpd="sng" algn="ctr">
          <a:solidFill>
            <a:schemeClr val="accent1">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D58E4B-47C4-4AA7-863A-ADB3D8D54FF2}">
      <dsp:nvSpPr>
        <dsp:cNvPr id="0" name=""/>
        <dsp:cNvSpPr/>
      </dsp:nvSpPr>
      <dsp:spPr>
        <a:xfrm>
          <a:off x="5144603" y="1472734"/>
          <a:ext cx="182369" cy="559265"/>
        </a:xfrm>
        <a:custGeom>
          <a:avLst/>
          <a:gdLst/>
          <a:ahLst/>
          <a:cxnLst/>
          <a:rect l="0" t="0" r="0" b="0"/>
          <a:pathLst>
            <a:path>
              <a:moveTo>
                <a:pt x="0" y="0"/>
              </a:moveTo>
              <a:lnTo>
                <a:pt x="0" y="559265"/>
              </a:lnTo>
              <a:lnTo>
                <a:pt x="182369" y="559265"/>
              </a:lnTo>
            </a:path>
          </a:pathLst>
        </a:custGeom>
        <a:noFill/>
        <a:ln w="26425" cap="flat" cmpd="sng" algn="ctr">
          <a:solidFill>
            <a:schemeClr val="accent1">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A0B9631-6EAC-40A4-A3B3-D912EB52FE37}">
      <dsp:nvSpPr>
        <dsp:cNvPr id="0" name=""/>
        <dsp:cNvSpPr/>
      </dsp:nvSpPr>
      <dsp:spPr>
        <a:xfrm>
          <a:off x="3424253" y="609519"/>
          <a:ext cx="2206668" cy="255317"/>
        </a:xfrm>
        <a:custGeom>
          <a:avLst/>
          <a:gdLst/>
          <a:ahLst/>
          <a:cxnLst/>
          <a:rect l="0" t="0" r="0" b="0"/>
          <a:pathLst>
            <a:path>
              <a:moveTo>
                <a:pt x="0" y="0"/>
              </a:moveTo>
              <a:lnTo>
                <a:pt x="0" y="127658"/>
              </a:lnTo>
              <a:lnTo>
                <a:pt x="2206668" y="127658"/>
              </a:lnTo>
              <a:lnTo>
                <a:pt x="2206668" y="255317"/>
              </a:lnTo>
            </a:path>
          </a:pathLst>
        </a:custGeom>
        <a:noFill/>
        <a:ln w="26425" cap="flat" cmpd="sng" algn="ctr">
          <a:solidFill>
            <a:schemeClr val="accent1">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0358394-2F45-4DDA-A2F3-D7FE277F3E8D}">
      <dsp:nvSpPr>
        <dsp:cNvPr id="0" name=""/>
        <dsp:cNvSpPr/>
      </dsp:nvSpPr>
      <dsp:spPr>
        <a:xfrm>
          <a:off x="3639862" y="1544004"/>
          <a:ext cx="215998" cy="2214425"/>
        </a:xfrm>
        <a:custGeom>
          <a:avLst/>
          <a:gdLst/>
          <a:ahLst/>
          <a:cxnLst/>
          <a:rect l="0" t="0" r="0" b="0"/>
          <a:pathLst>
            <a:path>
              <a:moveTo>
                <a:pt x="0" y="0"/>
              </a:moveTo>
              <a:lnTo>
                <a:pt x="0" y="2214425"/>
              </a:lnTo>
              <a:lnTo>
                <a:pt x="215998" y="2214425"/>
              </a:lnTo>
            </a:path>
          </a:pathLst>
        </a:custGeom>
        <a:noFill/>
        <a:ln w="26425" cap="flat" cmpd="sng" algn="ctr">
          <a:solidFill>
            <a:schemeClr val="accent1">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62C4B65-7DB8-45DC-8A23-23C63F798023}">
      <dsp:nvSpPr>
        <dsp:cNvPr id="0" name=""/>
        <dsp:cNvSpPr/>
      </dsp:nvSpPr>
      <dsp:spPr>
        <a:xfrm>
          <a:off x="3639862" y="1544004"/>
          <a:ext cx="215998" cy="1351210"/>
        </a:xfrm>
        <a:custGeom>
          <a:avLst/>
          <a:gdLst/>
          <a:ahLst/>
          <a:cxnLst/>
          <a:rect l="0" t="0" r="0" b="0"/>
          <a:pathLst>
            <a:path>
              <a:moveTo>
                <a:pt x="0" y="0"/>
              </a:moveTo>
              <a:lnTo>
                <a:pt x="0" y="1351210"/>
              </a:lnTo>
              <a:lnTo>
                <a:pt x="215998" y="1351210"/>
              </a:lnTo>
            </a:path>
          </a:pathLst>
        </a:custGeom>
        <a:noFill/>
        <a:ln w="26425" cap="flat" cmpd="sng" algn="ctr">
          <a:solidFill>
            <a:schemeClr val="accent1">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13710A1-63D3-4D1D-8424-504B92C81B6F}">
      <dsp:nvSpPr>
        <dsp:cNvPr id="0" name=""/>
        <dsp:cNvSpPr/>
      </dsp:nvSpPr>
      <dsp:spPr>
        <a:xfrm>
          <a:off x="3639862" y="1544004"/>
          <a:ext cx="215998" cy="487995"/>
        </a:xfrm>
        <a:custGeom>
          <a:avLst/>
          <a:gdLst/>
          <a:ahLst/>
          <a:cxnLst/>
          <a:rect l="0" t="0" r="0" b="0"/>
          <a:pathLst>
            <a:path>
              <a:moveTo>
                <a:pt x="0" y="0"/>
              </a:moveTo>
              <a:lnTo>
                <a:pt x="0" y="487995"/>
              </a:lnTo>
              <a:lnTo>
                <a:pt x="215998" y="487995"/>
              </a:lnTo>
            </a:path>
          </a:pathLst>
        </a:custGeom>
        <a:noFill/>
        <a:ln w="26425" cap="flat" cmpd="sng" algn="ctr">
          <a:solidFill>
            <a:schemeClr val="accent1">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3570593-5E61-47F4-BEFD-8A755A709FD6}">
      <dsp:nvSpPr>
        <dsp:cNvPr id="0" name=""/>
        <dsp:cNvSpPr/>
      </dsp:nvSpPr>
      <dsp:spPr>
        <a:xfrm>
          <a:off x="3424253" y="609519"/>
          <a:ext cx="701927" cy="326586"/>
        </a:xfrm>
        <a:custGeom>
          <a:avLst/>
          <a:gdLst/>
          <a:ahLst/>
          <a:cxnLst/>
          <a:rect l="0" t="0" r="0" b="0"/>
          <a:pathLst>
            <a:path>
              <a:moveTo>
                <a:pt x="0" y="0"/>
              </a:moveTo>
              <a:lnTo>
                <a:pt x="0" y="198928"/>
              </a:lnTo>
              <a:lnTo>
                <a:pt x="701927" y="198928"/>
              </a:lnTo>
              <a:lnTo>
                <a:pt x="701927" y="326586"/>
              </a:lnTo>
            </a:path>
          </a:pathLst>
        </a:custGeom>
        <a:noFill/>
        <a:ln w="26425" cap="flat" cmpd="sng" algn="ctr">
          <a:solidFill>
            <a:schemeClr val="accent1">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E0B213-9FA2-4012-8764-E48283ED5613}">
      <dsp:nvSpPr>
        <dsp:cNvPr id="0" name=""/>
        <dsp:cNvSpPr/>
      </dsp:nvSpPr>
      <dsp:spPr>
        <a:xfrm>
          <a:off x="2202379" y="1472734"/>
          <a:ext cx="182369" cy="2285695"/>
        </a:xfrm>
        <a:custGeom>
          <a:avLst/>
          <a:gdLst/>
          <a:ahLst/>
          <a:cxnLst/>
          <a:rect l="0" t="0" r="0" b="0"/>
          <a:pathLst>
            <a:path>
              <a:moveTo>
                <a:pt x="0" y="0"/>
              </a:moveTo>
              <a:lnTo>
                <a:pt x="0" y="2285695"/>
              </a:lnTo>
              <a:lnTo>
                <a:pt x="182369" y="2285695"/>
              </a:lnTo>
            </a:path>
          </a:pathLst>
        </a:custGeom>
        <a:noFill/>
        <a:ln w="26425" cap="flat" cmpd="sng" algn="ctr">
          <a:solidFill>
            <a:schemeClr val="accent1">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0201650-D1F5-4C55-971E-DB9AAD4D8BB0}">
      <dsp:nvSpPr>
        <dsp:cNvPr id="0" name=""/>
        <dsp:cNvSpPr/>
      </dsp:nvSpPr>
      <dsp:spPr>
        <a:xfrm>
          <a:off x="2202379" y="1472734"/>
          <a:ext cx="182369" cy="1422480"/>
        </a:xfrm>
        <a:custGeom>
          <a:avLst/>
          <a:gdLst/>
          <a:ahLst/>
          <a:cxnLst/>
          <a:rect l="0" t="0" r="0" b="0"/>
          <a:pathLst>
            <a:path>
              <a:moveTo>
                <a:pt x="0" y="0"/>
              </a:moveTo>
              <a:lnTo>
                <a:pt x="0" y="1422480"/>
              </a:lnTo>
              <a:lnTo>
                <a:pt x="182369" y="1422480"/>
              </a:lnTo>
            </a:path>
          </a:pathLst>
        </a:custGeom>
        <a:noFill/>
        <a:ln w="26425" cap="flat" cmpd="sng" algn="ctr">
          <a:solidFill>
            <a:schemeClr val="accent1">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CD924D-B77D-4B72-95AF-27B79024A758}">
      <dsp:nvSpPr>
        <dsp:cNvPr id="0" name=""/>
        <dsp:cNvSpPr/>
      </dsp:nvSpPr>
      <dsp:spPr>
        <a:xfrm>
          <a:off x="2202379" y="1472734"/>
          <a:ext cx="182369" cy="559265"/>
        </a:xfrm>
        <a:custGeom>
          <a:avLst/>
          <a:gdLst/>
          <a:ahLst/>
          <a:cxnLst/>
          <a:rect l="0" t="0" r="0" b="0"/>
          <a:pathLst>
            <a:path>
              <a:moveTo>
                <a:pt x="0" y="0"/>
              </a:moveTo>
              <a:lnTo>
                <a:pt x="0" y="559265"/>
              </a:lnTo>
              <a:lnTo>
                <a:pt x="182369" y="559265"/>
              </a:lnTo>
            </a:path>
          </a:pathLst>
        </a:custGeom>
        <a:noFill/>
        <a:ln w="26425" cap="flat" cmpd="sng" algn="ctr">
          <a:solidFill>
            <a:schemeClr val="accent1">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1ED0E1-52CD-4748-B257-98631BB3BD52}">
      <dsp:nvSpPr>
        <dsp:cNvPr id="0" name=""/>
        <dsp:cNvSpPr/>
      </dsp:nvSpPr>
      <dsp:spPr>
        <a:xfrm>
          <a:off x="2688697" y="609519"/>
          <a:ext cx="735556" cy="255317"/>
        </a:xfrm>
        <a:custGeom>
          <a:avLst/>
          <a:gdLst/>
          <a:ahLst/>
          <a:cxnLst/>
          <a:rect l="0" t="0" r="0" b="0"/>
          <a:pathLst>
            <a:path>
              <a:moveTo>
                <a:pt x="735556" y="0"/>
              </a:moveTo>
              <a:lnTo>
                <a:pt x="735556" y="127658"/>
              </a:lnTo>
              <a:lnTo>
                <a:pt x="0" y="127658"/>
              </a:lnTo>
              <a:lnTo>
                <a:pt x="0" y="255317"/>
              </a:lnTo>
            </a:path>
          </a:pathLst>
        </a:custGeom>
        <a:noFill/>
        <a:ln w="26425" cap="flat" cmpd="sng" algn="ctr">
          <a:solidFill>
            <a:schemeClr val="accent1">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91691F-B9EA-4AA0-845D-DB21BEAD8E92}">
      <dsp:nvSpPr>
        <dsp:cNvPr id="0" name=""/>
        <dsp:cNvSpPr/>
      </dsp:nvSpPr>
      <dsp:spPr>
        <a:xfrm>
          <a:off x="697638" y="1544004"/>
          <a:ext cx="215998" cy="2214425"/>
        </a:xfrm>
        <a:custGeom>
          <a:avLst/>
          <a:gdLst/>
          <a:ahLst/>
          <a:cxnLst/>
          <a:rect l="0" t="0" r="0" b="0"/>
          <a:pathLst>
            <a:path>
              <a:moveTo>
                <a:pt x="0" y="0"/>
              </a:moveTo>
              <a:lnTo>
                <a:pt x="0" y="2214425"/>
              </a:lnTo>
              <a:lnTo>
                <a:pt x="215998" y="2214425"/>
              </a:lnTo>
            </a:path>
          </a:pathLst>
        </a:custGeom>
        <a:noFill/>
        <a:ln w="26425" cap="flat" cmpd="sng" algn="ctr">
          <a:solidFill>
            <a:schemeClr val="accent1">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EC34E8-6CAB-457C-9591-CC87269395C0}">
      <dsp:nvSpPr>
        <dsp:cNvPr id="0" name=""/>
        <dsp:cNvSpPr/>
      </dsp:nvSpPr>
      <dsp:spPr>
        <a:xfrm>
          <a:off x="697638" y="1544004"/>
          <a:ext cx="215998" cy="1351210"/>
        </a:xfrm>
        <a:custGeom>
          <a:avLst/>
          <a:gdLst/>
          <a:ahLst/>
          <a:cxnLst/>
          <a:rect l="0" t="0" r="0" b="0"/>
          <a:pathLst>
            <a:path>
              <a:moveTo>
                <a:pt x="0" y="0"/>
              </a:moveTo>
              <a:lnTo>
                <a:pt x="0" y="1351210"/>
              </a:lnTo>
              <a:lnTo>
                <a:pt x="215998" y="1351210"/>
              </a:lnTo>
            </a:path>
          </a:pathLst>
        </a:custGeom>
        <a:noFill/>
        <a:ln w="26425" cap="flat" cmpd="sng" algn="ctr">
          <a:solidFill>
            <a:schemeClr val="accent1">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A6DD35-D8F7-4901-AF34-FADBEADA69F5}">
      <dsp:nvSpPr>
        <dsp:cNvPr id="0" name=""/>
        <dsp:cNvSpPr/>
      </dsp:nvSpPr>
      <dsp:spPr>
        <a:xfrm>
          <a:off x="697638" y="1544004"/>
          <a:ext cx="215998" cy="487995"/>
        </a:xfrm>
        <a:custGeom>
          <a:avLst/>
          <a:gdLst/>
          <a:ahLst/>
          <a:cxnLst/>
          <a:rect l="0" t="0" r="0" b="0"/>
          <a:pathLst>
            <a:path>
              <a:moveTo>
                <a:pt x="0" y="0"/>
              </a:moveTo>
              <a:lnTo>
                <a:pt x="0" y="487995"/>
              </a:lnTo>
              <a:lnTo>
                <a:pt x="215998" y="487995"/>
              </a:lnTo>
            </a:path>
          </a:pathLst>
        </a:custGeom>
        <a:noFill/>
        <a:ln w="26425" cap="flat" cmpd="sng" algn="ctr">
          <a:solidFill>
            <a:schemeClr val="accent1">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DEFD1F-47A7-4EF9-B10B-34C08474F077}">
      <dsp:nvSpPr>
        <dsp:cNvPr id="0" name=""/>
        <dsp:cNvSpPr/>
      </dsp:nvSpPr>
      <dsp:spPr>
        <a:xfrm>
          <a:off x="1183956" y="609519"/>
          <a:ext cx="2240297" cy="326586"/>
        </a:xfrm>
        <a:custGeom>
          <a:avLst/>
          <a:gdLst/>
          <a:ahLst/>
          <a:cxnLst/>
          <a:rect l="0" t="0" r="0" b="0"/>
          <a:pathLst>
            <a:path>
              <a:moveTo>
                <a:pt x="2240297" y="0"/>
              </a:moveTo>
              <a:lnTo>
                <a:pt x="2240297" y="198928"/>
              </a:lnTo>
              <a:lnTo>
                <a:pt x="0" y="198928"/>
              </a:lnTo>
              <a:lnTo>
                <a:pt x="0" y="326586"/>
              </a:lnTo>
            </a:path>
          </a:pathLst>
        </a:custGeom>
        <a:noFill/>
        <a:ln w="26425" cap="flat" cmpd="sng" algn="ctr">
          <a:solidFill>
            <a:schemeClr val="accent1">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CDC0682-D26A-42AB-B69A-8FC8C1E42816}">
      <dsp:nvSpPr>
        <dsp:cNvPr id="0" name=""/>
        <dsp:cNvSpPr/>
      </dsp:nvSpPr>
      <dsp:spPr>
        <a:xfrm>
          <a:off x="2816355" y="1621"/>
          <a:ext cx="1215795" cy="607897"/>
        </a:xfrm>
        <a:prstGeom prst="rect">
          <a:avLst/>
        </a:prstGeom>
        <a:solidFill>
          <a:schemeClr val="accent1">
            <a:alpha val="8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Projet</a:t>
          </a:r>
        </a:p>
      </dsp:txBody>
      <dsp:txXfrm>
        <a:off x="2816355" y="1621"/>
        <a:ext cx="1215795" cy="607897"/>
      </dsp:txXfrm>
    </dsp:sp>
    <dsp:sp modelId="{2297E30D-DD1C-4435-ACFF-7F0F301C3B6F}">
      <dsp:nvSpPr>
        <dsp:cNvPr id="0" name=""/>
        <dsp:cNvSpPr/>
      </dsp:nvSpPr>
      <dsp:spPr>
        <a:xfrm>
          <a:off x="576058" y="936106"/>
          <a:ext cx="1215795" cy="607897"/>
        </a:xfrm>
        <a:prstGeom prst="rect">
          <a:avLst/>
        </a:prstGeom>
        <a:solidFill>
          <a:schemeClr val="accent1">
            <a:alpha val="7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Lot 1</a:t>
          </a:r>
        </a:p>
      </dsp:txBody>
      <dsp:txXfrm>
        <a:off x="576058" y="936106"/>
        <a:ext cx="1215795" cy="607897"/>
      </dsp:txXfrm>
    </dsp:sp>
    <dsp:sp modelId="{AA3F2F77-60BA-4206-BC92-4CA41F15E83A}">
      <dsp:nvSpPr>
        <dsp:cNvPr id="0" name=""/>
        <dsp:cNvSpPr/>
      </dsp:nvSpPr>
      <dsp:spPr>
        <a:xfrm>
          <a:off x="913636" y="1728051"/>
          <a:ext cx="1215795" cy="607897"/>
        </a:xfrm>
        <a:prstGeom prst="rect">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Tâche 1.1</a:t>
          </a:r>
        </a:p>
      </dsp:txBody>
      <dsp:txXfrm>
        <a:off x="913636" y="1728051"/>
        <a:ext cx="1215795" cy="607897"/>
      </dsp:txXfrm>
    </dsp:sp>
    <dsp:sp modelId="{DF7B5C19-7079-4FA8-9DF1-0FEEEC24ECEF}">
      <dsp:nvSpPr>
        <dsp:cNvPr id="0" name=""/>
        <dsp:cNvSpPr/>
      </dsp:nvSpPr>
      <dsp:spPr>
        <a:xfrm>
          <a:off x="913636" y="2591265"/>
          <a:ext cx="1215795" cy="607897"/>
        </a:xfrm>
        <a:prstGeom prst="rect">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Tâche 1.2</a:t>
          </a:r>
        </a:p>
      </dsp:txBody>
      <dsp:txXfrm>
        <a:off x="913636" y="2591265"/>
        <a:ext cx="1215795" cy="607897"/>
      </dsp:txXfrm>
    </dsp:sp>
    <dsp:sp modelId="{856B9C74-1093-4FC2-829C-258884219C97}">
      <dsp:nvSpPr>
        <dsp:cNvPr id="0" name=""/>
        <dsp:cNvSpPr/>
      </dsp:nvSpPr>
      <dsp:spPr>
        <a:xfrm>
          <a:off x="913636" y="3454480"/>
          <a:ext cx="1215795" cy="607897"/>
        </a:xfrm>
        <a:prstGeom prst="rect">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Tâche 1.3</a:t>
          </a:r>
        </a:p>
      </dsp:txBody>
      <dsp:txXfrm>
        <a:off x="913636" y="3454480"/>
        <a:ext cx="1215795" cy="607897"/>
      </dsp:txXfrm>
    </dsp:sp>
    <dsp:sp modelId="{6C767D22-1940-4FD9-9A35-ED589156F925}">
      <dsp:nvSpPr>
        <dsp:cNvPr id="0" name=""/>
        <dsp:cNvSpPr/>
      </dsp:nvSpPr>
      <dsp:spPr>
        <a:xfrm>
          <a:off x="2080799" y="864836"/>
          <a:ext cx="1215795" cy="607897"/>
        </a:xfrm>
        <a:prstGeom prst="rect">
          <a:avLst/>
        </a:prstGeom>
        <a:solidFill>
          <a:schemeClr val="accent1">
            <a:alpha val="7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Lot 2</a:t>
          </a:r>
        </a:p>
      </dsp:txBody>
      <dsp:txXfrm>
        <a:off x="2080799" y="864836"/>
        <a:ext cx="1215795" cy="607897"/>
      </dsp:txXfrm>
    </dsp:sp>
    <dsp:sp modelId="{11B74D83-2380-448A-AE17-E853DAD60BA1}">
      <dsp:nvSpPr>
        <dsp:cNvPr id="0" name=""/>
        <dsp:cNvSpPr/>
      </dsp:nvSpPr>
      <dsp:spPr>
        <a:xfrm>
          <a:off x="2384748" y="1728051"/>
          <a:ext cx="1215795" cy="607897"/>
        </a:xfrm>
        <a:prstGeom prst="rect">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Tâche 2.1</a:t>
          </a:r>
        </a:p>
      </dsp:txBody>
      <dsp:txXfrm>
        <a:off x="2384748" y="1728051"/>
        <a:ext cx="1215795" cy="607897"/>
      </dsp:txXfrm>
    </dsp:sp>
    <dsp:sp modelId="{85864ED5-5091-46E8-BE86-6D75317AED39}">
      <dsp:nvSpPr>
        <dsp:cNvPr id="0" name=""/>
        <dsp:cNvSpPr/>
      </dsp:nvSpPr>
      <dsp:spPr>
        <a:xfrm>
          <a:off x="2384748" y="2591265"/>
          <a:ext cx="1215795" cy="607897"/>
        </a:xfrm>
        <a:prstGeom prst="rect">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Tâche 2.2</a:t>
          </a:r>
        </a:p>
      </dsp:txBody>
      <dsp:txXfrm>
        <a:off x="2384748" y="2591265"/>
        <a:ext cx="1215795" cy="607897"/>
      </dsp:txXfrm>
    </dsp:sp>
    <dsp:sp modelId="{F75F4C8A-27E4-4E4B-95F4-D10773F4A8EB}">
      <dsp:nvSpPr>
        <dsp:cNvPr id="0" name=""/>
        <dsp:cNvSpPr/>
      </dsp:nvSpPr>
      <dsp:spPr>
        <a:xfrm>
          <a:off x="2384748" y="3454480"/>
          <a:ext cx="1215795" cy="607897"/>
        </a:xfrm>
        <a:prstGeom prst="rect">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Tâche 2.3</a:t>
          </a:r>
        </a:p>
      </dsp:txBody>
      <dsp:txXfrm>
        <a:off x="2384748" y="3454480"/>
        <a:ext cx="1215795" cy="607897"/>
      </dsp:txXfrm>
    </dsp:sp>
    <dsp:sp modelId="{A68DC1F8-5C73-4E0A-8FE0-568792107B0A}">
      <dsp:nvSpPr>
        <dsp:cNvPr id="0" name=""/>
        <dsp:cNvSpPr/>
      </dsp:nvSpPr>
      <dsp:spPr>
        <a:xfrm>
          <a:off x="3518283" y="936106"/>
          <a:ext cx="1215795" cy="607897"/>
        </a:xfrm>
        <a:prstGeom prst="rect">
          <a:avLst/>
        </a:prstGeom>
        <a:solidFill>
          <a:schemeClr val="accent1">
            <a:alpha val="7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Lot 3</a:t>
          </a:r>
        </a:p>
      </dsp:txBody>
      <dsp:txXfrm>
        <a:off x="3518283" y="936106"/>
        <a:ext cx="1215795" cy="607897"/>
      </dsp:txXfrm>
    </dsp:sp>
    <dsp:sp modelId="{C046C017-8934-4879-8358-84520CA4BFD6}">
      <dsp:nvSpPr>
        <dsp:cNvPr id="0" name=""/>
        <dsp:cNvSpPr/>
      </dsp:nvSpPr>
      <dsp:spPr>
        <a:xfrm>
          <a:off x="3855860" y="1728051"/>
          <a:ext cx="1215795" cy="607897"/>
        </a:xfrm>
        <a:prstGeom prst="rect">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Tâche 3.1</a:t>
          </a:r>
        </a:p>
      </dsp:txBody>
      <dsp:txXfrm>
        <a:off x="3855860" y="1728051"/>
        <a:ext cx="1215795" cy="607897"/>
      </dsp:txXfrm>
    </dsp:sp>
    <dsp:sp modelId="{A50B18A9-A471-4448-BA0A-6AAC6EB9BAB5}">
      <dsp:nvSpPr>
        <dsp:cNvPr id="0" name=""/>
        <dsp:cNvSpPr/>
      </dsp:nvSpPr>
      <dsp:spPr>
        <a:xfrm>
          <a:off x="3855860" y="2591265"/>
          <a:ext cx="1215795" cy="607897"/>
        </a:xfrm>
        <a:prstGeom prst="rect">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Tâche 3.2</a:t>
          </a:r>
        </a:p>
      </dsp:txBody>
      <dsp:txXfrm>
        <a:off x="3855860" y="2591265"/>
        <a:ext cx="1215795" cy="607897"/>
      </dsp:txXfrm>
    </dsp:sp>
    <dsp:sp modelId="{C9B13269-083A-4347-B604-45237454F4FC}">
      <dsp:nvSpPr>
        <dsp:cNvPr id="0" name=""/>
        <dsp:cNvSpPr/>
      </dsp:nvSpPr>
      <dsp:spPr>
        <a:xfrm>
          <a:off x="3855860" y="3454480"/>
          <a:ext cx="1215795" cy="607897"/>
        </a:xfrm>
        <a:prstGeom prst="rect">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Tâche 3.3</a:t>
          </a:r>
        </a:p>
      </dsp:txBody>
      <dsp:txXfrm>
        <a:off x="3855860" y="3454480"/>
        <a:ext cx="1215795" cy="607897"/>
      </dsp:txXfrm>
    </dsp:sp>
    <dsp:sp modelId="{B615732A-7EF2-42AA-824F-B538D03D89A9}">
      <dsp:nvSpPr>
        <dsp:cNvPr id="0" name=""/>
        <dsp:cNvSpPr/>
      </dsp:nvSpPr>
      <dsp:spPr>
        <a:xfrm>
          <a:off x="5023024" y="864836"/>
          <a:ext cx="1215795" cy="607897"/>
        </a:xfrm>
        <a:prstGeom prst="rect">
          <a:avLst/>
        </a:prstGeom>
        <a:solidFill>
          <a:schemeClr val="accent1">
            <a:alpha val="7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Lot 4</a:t>
          </a:r>
        </a:p>
      </dsp:txBody>
      <dsp:txXfrm>
        <a:off x="5023024" y="864836"/>
        <a:ext cx="1215795" cy="607897"/>
      </dsp:txXfrm>
    </dsp:sp>
    <dsp:sp modelId="{9E54CA74-D652-4C8A-96AC-E6D28070822A}">
      <dsp:nvSpPr>
        <dsp:cNvPr id="0" name=""/>
        <dsp:cNvSpPr/>
      </dsp:nvSpPr>
      <dsp:spPr>
        <a:xfrm>
          <a:off x="5326973" y="1728051"/>
          <a:ext cx="1215795" cy="607897"/>
        </a:xfrm>
        <a:prstGeom prst="rect">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Tâche 4.1</a:t>
          </a:r>
        </a:p>
      </dsp:txBody>
      <dsp:txXfrm>
        <a:off x="5326973" y="1728051"/>
        <a:ext cx="1215795" cy="607897"/>
      </dsp:txXfrm>
    </dsp:sp>
    <dsp:sp modelId="{D956B4D6-105B-483B-8706-3FDFACF8A436}">
      <dsp:nvSpPr>
        <dsp:cNvPr id="0" name=""/>
        <dsp:cNvSpPr/>
      </dsp:nvSpPr>
      <dsp:spPr>
        <a:xfrm>
          <a:off x="5326973" y="2591265"/>
          <a:ext cx="1215795" cy="607897"/>
        </a:xfrm>
        <a:prstGeom prst="rect">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Tâche 4.2</a:t>
          </a:r>
        </a:p>
      </dsp:txBody>
      <dsp:txXfrm>
        <a:off x="5326973" y="2591265"/>
        <a:ext cx="1215795" cy="607897"/>
      </dsp:txXfrm>
    </dsp:sp>
    <dsp:sp modelId="{FF61011D-57D0-4FB0-BEBA-F34106DE8BB6}">
      <dsp:nvSpPr>
        <dsp:cNvPr id="0" name=""/>
        <dsp:cNvSpPr/>
      </dsp:nvSpPr>
      <dsp:spPr>
        <a:xfrm>
          <a:off x="5326973" y="3454480"/>
          <a:ext cx="1215795" cy="607897"/>
        </a:xfrm>
        <a:prstGeom prst="rect">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tx1"/>
              </a:solidFill>
            </a:rPr>
            <a:t>Tâche 4.3</a:t>
          </a:r>
        </a:p>
      </dsp:txBody>
      <dsp:txXfrm>
        <a:off x="5326973" y="3454480"/>
        <a:ext cx="1215795" cy="60789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6347" cy="496491"/>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1342" y="0"/>
            <a:ext cx="2946347" cy="496491"/>
          </a:xfrm>
          <a:prstGeom prst="rect">
            <a:avLst/>
          </a:prstGeom>
        </p:spPr>
        <p:txBody>
          <a:bodyPr vert="horz" lIns="91440" tIns="45720" rIns="91440" bIns="45720" rtlCol="0"/>
          <a:lstStyle>
            <a:lvl1pPr algn="r">
              <a:defRPr sz="1200"/>
            </a:lvl1pPr>
          </a:lstStyle>
          <a:p>
            <a:fld id="{E46F5001-F8A4-474C-8370-967C9B3B9389}" type="datetimeFigureOut">
              <a:rPr lang="fr-FR" smtClean="0"/>
              <a:pPr/>
              <a:t>15/10/2025</a:t>
            </a:fld>
            <a:endParaRPr lang="fr-FR"/>
          </a:p>
        </p:txBody>
      </p:sp>
      <p:sp>
        <p:nvSpPr>
          <p:cNvPr id="4" name="Espace réservé de l'image des diapositives 3"/>
          <p:cNvSpPr>
            <a:spLocks noGrp="1" noRot="1" noChangeAspect="1"/>
          </p:cNvSpPr>
          <p:nvPr>
            <p:ph type="sldImg" idx="2"/>
          </p:nvPr>
        </p:nvSpPr>
        <p:spPr>
          <a:xfrm>
            <a:off x="917575" y="744538"/>
            <a:ext cx="4964113" cy="37242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79927" y="4716661"/>
            <a:ext cx="5439410" cy="4468416"/>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31599"/>
            <a:ext cx="2946347" cy="496491"/>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1342" y="9431599"/>
            <a:ext cx="2946347" cy="496491"/>
          </a:xfrm>
          <a:prstGeom prst="rect">
            <a:avLst/>
          </a:prstGeom>
        </p:spPr>
        <p:txBody>
          <a:bodyPr vert="horz" lIns="91440" tIns="45720" rIns="91440" bIns="45720" rtlCol="0" anchor="b"/>
          <a:lstStyle>
            <a:lvl1pPr algn="r">
              <a:defRPr sz="1200"/>
            </a:lvl1pPr>
          </a:lstStyle>
          <a:p>
            <a:fld id="{CAE88226-737E-4FAF-B603-CC8E46420395}" type="slidenum">
              <a:rPr lang="fr-FR" smtClean="0"/>
              <a:pPr/>
              <a:t>‹N°›</a:t>
            </a:fld>
            <a:endParaRPr lang="fr-FR"/>
          </a:p>
        </p:txBody>
      </p:sp>
    </p:spTree>
    <p:extLst>
      <p:ext uri="{BB962C8B-B14F-4D97-AF65-F5344CB8AC3E}">
        <p14:creationId xmlns:p14="http://schemas.microsoft.com/office/powerpoint/2010/main" val="3832770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1</a:t>
            </a:fld>
            <a:endParaRPr lang="fr-FR"/>
          </a:p>
        </p:txBody>
      </p:sp>
    </p:spTree>
    <p:extLst>
      <p:ext uri="{BB962C8B-B14F-4D97-AF65-F5344CB8AC3E}">
        <p14:creationId xmlns:p14="http://schemas.microsoft.com/office/powerpoint/2010/main" val="3511641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2</a:t>
            </a:fld>
            <a:endParaRPr lang="fr-FR"/>
          </a:p>
        </p:txBody>
      </p:sp>
    </p:spTree>
    <p:extLst>
      <p:ext uri="{BB962C8B-B14F-4D97-AF65-F5344CB8AC3E}">
        <p14:creationId xmlns:p14="http://schemas.microsoft.com/office/powerpoint/2010/main" val="240215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4</a:t>
            </a:fld>
            <a:endParaRPr lang="fr-FR"/>
          </a:p>
        </p:txBody>
      </p:sp>
    </p:spTree>
    <p:extLst>
      <p:ext uri="{BB962C8B-B14F-4D97-AF65-F5344CB8AC3E}">
        <p14:creationId xmlns:p14="http://schemas.microsoft.com/office/powerpoint/2010/main" val="3526908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5</a:t>
            </a:fld>
            <a:endParaRPr lang="fr-FR"/>
          </a:p>
        </p:txBody>
      </p:sp>
    </p:spTree>
    <p:extLst>
      <p:ext uri="{BB962C8B-B14F-4D97-AF65-F5344CB8AC3E}">
        <p14:creationId xmlns:p14="http://schemas.microsoft.com/office/powerpoint/2010/main" val="3526908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11</a:t>
            </a:fld>
            <a:endParaRPr lang="fr-FR" dirty="0"/>
          </a:p>
        </p:txBody>
      </p:sp>
    </p:spTree>
    <p:extLst>
      <p:ext uri="{BB962C8B-B14F-4D97-AF65-F5344CB8AC3E}">
        <p14:creationId xmlns:p14="http://schemas.microsoft.com/office/powerpoint/2010/main" val="28839340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i="0" kern="1200" dirty="0">
                <a:solidFill>
                  <a:schemeClr val="tx1"/>
                </a:solidFill>
                <a:effectLst/>
                <a:latin typeface="+mn-lt"/>
                <a:ea typeface="+mn-ea"/>
                <a:cs typeface="+mn-cs"/>
              </a:rPr>
              <a:t>Un </a:t>
            </a:r>
            <a:r>
              <a:rPr lang="fr-FR" sz="1200" b="1" i="0" kern="1200" dirty="0">
                <a:solidFill>
                  <a:schemeClr val="tx1"/>
                </a:solidFill>
                <a:effectLst/>
                <a:latin typeface="+mn-lt"/>
                <a:ea typeface="+mn-ea"/>
                <a:cs typeface="+mn-cs"/>
              </a:rPr>
              <a:t>ERP</a:t>
            </a:r>
            <a:r>
              <a:rPr lang="fr-FR" sz="1200" b="0" i="0" kern="1200" dirty="0">
                <a:solidFill>
                  <a:schemeClr val="tx1"/>
                </a:solidFill>
                <a:effectLst/>
                <a:latin typeface="+mn-lt"/>
                <a:ea typeface="+mn-ea"/>
                <a:cs typeface="+mn-cs"/>
              </a:rPr>
              <a:t> (Enterprise Resource Planning) ou également appelé PGI (Progiciel de Gestion Intégré) est un système d'information qui permet de gérer et suivre au quotidien, l'ensemble des informations et des services opérationnels d'une entreprise.</a:t>
            </a:r>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13</a:t>
            </a:fld>
            <a:endParaRPr lang="fr-FR"/>
          </a:p>
        </p:txBody>
      </p:sp>
    </p:spTree>
    <p:extLst>
      <p:ext uri="{BB962C8B-B14F-4D97-AF65-F5344CB8AC3E}">
        <p14:creationId xmlns:p14="http://schemas.microsoft.com/office/powerpoint/2010/main" val="1686967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21</a:t>
            </a:fld>
            <a:endParaRPr lang="fr-FR"/>
          </a:p>
        </p:txBody>
      </p:sp>
    </p:spTree>
    <p:extLst>
      <p:ext uri="{BB962C8B-B14F-4D97-AF65-F5344CB8AC3E}">
        <p14:creationId xmlns:p14="http://schemas.microsoft.com/office/powerpoint/2010/main" val="199264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22</a:t>
            </a:fld>
            <a:endParaRPr lang="fr-FR"/>
          </a:p>
        </p:txBody>
      </p:sp>
    </p:spTree>
    <p:extLst>
      <p:ext uri="{BB962C8B-B14F-4D97-AF65-F5344CB8AC3E}">
        <p14:creationId xmlns:p14="http://schemas.microsoft.com/office/powerpoint/2010/main" val="2707630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31</a:t>
            </a:fld>
            <a:endParaRPr lang="fr-FR" dirty="0"/>
          </a:p>
        </p:txBody>
      </p:sp>
    </p:spTree>
    <p:extLst>
      <p:ext uri="{BB962C8B-B14F-4D97-AF65-F5344CB8AC3E}">
        <p14:creationId xmlns:p14="http://schemas.microsoft.com/office/powerpoint/2010/main" val="2984525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32</a:t>
            </a:fld>
            <a:endParaRPr lang="fr-FR"/>
          </a:p>
        </p:txBody>
      </p:sp>
    </p:spTree>
    <p:extLst>
      <p:ext uri="{BB962C8B-B14F-4D97-AF65-F5344CB8AC3E}">
        <p14:creationId xmlns:p14="http://schemas.microsoft.com/office/powerpoint/2010/main" val="3147828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33</a:t>
            </a:fld>
            <a:endParaRPr lang="fr-FR"/>
          </a:p>
        </p:txBody>
      </p:sp>
    </p:spTree>
    <p:extLst>
      <p:ext uri="{BB962C8B-B14F-4D97-AF65-F5344CB8AC3E}">
        <p14:creationId xmlns:p14="http://schemas.microsoft.com/office/powerpoint/2010/main" val="2924593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34</a:t>
            </a:fld>
            <a:endParaRPr lang="fr-FR"/>
          </a:p>
        </p:txBody>
      </p:sp>
    </p:spTree>
    <p:extLst>
      <p:ext uri="{BB962C8B-B14F-4D97-AF65-F5344CB8AC3E}">
        <p14:creationId xmlns:p14="http://schemas.microsoft.com/office/powerpoint/2010/main" val="36956948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36</a:t>
            </a:fld>
            <a:endParaRPr lang="fr-FR"/>
          </a:p>
        </p:txBody>
      </p:sp>
    </p:spTree>
    <p:extLst>
      <p:ext uri="{BB962C8B-B14F-4D97-AF65-F5344CB8AC3E}">
        <p14:creationId xmlns:p14="http://schemas.microsoft.com/office/powerpoint/2010/main" val="3584730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37</a:t>
            </a:fld>
            <a:endParaRPr lang="fr-FR"/>
          </a:p>
        </p:txBody>
      </p:sp>
    </p:spTree>
    <p:extLst>
      <p:ext uri="{BB962C8B-B14F-4D97-AF65-F5344CB8AC3E}">
        <p14:creationId xmlns:p14="http://schemas.microsoft.com/office/powerpoint/2010/main" val="3493768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38</a:t>
            </a:fld>
            <a:endParaRPr lang="fr-FR"/>
          </a:p>
        </p:txBody>
      </p:sp>
    </p:spTree>
    <p:extLst>
      <p:ext uri="{BB962C8B-B14F-4D97-AF65-F5344CB8AC3E}">
        <p14:creationId xmlns:p14="http://schemas.microsoft.com/office/powerpoint/2010/main" val="635062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39</a:t>
            </a:fld>
            <a:endParaRPr lang="fr-FR"/>
          </a:p>
        </p:txBody>
      </p:sp>
    </p:spTree>
    <p:extLst>
      <p:ext uri="{BB962C8B-B14F-4D97-AF65-F5344CB8AC3E}">
        <p14:creationId xmlns:p14="http://schemas.microsoft.com/office/powerpoint/2010/main" val="10845146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40</a:t>
            </a:fld>
            <a:endParaRPr lang="fr-FR"/>
          </a:p>
        </p:txBody>
      </p:sp>
    </p:spTree>
    <p:extLst>
      <p:ext uri="{BB962C8B-B14F-4D97-AF65-F5344CB8AC3E}">
        <p14:creationId xmlns:p14="http://schemas.microsoft.com/office/powerpoint/2010/main" val="38659224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i="0" u="sng" kern="1200" dirty="0">
                <a:solidFill>
                  <a:schemeClr val="tx1"/>
                </a:solidFill>
                <a:effectLst/>
                <a:latin typeface="+mn-lt"/>
                <a:ea typeface="+mn-ea"/>
                <a:cs typeface="+mn-cs"/>
              </a:rPr>
              <a:t>Voici quelques précisions sur la saisie des ressources </a:t>
            </a:r>
            <a:r>
              <a:rPr lang="fr-FR" sz="1200" b="1" i="0" u="sng" kern="1200" dirty="0">
                <a:solidFill>
                  <a:schemeClr val="tx1"/>
                </a:solidFill>
                <a:effectLst/>
                <a:latin typeface="+mn-lt"/>
                <a:ea typeface="+mn-ea"/>
                <a:cs typeface="+mn-cs"/>
              </a:rPr>
              <a:t>Travail</a:t>
            </a:r>
            <a:r>
              <a:rPr lang="fr-FR"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Type</a:t>
            </a:r>
            <a:r>
              <a:rPr lang="fr-FR" sz="1200" b="0" i="0" kern="1200" dirty="0">
                <a:solidFill>
                  <a:schemeClr val="tx1"/>
                </a:solidFill>
                <a:effectLst/>
                <a:latin typeface="+mn-lt"/>
                <a:ea typeface="+mn-ea"/>
                <a:cs typeface="+mn-cs"/>
              </a:rPr>
              <a:t> affiche la mention </a:t>
            </a:r>
            <a:r>
              <a:rPr lang="fr-FR" sz="1200" b="1" i="0" kern="1200" dirty="0">
                <a:solidFill>
                  <a:schemeClr val="tx1"/>
                </a:solidFill>
                <a:effectLst/>
                <a:latin typeface="+mn-lt"/>
                <a:ea typeface="+mn-ea"/>
                <a:cs typeface="+mn-cs"/>
              </a:rPr>
              <a:t>Travail</a:t>
            </a:r>
            <a:r>
              <a:rPr lang="fr-FR" sz="1200" b="0" i="0" kern="1200" dirty="0">
                <a:solidFill>
                  <a:schemeClr val="tx1"/>
                </a:solidFill>
                <a:effectLst/>
                <a:latin typeface="+mn-lt"/>
                <a:ea typeface="+mn-ea"/>
                <a:cs typeface="+mn-cs"/>
              </a:rPr>
              <a:t> par défaut qui correspond aux ressources en main d’œuvre et en équipement.</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Étiquette Matériel</a:t>
            </a:r>
            <a:r>
              <a:rPr lang="fr-FR" sz="1200" b="0" i="0" kern="1200" dirty="0">
                <a:solidFill>
                  <a:schemeClr val="tx1"/>
                </a:solidFill>
                <a:effectLst/>
                <a:latin typeface="+mn-lt"/>
                <a:ea typeface="+mn-ea"/>
                <a:cs typeface="+mn-cs"/>
              </a:rPr>
              <a:t> n’est utilisable que pour les ressources de type </a:t>
            </a:r>
            <a:r>
              <a:rPr lang="fr-FR" sz="1200" b="1" i="0" kern="1200" dirty="0">
                <a:solidFill>
                  <a:schemeClr val="tx1"/>
                </a:solidFill>
                <a:effectLst/>
                <a:latin typeface="+mn-lt"/>
                <a:ea typeface="+mn-ea"/>
                <a:cs typeface="+mn-cs"/>
              </a:rPr>
              <a:t>Matériel</a:t>
            </a:r>
            <a:r>
              <a:rPr lang="fr-FR" sz="1200" b="0" i="0" kern="1200" dirty="0">
                <a:solidFill>
                  <a:schemeClr val="tx1"/>
                </a:solidFill>
                <a:effectLst/>
                <a:latin typeface="+mn-lt"/>
                <a:ea typeface="+mn-ea"/>
                <a:cs typeface="+mn-cs"/>
              </a:rPr>
              <a:t>. Vous n’aurez pas à en gérer de matériel.</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Initiales</a:t>
            </a:r>
            <a:r>
              <a:rPr lang="fr-FR" sz="1200" b="0" i="0" kern="1200" dirty="0">
                <a:solidFill>
                  <a:schemeClr val="tx1"/>
                </a:solidFill>
                <a:effectLst/>
                <a:latin typeface="+mn-lt"/>
                <a:ea typeface="+mn-ea"/>
                <a:cs typeface="+mn-cs"/>
              </a:rPr>
              <a:t> est automatiquement renseigné par le logiciel, mais modifiez-le prendre en compte les informations du tableau.</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Groupe</a:t>
            </a:r>
            <a:r>
              <a:rPr lang="fr-FR" sz="1200" b="0" i="0" kern="1200" dirty="0">
                <a:solidFill>
                  <a:schemeClr val="tx1"/>
                </a:solidFill>
                <a:effectLst/>
                <a:latin typeface="+mn-lt"/>
                <a:ea typeface="+mn-ea"/>
                <a:cs typeface="+mn-cs"/>
              </a:rPr>
              <a:t> permet de créer des familles de ressources. La saisie d’un nom de groupe permet sa création.</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Capacité max.</a:t>
            </a:r>
            <a:r>
              <a:rPr lang="fr-FR" sz="1200" b="0" i="0" kern="1200" dirty="0">
                <a:solidFill>
                  <a:schemeClr val="tx1"/>
                </a:solidFill>
                <a:effectLst/>
                <a:latin typeface="+mn-lt"/>
                <a:ea typeface="+mn-ea"/>
                <a:cs typeface="+mn-cs"/>
              </a:rPr>
              <a:t> (Capacité maximum) affiche la quantité disponible, ou le nombre d’individus qui exercent la même fonction ; Dans le projet, il y a 2 architectes, 2 maquettistes et 4 développeurs. Par défaut, la </a:t>
            </a:r>
            <a:r>
              <a:rPr lang="fr-FR" sz="1200" b="1" i="0" kern="1200" dirty="0">
                <a:solidFill>
                  <a:schemeClr val="tx1"/>
                </a:solidFill>
                <a:effectLst/>
                <a:latin typeface="+mn-lt"/>
                <a:ea typeface="+mn-ea"/>
                <a:cs typeface="+mn-cs"/>
              </a:rPr>
              <a:t>Capacité maximum</a:t>
            </a:r>
            <a:r>
              <a:rPr lang="fr-FR" sz="1200" b="0" i="0" kern="1200" dirty="0">
                <a:solidFill>
                  <a:schemeClr val="tx1"/>
                </a:solidFill>
                <a:effectLst/>
                <a:latin typeface="+mn-lt"/>
                <a:ea typeface="+mn-ea"/>
                <a:cs typeface="+mn-cs"/>
              </a:rPr>
              <a:t> s’affiche en pourcentage. Pour l’afficher en </a:t>
            </a:r>
            <a:r>
              <a:rPr lang="fr-FR" sz="1200" b="1" i="0" kern="1200" dirty="0">
                <a:solidFill>
                  <a:schemeClr val="tx1"/>
                </a:solidFill>
                <a:effectLst/>
                <a:latin typeface="+mn-lt"/>
                <a:ea typeface="+mn-ea"/>
                <a:cs typeface="+mn-cs"/>
              </a:rPr>
              <a:t>Décimal</a:t>
            </a:r>
            <a:r>
              <a:rPr lang="fr-FR" sz="1200" b="0" i="0" kern="1200" dirty="0">
                <a:solidFill>
                  <a:schemeClr val="tx1"/>
                </a:solidFill>
                <a:effectLst/>
                <a:latin typeface="+mn-lt"/>
                <a:ea typeface="+mn-ea"/>
                <a:cs typeface="+mn-cs"/>
              </a:rPr>
              <a:t>, modifiez le paramétrage de </a:t>
            </a:r>
            <a:r>
              <a:rPr lang="fr-FR" sz="1200" b="1" i="0" kern="1200" dirty="0">
                <a:solidFill>
                  <a:schemeClr val="tx1"/>
                </a:solidFill>
                <a:effectLst/>
                <a:latin typeface="+mn-lt"/>
                <a:ea typeface="+mn-ea"/>
                <a:cs typeface="+mn-cs"/>
              </a:rPr>
              <a:t>Afficher les unités d’affectation en tant que</a:t>
            </a:r>
            <a:r>
              <a:rPr lang="fr-FR" sz="1200" b="0" i="0" kern="1200" dirty="0">
                <a:solidFill>
                  <a:schemeClr val="tx1"/>
                </a:solidFill>
                <a:effectLst/>
                <a:latin typeface="+mn-lt"/>
                <a:ea typeface="+mn-ea"/>
                <a:cs typeface="+mn-cs"/>
              </a:rPr>
              <a:t> dans </a:t>
            </a:r>
            <a:r>
              <a:rPr lang="fr-FR" sz="1200" b="1" i="0" kern="1200" dirty="0">
                <a:solidFill>
                  <a:schemeClr val="tx1"/>
                </a:solidFill>
                <a:effectLst/>
                <a:latin typeface="+mn-lt"/>
                <a:ea typeface="+mn-ea"/>
                <a:cs typeface="+mn-cs"/>
              </a:rPr>
              <a:t>Fichier - Options - Planification</a:t>
            </a:r>
            <a:r>
              <a:rPr lang="fr-FR" sz="1200" b="0" i="0" kern="1200" dirty="0">
                <a:solidFill>
                  <a:schemeClr val="tx1"/>
                </a:solidFill>
                <a:effectLst/>
                <a:latin typeface="+mn-lt"/>
                <a:ea typeface="+mn-ea"/>
                <a:cs typeface="+mn-cs"/>
              </a:rPr>
              <a:t>, zone </a:t>
            </a:r>
            <a:r>
              <a:rPr lang="fr-FR" sz="1200" b="1" i="0" kern="1200" dirty="0">
                <a:solidFill>
                  <a:schemeClr val="tx1"/>
                </a:solidFill>
                <a:effectLst/>
                <a:latin typeface="+mn-lt"/>
                <a:ea typeface="+mn-ea"/>
                <a:cs typeface="+mn-cs"/>
              </a:rPr>
              <a:t>Planification</a:t>
            </a:r>
            <a:r>
              <a:rPr lang="fr-FR"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err="1">
                <a:solidFill>
                  <a:schemeClr val="tx1"/>
                </a:solidFill>
                <a:effectLst/>
                <a:latin typeface="+mn-lt"/>
                <a:ea typeface="+mn-ea"/>
                <a:cs typeface="+mn-cs"/>
              </a:rPr>
              <a:t>Tx</a:t>
            </a:r>
            <a:r>
              <a:rPr lang="fr-FR" sz="1200" b="1" i="0" kern="1200" dirty="0">
                <a:solidFill>
                  <a:schemeClr val="tx1"/>
                </a:solidFill>
                <a:effectLst/>
                <a:latin typeface="+mn-lt"/>
                <a:ea typeface="+mn-ea"/>
                <a:cs typeface="+mn-cs"/>
              </a:rPr>
              <a:t>. standard</a:t>
            </a:r>
            <a:r>
              <a:rPr lang="fr-FR" sz="1200" b="0" i="0" kern="1200" dirty="0">
                <a:solidFill>
                  <a:schemeClr val="tx1"/>
                </a:solidFill>
                <a:effectLst/>
                <a:latin typeface="+mn-lt"/>
                <a:ea typeface="+mn-ea"/>
                <a:cs typeface="+mn-cs"/>
              </a:rPr>
              <a:t> (Taux standard) est par défaut paramétré en €/h. Indiquez le coût par jour en saisissant par exemple pour le chef de travaux 800/j.</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err="1">
                <a:solidFill>
                  <a:schemeClr val="tx1"/>
                </a:solidFill>
                <a:effectLst/>
                <a:latin typeface="+mn-lt"/>
                <a:ea typeface="+mn-ea"/>
                <a:cs typeface="+mn-cs"/>
              </a:rPr>
              <a:t>Tx</a:t>
            </a:r>
            <a:r>
              <a:rPr lang="fr-FR" sz="1200" b="1" i="0" kern="1200" dirty="0">
                <a:solidFill>
                  <a:schemeClr val="tx1"/>
                </a:solidFill>
                <a:effectLst/>
                <a:latin typeface="+mn-lt"/>
                <a:ea typeface="+mn-ea"/>
                <a:cs typeface="+mn-cs"/>
              </a:rPr>
              <a:t>. </a:t>
            </a:r>
            <a:r>
              <a:rPr lang="fr-FR" sz="1200" b="1" i="0" kern="1200" dirty="0" err="1">
                <a:solidFill>
                  <a:schemeClr val="tx1"/>
                </a:solidFill>
                <a:effectLst/>
                <a:latin typeface="+mn-lt"/>
                <a:ea typeface="+mn-ea"/>
                <a:cs typeface="+mn-cs"/>
              </a:rPr>
              <a:t>hrs</a:t>
            </a:r>
            <a:r>
              <a:rPr lang="fr-FR" sz="1200" b="1" i="0" kern="1200" dirty="0">
                <a:solidFill>
                  <a:schemeClr val="tx1"/>
                </a:solidFill>
                <a:effectLst/>
                <a:latin typeface="+mn-lt"/>
                <a:ea typeface="+mn-ea"/>
                <a:cs typeface="+mn-cs"/>
              </a:rPr>
              <a:t>. sup.</a:t>
            </a:r>
            <a:r>
              <a:rPr lang="fr-FR" sz="1200" b="0" i="0" kern="1200" dirty="0">
                <a:solidFill>
                  <a:schemeClr val="tx1"/>
                </a:solidFill>
                <a:effectLst/>
                <a:latin typeface="+mn-lt"/>
                <a:ea typeface="+mn-ea"/>
                <a:cs typeface="+mn-cs"/>
              </a:rPr>
              <a:t> (Taux heures supplémentaires) affiche le coût de la ressource lorsqu’elle travaille en heures supplémentaires. Comme on ne gère pas les heures supplémentaires, indiquez le même montant.</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Coût/Utilisation</a:t>
            </a:r>
            <a:r>
              <a:rPr lang="fr-FR" sz="1200" b="0" i="0" kern="1200" dirty="0">
                <a:solidFill>
                  <a:schemeClr val="tx1"/>
                </a:solidFill>
                <a:effectLst/>
                <a:latin typeface="+mn-lt"/>
                <a:ea typeface="+mn-ea"/>
                <a:cs typeface="+mn-cs"/>
              </a:rPr>
              <a:t> (Coût par utilisation) permet de saisir un coût forfaitaire d’une ressource qui affectée à une tâche. Cela n’est pas à gérer.</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Allocation</a:t>
            </a:r>
            <a:r>
              <a:rPr lang="fr-FR" sz="1200" b="0" i="0" kern="1200" dirty="0">
                <a:solidFill>
                  <a:schemeClr val="tx1"/>
                </a:solidFill>
                <a:effectLst/>
                <a:latin typeface="+mn-lt"/>
                <a:ea typeface="+mn-ea"/>
                <a:cs typeface="+mn-cs"/>
              </a:rPr>
              <a:t>, par défaut renseigné à Proportion, permet de régler si, lors de la réalisation du projet, les coûts forfaitaires réels seront affectés au prorata </a:t>
            </a:r>
            <a:r>
              <a:rPr lang="fr-FR" sz="1200" b="0" i="0" kern="1200" dirty="0" err="1">
                <a:solidFill>
                  <a:schemeClr val="tx1"/>
                </a:solidFill>
                <a:effectLst/>
                <a:latin typeface="+mn-lt"/>
                <a:ea typeface="+mn-ea"/>
                <a:cs typeface="+mn-cs"/>
              </a:rPr>
              <a:t>temporis</a:t>
            </a:r>
            <a:r>
              <a:rPr lang="fr-FR" sz="1200" b="0" i="0" kern="1200" dirty="0">
                <a:solidFill>
                  <a:schemeClr val="tx1"/>
                </a:solidFill>
                <a:effectLst/>
                <a:latin typeface="+mn-lt"/>
                <a:ea typeface="+mn-ea"/>
                <a:cs typeface="+mn-cs"/>
              </a:rPr>
              <a:t>, 100 % au Début ou 100 % à la Fin de la tâche. Cela n’est pas à gérer.</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Calendrier de base</a:t>
            </a:r>
            <a:r>
              <a:rPr lang="fr-FR" sz="1200" b="0" i="0" kern="1200" dirty="0">
                <a:solidFill>
                  <a:schemeClr val="tx1"/>
                </a:solidFill>
                <a:effectLst/>
                <a:latin typeface="+mn-lt"/>
                <a:ea typeface="+mn-ea"/>
                <a:cs typeface="+mn-cs"/>
              </a:rPr>
              <a:t> permet d’indiquer au logiciel quel modèle utiliser pour créer et gérer le calendrier de la ressource correspondante. Vous verrez cela plus loin dans l’atelier.</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Code</a:t>
            </a:r>
            <a:r>
              <a:rPr lang="fr-FR" sz="1200" b="0" i="0" kern="1200" dirty="0">
                <a:solidFill>
                  <a:schemeClr val="tx1"/>
                </a:solidFill>
                <a:effectLst/>
                <a:latin typeface="+mn-lt"/>
                <a:ea typeface="+mn-ea"/>
                <a:cs typeface="+mn-cs"/>
              </a:rPr>
              <a:t> permet de saisir un code analytique afin de renseigner une comptabilité analytique de projet à partir des informations chiffrées contenues dans le fichier de MS Project.</a:t>
            </a:r>
          </a:p>
          <a:p>
            <a:pPr marL="171450" indent="-171450">
              <a:buFont typeface="Arial" panose="020B0604020202020204" pitchFamily="34" charset="0"/>
              <a:buChar char="•"/>
            </a:pPr>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41</a:t>
            </a:fld>
            <a:endParaRPr lang="fr-FR"/>
          </a:p>
        </p:txBody>
      </p:sp>
    </p:spTree>
    <p:extLst>
      <p:ext uri="{BB962C8B-B14F-4D97-AF65-F5344CB8AC3E}">
        <p14:creationId xmlns:p14="http://schemas.microsoft.com/office/powerpoint/2010/main" val="1264995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i="0" u="sng" kern="1200" dirty="0">
                <a:solidFill>
                  <a:schemeClr val="tx1"/>
                </a:solidFill>
                <a:effectLst/>
                <a:latin typeface="+mn-lt"/>
                <a:ea typeface="+mn-ea"/>
                <a:cs typeface="+mn-cs"/>
              </a:rPr>
              <a:t>Voici quelques précisions sur la saisie des ressources </a:t>
            </a:r>
            <a:r>
              <a:rPr lang="fr-FR" sz="1200" b="1" i="0" u="sng" kern="1200" dirty="0">
                <a:solidFill>
                  <a:schemeClr val="tx1"/>
                </a:solidFill>
                <a:effectLst/>
                <a:latin typeface="+mn-lt"/>
                <a:ea typeface="+mn-ea"/>
                <a:cs typeface="+mn-cs"/>
              </a:rPr>
              <a:t>Travail</a:t>
            </a:r>
            <a:r>
              <a:rPr lang="fr-FR"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Type</a:t>
            </a:r>
            <a:r>
              <a:rPr lang="fr-FR" sz="1200" b="0" i="0" kern="1200" dirty="0">
                <a:solidFill>
                  <a:schemeClr val="tx1"/>
                </a:solidFill>
                <a:effectLst/>
                <a:latin typeface="+mn-lt"/>
                <a:ea typeface="+mn-ea"/>
                <a:cs typeface="+mn-cs"/>
              </a:rPr>
              <a:t> affiche la mention </a:t>
            </a:r>
            <a:r>
              <a:rPr lang="fr-FR" sz="1200" b="1" i="0" kern="1200" dirty="0">
                <a:solidFill>
                  <a:schemeClr val="tx1"/>
                </a:solidFill>
                <a:effectLst/>
                <a:latin typeface="+mn-lt"/>
                <a:ea typeface="+mn-ea"/>
                <a:cs typeface="+mn-cs"/>
              </a:rPr>
              <a:t>Travail</a:t>
            </a:r>
            <a:r>
              <a:rPr lang="fr-FR" sz="1200" b="0" i="0" kern="1200" dirty="0">
                <a:solidFill>
                  <a:schemeClr val="tx1"/>
                </a:solidFill>
                <a:effectLst/>
                <a:latin typeface="+mn-lt"/>
                <a:ea typeface="+mn-ea"/>
                <a:cs typeface="+mn-cs"/>
              </a:rPr>
              <a:t> par défaut qui correspond aux ressources en main d’œuvre et en équipement.</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Étiquette Matériel</a:t>
            </a:r>
            <a:r>
              <a:rPr lang="fr-FR" sz="1200" b="0" i="0" kern="1200" dirty="0">
                <a:solidFill>
                  <a:schemeClr val="tx1"/>
                </a:solidFill>
                <a:effectLst/>
                <a:latin typeface="+mn-lt"/>
                <a:ea typeface="+mn-ea"/>
                <a:cs typeface="+mn-cs"/>
              </a:rPr>
              <a:t> n’est utilisable que pour les ressources de type </a:t>
            </a:r>
            <a:r>
              <a:rPr lang="fr-FR" sz="1200" b="1" i="0" kern="1200" dirty="0">
                <a:solidFill>
                  <a:schemeClr val="tx1"/>
                </a:solidFill>
                <a:effectLst/>
                <a:latin typeface="+mn-lt"/>
                <a:ea typeface="+mn-ea"/>
                <a:cs typeface="+mn-cs"/>
              </a:rPr>
              <a:t>Matériel</a:t>
            </a:r>
            <a:r>
              <a:rPr lang="fr-FR" sz="1200" b="0" i="0" kern="1200" dirty="0">
                <a:solidFill>
                  <a:schemeClr val="tx1"/>
                </a:solidFill>
                <a:effectLst/>
                <a:latin typeface="+mn-lt"/>
                <a:ea typeface="+mn-ea"/>
                <a:cs typeface="+mn-cs"/>
              </a:rPr>
              <a:t>. Vous n’aurez pas à en gérer de matériel.</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Initiales</a:t>
            </a:r>
            <a:r>
              <a:rPr lang="fr-FR" sz="1200" b="0" i="0" kern="1200" dirty="0">
                <a:solidFill>
                  <a:schemeClr val="tx1"/>
                </a:solidFill>
                <a:effectLst/>
                <a:latin typeface="+mn-lt"/>
                <a:ea typeface="+mn-ea"/>
                <a:cs typeface="+mn-cs"/>
              </a:rPr>
              <a:t> est automatiquement renseigné par le logiciel, mais modifiez-le prendre en compte les informations du tableau.</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Groupe</a:t>
            </a:r>
            <a:r>
              <a:rPr lang="fr-FR" sz="1200" b="0" i="0" kern="1200" dirty="0">
                <a:solidFill>
                  <a:schemeClr val="tx1"/>
                </a:solidFill>
                <a:effectLst/>
                <a:latin typeface="+mn-lt"/>
                <a:ea typeface="+mn-ea"/>
                <a:cs typeface="+mn-cs"/>
              </a:rPr>
              <a:t> permet de créer des familles de ressources. La saisie d’un nom de groupe permet sa création.</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Capacité max.</a:t>
            </a:r>
            <a:r>
              <a:rPr lang="fr-FR" sz="1200" b="0" i="0" kern="1200" dirty="0">
                <a:solidFill>
                  <a:schemeClr val="tx1"/>
                </a:solidFill>
                <a:effectLst/>
                <a:latin typeface="+mn-lt"/>
                <a:ea typeface="+mn-ea"/>
                <a:cs typeface="+mn-cs"/>
              </a:rPr>
              <a:t> (Capacité maximum) affiche la quantité disponible, ou le nombre d’individus qui exercent la même fonction ; Dans le projet, il y a 2 architectes, 2 maquettistes et 4 développeurs. Par défaut, la </a:t>
            </a:r>
            <a:r>
              <a:rPr lang="fr-FR" sz="1200" b="1" i="0" kern="1200" dirty="0">
                <a:solidFill>
                  <a:schemeClr val="tx1"/>
                </a:solidFill>
                <a:effectLst/>
                <a:latin typeface="+mn-lt"/>
                <a:ea typeface="+mn-ea"/>
                <a:cs typeface="+mn-cs"/>
              </a:rPr>
              <a:t>Capacité maximum</a:t>
            </a:r>
            <a:r>
              <a:rPr lang="fr-FR" sz="1200" b="0" i="0" kern="1200" dirty="0">
                <a:solidFill>
                  <a:schemeClr val="tx1"/>
                </a:solidFill>
                <a:effectLst/>
                <a:latin typeface="+mn-lt"/>
                <a:ea typeface="+mn-ea"/>
                <a:cs typeface="+mn-cs"/>
              </a:rPr>
              <a:t> s’affiche en pourcentage. Pour l’afficher en </a:t>
            </a:r>
            <a:r>
              <a:rPr lang="fr-FR" sz="1200" b="1" i="0" kern="1200" dirty="0">
                <a:solidFill>
                  <a:schemeClr val="tx1"/>
                </a:solidFill>
                <a:effectLst/>
                <a:latin typeface="+mn-lt"/>
                <a:ea typeface="+mn-ea"/>
                <a:cs typeface="+mn-cs"/>
              </a:rPr>
              <a:t>Décimal</a:t>
            </a:r>
            <a:r>
              <a:rPr lang="fr-FR" sz="1200" b="0" i="0" kern="1200" dirty="0">
                <a:solidFill>
                  <a:schemeClr val="tx1"/>
                </a:solidFill>
                <a:effectLst/>
                <a:latin typeface="+mn-lt"/>
                <a:ea typeface="+mn-ea"/>
                <a:cs typeface="+mn-cs"/>
              </a:rPr>
              <a:t>, modifiez le paramétrage de </a:t>
            </a:r>
            <a:r>
              <a:rPr lang="fr-FR" sz="1200" b="1" i="0" kern="1200" dirty="0">
                <a:solidFill>
                  <a:schemeClr val="tx1"/>
                </a:solidFill>
                <a:effectLst/>
                <a:latin typeface="+mn-lt"/>
                <a:ea typeface="+mn-ea"/>
                <a:cs typeface="+mn-cs"/>
              </a:rPr>
              <a:t>Afficher les unités d’affectation en tant que</a:t>
            </a:r>
            <a:r>
              <a:rPr lang="fr-FR" sz="1200" b="0" i="0" kern="1200" dirty="0">
                <a:solidFill>
                  <a:schemeClr val="tx1"/>
                </a:solidFill>
                <a:effectLst/>
                <a:latin typeface="+mn-lt"/>
                <a:ea typeface="+mn-ea"/>
                <a:cs typeface="+mn-cs"/>
              </a:rPr>
              <a:t> dans </a:t>
            </a:r>
            <a:r>
              <a:rPr lang="fr-FR" sz="1200" b="1" i="0" kern="1200" dirty="0">
                <a:solidFill>
                  <a:schemeClr val="tx1"/>
                </a:solidFill>
                <a:effectLst/>
                <a:latin typeface="+mn-lt"/>
                <a:ea typeface="+mn-ea"/>
                <a:cs typeface="+mn-cs"/>
              </a:rPr>
              <a:t>Fichier - Options - Echéancier</a:t>
            </a:r>
            <a:r>
              <a:rPr lang="fr-FR" sz="1200" b="0" i="0" kern="1200" dirty="0">
                <a:solidFill>
                  <a:schemeClr val="tx1"/>
                </a:solidFill>
                <a:effectLst/>
                <a:latin typeface="+mn-lt"/>
                <a:ea typeface="+mn-ea"/>
                <a:cs typeface="+mn-cs"/>
              </a:rPr>
              <a:t>, zone </a:t>
            </a:r>
            <a:r>
              <a:rPr lang="fr-FR" sz="1200" b="1" i="0" kern="1200" dirty="0">
                <a:solidFill>
                  <a:schemeClr val="tx1"/>
                </a:solidFill>
                <a:effectLst/>
                <a:latin typeface="+mn-lt"/>
                <a:ea typeface="+mn-ea"/>
                <a:cs typeface="+mn-cs"/>
              </a:rPr>
              <a:t>Echéancier.</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err="1">
                <a:solidFill>
                  <a:schemeClr val="tx1"/>
                </a:solidFill>
                <a:effectLst/>
                <a:latin typeface="+mn-lt"/>
                <a:ea typeface="+mn-ea"/>
                <a:cs typeface="+mn-cs"/>
              </a:rPr>
              <a:t>Tx</a:t>
            </a:r>
            <a:r>
              <a:rPr lang="fr-FR" sz="1200" b="1" i="0" kern="1200" dirty="0">
                <a:solidFill>
                  <a:schemeClr val="tx1"/>
                </a:solidFill>
                <a:effectLst/>
                <a:latin typeface="+mn-lt"/>
                <a:ea typeface="+mn-ea"/>
                <a:cs typeface="+mn-cs"/>
              </a:rPr>
              <a:t>. standard</a:t>
            </a:r>
            <a:r>
              <a:rPr lang="fr-FR" sz="1200" b="0" i="0" kern="1200" dirty="0">
                <a:solidFill>
                  <a:schemeClr val="tx1"/>
                </a:solidFill>
                <a:effectLst/>
                <a:latin typeface="+mn-lt"/>
                <a:ea typeface="+mn-ea"/>
                <a:cs typeface="+mn-cs"/>
              </a:rPr>
              <a:t> (Taux standard) est par défaut paramétré en €/h. Indiquez le coût par jour en saisissant par exemple pour le chef de travaux 800/j.</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err="1">
                <a:solidFill>
                  <a:schemeClr val="tx1"/>
                </a:solidFill>
                <a:effectLst/>
                <a:latin typeface="+mn-lt"/>
                <a:ea typeface="+mn-ea"/>
                <a:cs typeface="+mn-cs"/>
              </a:rPr>
              <a:t>Tx</a:t>
            </a:r>
            <a:r>
              <a:rPr lang="fr-FR" sz="1200" b="1" i="0" kern="1200" dirty="0">
                <a:solidFill>
                  <a:schemeClr val="tx1"/>
                </a:solidFill>
                <a:effectLst/>
                <a:latin typeface="+mn-lt"/>
                <a:ea typeface="+mn-ea"/>
                <a:cs typeface="+mn-cs"/>
              </a:rPr>
              <a:t>. </a:t>
            </a:r>
            <a:r>
              <a:rPr lang="fr-FR" sz="1200" b="1" i="0" kern="1200" dirty="0" err="1">
                <a:solidFill>
                  <a:schemeClr val="tx1"/>
                </a:solidFill>
                <a:effectLst/>
                <a:latin typeface="+mn-lt"/>
                <a:ea typeface="+mn-ea"/>
                <a:cs typeface="+mn-cs"/>
              </a:rPr>
              <a:t>hrs</a:t>
            </a:r>
            <a:r>
              <a:rPr lang="fr-FR" sz="1200" b="1" i="0" kern="1200" dirty="0">
                <a:solidFill>
                  <a:schemeClr val="tx1"/>
                </a:solidFill>
                <a:effectLst/>
                <a:latin typeface="+mn-lt"/>
                <a:ea typeface="+mn-ea"/>
                <a:cs typeface="+mn-cs"/>
              </a:rPr>
              <a:t>. sup.</a:t>
            </a:r>
            <a:r>
              <a:rPr lang="fr-FR" sz="1200" b="0" i="0" kern="1200" dirty="0">
                <a:solidFill>
                  <a:schemeClr val="tx1"/>
                </a:solidFill>
                <a:effectLst/>
                <a:latin typeface="+mn-lt"/>
                <a:ea typeface="+mn-ea"/>
                <a:cs typeface="+mn-cs"/>
              </a:rPr>
              <a:t> (Taux heures supplémentaires) affiche le coût de la ressource lorsqu’elle travaille en heures supplémentaires. Comme on ne gère pas les heures supplémentaires, indiquez le même montant.</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Coût/Utilisation</a:t>
            </a:r>
            <a:r>
              <a:rPr lang="fr-FR" sz="1200" b="0" i="0" kern="1200" dirty="0">
                <a:solidFill>
                  <a:schemeClr val="tx1"/>
                </a:solidFill>
                <a:effectLst/>
                <a:latin typeface="+mn-lt"/>
                <a:ea typeface="+mn-ea"/>
                <a:cs typeface="+mn-cs"/>
              </a:rPr>
              <a:t> (Coût par utilisation) permet de saisir un coût forfaitaire d’une ressource qui affectée à une tâche. Cela n’est pas à gérer.</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Allocation</a:t>
            </a:r>
            <a:r>
              <a:rPr lang="fr-FR" sz="1200" b="0" i="0" kern="1200" dirty="0">
                <a:solidFill>
                  <a:schemeClr val="tx1"/>
                </a:solidFill>
                <a:effectLst/>
                <a:latin typeface="+mn-lt"/>
                <a:ea typeface="+mn-ea"/>
                <a:cs typeface="+mn-cs"/>
              </a:rPr>
              <a:t>, par défaut renseigné à Proportion, permet de régler si, lors de la réalisation du projet, les coûts forfaitaires réels seront affectés au prorata </a:t>
            </a:r>
            <a:r>
              <a:rPr lang="fr-FR" sz="1200" b="0" i="0" kern="1200" dirty="0" err="1">
                <a:solidFill>
                  <a:schemeClr val="tx1"/>
                </a:solidFill>
                <a:effectLst/>
                <a:latin typeface="+mn-lt"/>
                <a:ea typeface="+mn-ea"/>
                <a:cs typeface="+mn-cs"/>
              </a:rPr>
              <a:t>temporis</a:t>
            </a:r>
            <a:r>
              <a:rPr lang="fr-FR" sz="1200" b="0" i="0" kern="1200" dirty="0">
                <a:solidFill>
                  <a:schemeClr val="tx1"/>
                </a:solidFill>
                <a:effectLst/>
                <a:latin typeface="+mn-lt"/>
                <a:ea typeface="+mn-ea"/>
                <a:cs typeface="+mn-cs"/>
              </a:rPr>
              <a:t>, 100 % au Début ou 100 % à la Fin de la tâche. Cela n’est pas à gérer.</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Calendrier de base</a:t>
            </a:r>
            <a:r>
              <a:rPr lang="fr-FR" sz="1200" b="0" i="0" kern="1200" dirty="0">
                <a:solidFill>
                  <a:schemeClr val="tx1"/>
                </a:solidFill>
                <a:effectLst/>
                <a:latin typeface="+mn-lt"/>
                <a:ea typeface="+mn-ea"/>
                <a:cs typeface="+mn-cs"/>
              </a:rPr>
              <a:t> permet d’indiquer au logiciel quel modèle utiliser pour créer et gérer le calendrier de la ressource correspondante. Vous verrez cela plus loin dans l’atelier.</a:t>
            </a:r>
          </a:p>
          <a:p>
            <a:pPr marL="171450" indent="-171450">
              <a:buFont typeface="Arial" panose="020B0604020202020204" pitchFamily="34" charset="0"/>
              <a:buChar char="•"/>
            </a:pPr>
            <a:r>
              <a:rPr lang="fr-FR" sz="1200" b="0" i="0" kern="1200" dirty="0">
                <a:solidFill>
                  <a:schemeClr val="tx1"/>
                </a:solidFill>
                <a:effectLst/>
                <a:latin typeface="+mn-lt"/>
                <a:ea typeface="+mn-ea"/>
                <a:cs typeface="+mn-cs"/>
              </a:rPr>
              <a:t>Le champ </a:t>
            </a:r>
            <a:r>
              <a:rPr lang="fr-FR" sz="1200" b="1" i="0" kern="1200" dirty="0">
                <a:solidFill>
                  <a:schemeClr val="tx1"/>
                </a:solidFill>
                <a:effectLst/>
                <a:latin typeface="+mn-lt"/>
                <a:ea typeface="+mn-ea"/>
                <a:cs typeface="+mn-cs"/>
              </a:rPr>
              <a:t>Code</a:t>
            </a:r>
            <a:r>
              <a:rPr lang="fr-FR" sz="1200" b="0" i="0" kern="1200" dirty="0">
                <a:solidFill>
                  <a:schemeClr val="tx1"/>
                </a:solidFill>
                <a:effectLst/>
                <a:latin typeface="+mn-lt"/>
                <a:ea typeface="+mn-ea"/>
                <a:cs typeface="+mn-cs"/>
              </a:rPr>
              <a:t> permet de saisir un code analytique afin de renseigner une comptabilité analytique de projet à partir des informations chiffrées contenues dans le fichier de MS Project.</a:t>
            </a:r>
          </a:p>
          <a:p>
            <a:pPr marL="171450" indent="-171450">
              <a:buFont typeface="Arial" panose="020B0604020202020204" pitchFamily="34" charset="0"/>
              <a:buChar char="•"/>
            </a:pPr>
            <a:endParaRPr lang="fr-FR" dirty="0"/>
          </a:p>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42</a:t>
            </a:fld>
            <a:endParaRPr lang="fr-FR"/>
          </a:p>
        </p:txBody>
      </p:sp>
    </p:spTree>
    <p:extLst>
      <p:ext uri="{BB962C8B-B14F-4D97-AF65-F5344CB8AC3E}">
        <p14:creationId xmlns:p14="http://schemas.microsoft.com/office/powerpoint/2010/main" val="10568115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43</a:t>
            </a:fld>
            <a:endParaRPr lang="fr-FR" dirty="0"/>
          </a:p>
        </p:txBody>
      </p:sp>
    </p:spTree>
    <p:extLst>
      <p:ext uri="{BB962C8B-B14F-4D97-AF65-F5344CB8AC3E}">
        <p14:creationId xmlns:p14="http://schemas.microsoft.com/office/powerpoint/2010/main" val="787621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44</a:t>
            </a:fld>
            <a:endParaRPr lang="fr-FR"/>
          </a:p>
        </p:txBody>
      </p:sp>
    </p:spTree>
    <p:extLst>
      <p:ext uri="{BB962C8B-B14F-4D97-AF65-F5344CB8AC3E}">
        <p14:creationId xmlns:p14="http://schemas.microsoft.com/office/powerpoint/2010/main" val="23309793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45</a:t>
            </a:fld>
            <a:endParaRPr lang="fr-FR"/>
          </a:p>
        </p:txBody>
      </p:sp>
    </p:spTree>
    <p:extLst>
      <p:ext uri="{BB962C8B-B14F-4D97-AF65-F5344CB8AC3E}">
        <p14:creationId xmlns:p14="http://schemas.microsoft.com/office/powerpoint/2010/main" val="11121028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46</a:t>
            </a:fld>
            <a:endParaRPr lang="fr-FR"/>
          </a:p>
        </p:txBody>
      </p:sp>
    </p:spTree>
    <p:extLst>
      <p:ext uri="{BB962C8B-B14F-4D97-AF65-F5344CB8AC3E}">
        <p14:creationId xmlns:p14="http://schemas.microsoft.com/office/powerpoint/2010/main" val="9749697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47</a:t>
            </a:fld>
            <a:endParaRPr lang="fr-FR"/>
          </a:p>
        </p:txBody>
      </p:sp>
    </p:spTree>
    <p:extLst>
      <p:ext uri="{BB962C8B-B14F-4D97-AF65-F5344CB8AC3E}">
        <p14:creationId xmlns:p14="http://schemas.microsoft.com/office/powerpoint/2010/main" val="39268027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48</a:t>
            </a:fld>
            <a:endParaRPr lang="fr-FR"/>
          </a:p>
        </p:txBody>
      </p:sp>
    </p:spTree>
    <p:extLst>
      <p:ext uri="{BB962C8B-B14F-4D97-AF65-F5344CB8AC3E}">
        <p14:creationId xmlns:p14="http://schemas.microsoft.com/office/powerpoint/2010/main" val="24260578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49</a:t>
            </a:fld>
            <a:endParaRPr lang="fr-FR"/>
          </a:p>
        </p:txBody>
      </p:sp>
    </p:spTree>
    <p:extLst>
      <p:ext uri="{BB962C8B-B14F-4D97-AF65-F5344CB8AC3E}">
        <p14:creationId xmlns:p14="http://schemas.microsoft.com/office/powerpoint/2010/main" val="21944386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50</a:t>
            </a:fld>
            <a:endParaRPr lang="fr-FR"/>
          </a:p>
        </p:txBody>
      </p:sp>
    </p:spTree>
    <p:extLst>
      <p:ext uri="{BB962C8B-B14F-4D97-AF65-F5344CB8AC3E}">
        <p14:creationId xmlns:p14="http://schemas.microsoft.com/office/powerpoint/2010/main" val="11413679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51</a:t>
            </a:fld>
            <a:endParaRPr lang="fr-FR"/>
          </a:p>
        </p:txBody>
      </p:sp>
    </p:spTree>
    <p:extLst>
      <p:ext uri="{BB962C8B-B14F-4D97-AF65-F5344CB8AC3E}">
        <p14:creationId xmlns:p14="http://schemas.microsoft.com/office/powerpoint/2010/main" val="19829714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52</a:t>
            </a:fld>
            <a:endParaRPr lang="fr-FR"/>
          </a:p>
        </p:txBody>
      </p:sp>
    </p:spTree>
    <p:extLst>
      <p:ext uri="{BB962C8B-B14F-4D97-AF65-F5344CB8AC3E}">
        <p14:creationId xmlns:p14="http://schemas.microsoft.com/office/powerpoint/2010/main" val="35743723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53</a:t>
            </a:fld>
            <a:endParaRPr lang="fr-FR"/>
          </a:p>
        </p:txBody>
      </p:sp>
    </p:spTree>
    <p:extLst>
      <p:ext uri="{BB962C8B-B14F-4D97-AF65-F5344CB8AC3E}">
        <p14:creationId xmlns:p14="http://schemas.microsoft.com/office/powerpoint/2010/main" val="20519041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54</a:t>
            </a:fld>
            <a:endParaRPr lang="fr-FR"/>
          </a:p>
        </p:txBody>
      </p:sp>
    </p:spTree>
    <p:extLst>
      <p:ext uri="{BB962C8B-B14F-4D97-AF65-F5344CB8AC3E}">
        <p14:creationId xmlns:p14="http://schemas.microsoft.com/office/powerpoint/2010/main" val="40130064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55</a:t>
            </a:fld>
            <a:endParaRPr lang="fr-FR"/>
          </a:p>
        </p:txBody>
      </p:sp>
    </p:spTree>
    <p:extLst>
      <p:ext uri="{BB962C8B-B14F-4D97-AF65-F5344CB8AC3E}">
        <p14:creationId xmlns:p14="http://schemas.microsoft.com/office/powerpoint/2010/main" val="29466236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56</a:t>
            </a:fld>
            <a:endParaRPr lang="fr-FR"/>
          </a:p>
        </p:txBody>
      </p:sp>
    </p:spTree>
    <p:extLst>
      <p:ext uri="{BB962C8B-B14F-4D97-AF65-F5344CB8AC3E}">
        <p14:creationId xmlns:p14="http://schemas.microsoft.com/office/powerpoint/2010/main" val="28301948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57</a:t>
            </a:fld>
            <a:endParaRPr lang="fr-FR" dirty="0"/>
          </a:p>
        </p:txBody>
      </p:sp>
    </p:spTree>
    <p:extLst>
      <p:ext uri="{BB962C8B-B14F-4D97-AF65-F5344CB8AC3E}">
        <p14:creationId xmlns:p14="http://schemas.microsoft.com/office/powerpoint/2010/main" val="9075113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58</a:t>
            </a:fld>
            <a:endParaRPr lang="fr-FR"/>
          </a:p>
        </p:txBody>
      </p:sp>
    </p:spTree>
    <p:extLst>
      <p:ext uri="{BB962C8B-B14F-4D97-AF65-F5344CB8AC3E}">
        <p14:creationId xmlns:p14="http://schemas.microsoft.com/office/powerpoint/2010/main" val="30960261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59</a:t>
            </a:fld>
            <a:endParaRPr lang="fr-FR"/>
          </a:p>
        </p:txBody>
      </p:sp>
    </p:spTree>
    <p:extLst>
      <p:ext uri="{BB962C8B-B14F-4D97-AF65-F5344CB8AC3E}">
        <p14:creationId xmlns:p14="http://schemas.microsoft.com/office/powerpoint/2010/main" val="30741923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60</a:t>
            </a:fld>
            <a:endParaRPr lang="fr-FR"/>
          </a:p>
        </p:txBody>
      </p:sp>
    </p:spTree>
    <p:extLst>
      <p:ext uri="{BB962C8B-B14F-4D97-AF65-F5344CB8AC3E}">
        <p14:creationId xmlns:p14="http://schemas.microsoft.com/office/powerpoint/2010/main" val="41911627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61</a:t>
            </a:fld>
            <a:endParaRPr lang="fr-FR"/>
          </a:p>
        </p:txBody>
      </p:sp>
    </p:spTree>
    <p:extLst>
      <p:ext uri="{BB962C8B-B14F-4D97-AF65-F5344CB8AC3E}">
        <p14:creationId xmlns:p14="http://schemas.microsoft.com/office/powerpoint/2010/main" val="24990170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62</a:t>
            </a:fld>
            <a:endParaRPr lang="fr-FR"/>
          </a:p>
        </p:txBody>
      </p:sp>
    </p:spTree>
    <p:extLst>
      <p:ext uri="{BB962C8B-B14F-4D97-AF65-F5344CB8AC3E}">
        <p14:creationId xmlns:p14="http://schemas.microsoft.com/office/powerpoint/2010/main" val="36457892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63</a:t>
            </a:fld>
            <a:endParaRPr lang="fr-FR"/>
          </a:p>
        </p:txBody>
      </p:sp>
    </p:spTree>
    <p:extLst>
      <p:ext uri="{BB962C8B-B14F-4D97-AF65-F5344CB8AC3E}">
        <p14:creationId xmlns:p14="http://schemas.microsoft.com/office/powerpoint/2010/main" val="6893593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64</a:t>
            </a:fld>
            <a:endParaRPr lang="fr-FR"/>
          </a:p>
        </p:txBody>
      </p:sp>
    </p:spTree>
    <p:extLst>
      <p:ext uri="{BB962C8B-B14F-4D97-AF65-F5344CB8AC3E}">
        <p14:creationId xmlns:p14="http://schemas.microsoft.com/office/powerpoint/2010/main" val="38548750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65</a:t>
            </a:fld>
            <a:endParaRPr lang="fr-FR"/>
          </a:p>
        </p:txBody>
      </p:sp>
    </p:spTree>
    <p:extLst>
      <p:ext uri="{BB962C8B-B14F-4D97-AF65-F5344CB8AC3E}">
        <p14:creationId xmlns:p14="http://schemas.microsoft.com/office/powerpoint/2010/main" val="9917365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buFont typeface="Arial" panose="020B0604020202020204" pitchFamily="34" charset="0"/>
              <a:buNone/>
            </a:pPr>
            <a:endParaRPr lang="fr-FR" b="1"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66</a:t>
            </a:fld>
            <a:endParaRPr lang="fr-FR"/>
          </a:p>
        </p:txBody>
      </p:sp>
    </p:spTree>
    <p:extLst>
      <p:ext uri="{BB962C8B-B14F-4D97-AF65-F5344CB8AC3E}">
        <p14:creationId xmlns:p14="http://schemas.microsoft.com/office/powerpoint/2010/main" val="30401921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67</a:t>
            </a:fld>
            <a:endParaRPr lang="fr-FR"/>
          </a:p>
        </p:txBody>
      </p:sp>
    </p:spTree>
    <p:extLst>
      <p:ext uri="{BB962C8B-B14F-4D97-AF65-F5344CB8AC3E}">
        <p14:creationId xmlns:p14="http://schemas.microsoft.com/office/powerpoint/2010/main" val="36931808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68</a:t>
            </a:fld>
            <a:endParaRPr lang="fr-FR"/>
          </a:p>
        </p:txBody>
      </p:sp>
    </p:spTree>
    <p:extLst>
      <p:ext uri="{BB962C8B-B14F-4D97-AF65-F5344CB8AC3E}">
        <p14:creationId xmlns:p14="http://schemas.microsoft.com/office/powerpoint/2010/main" val="6803817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69</a:t>
            </a:fld>
            <a:endParaRPr lang="fr-FR"/>
          </a:p>
        </p:txBody>
      </p:sp>
    </p:spTree>
    <p:extLst>
      <p:ext uri="{BB962C8B-B14F-4D97-AF65-F5344CB8AC3E}">
        <p14:creationId xmlns:p14="http://schemas.microsoft.com/office/powerpoint/2010/main" val="21931546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70</a:t>
            </a:fld>
            <a:endParaRPr lang="fr-FR"/>
          </a:p>
        </p:txBody>
      </p:sp>
    </p:spTree>
    <p:extLst>
      <p:ext uri="{BB962C8B-B14F-4D97-AF65-F5344CB8AC3E}">
        <p14:creationId xmlns:p14="http://schemas.microsoft.com/office/powerpoint/2010/main" val="8456033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71</a:t>
            </a:fld>
            <a:endParaRPr lang="fr-FR"/>
          </a:p>
        </p:txBody>
      </p:sp>
    </p:spTree>
    <p:extLst>
      <p:ext uri="{BB962C8B-B14F-4D97-AF65-F5344CB8AC3E}">
        <p14:creationId xmlns:p14="http://schemas.microsoft.com/office/powerpoint/2010/main" val="10058552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72</a:t>
            </a:fld>
            <a:endParaRPr lang="fr-FR"/>
          </a:p>
        </p:txBody>
      </p:sp>
    </p:spTree>
    <p:extLst>
      <p:ext uri="{BB962C8B-B14F-4D97-AF65-F5344CB8AC3E}">
        <p14:creationId xmlns:p14="http://schemas.microsoft.com/office/powerpoint/2010/main" val="3064442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73</a:t>
            </a:fld>
            <a:endParaRPr lang="fr-FR"/>
          </a:p>
        </p:txBody>
      </p:sp>
    </p:spTree>
    <p:extLst>
      <p:ext uri="{BB962C8B-B14F-4D97-AF65-F5344CB8AC3E}">
        <p14:creationId xmlns:p14="http://schemas.microsoft.com/office/powerpoint/2010/main" val="32258525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74</a:t>
            </a:fld>
            <a:endParaRPr lang="fr-FR"/>
          </a:p>
        </p:txBody>
      </p:sp>
    </p:spTree>
    <p:extLst>
      <p:ext uri="{BB962C8B-B14F-4D97-AF65-F5344CB8AC3E}">
        <p14:creationId xmlns:p14="http://schemas.microsoft.com/office/powerpoint/2010/main" val="14290378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75</a:t>
            </a:fld>
            <a:endParaRPr lang="fr-FR"/>
          </a:p>
        </p:txBody>
      </p:sp>
    </p:spTree>
    <p:extLst>
      <p:ext uri="{BB962C8B-B14F-4D97-AF65-F5344CB8AC3E}">
        <p14:creationId xmlns:p14="http://schemas.microsoft.com/office/powerpoint/2010/main" val="32391865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76</a:t>
            </a:fld>
            <a:endParaRPr lang="fr-FR"/>
          </a:p>
        </p:txBody>
      </p:sp>
    </p:spTree>
    <p:extLst>
      <p:ext uri="{BB962C8B-B14F-4D97-AF65-F5344CB8AC3E}">
        <p14:creationId xmlns:p14="http://schemas.microsoft.com/office/powerpoint/2010/main" val="8885844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77</a:t>
            </a:fld>
            <a:endParaRPr lang="fr-FR"/>
          </a:p>
        </p:txBody>
      </p:sp>
    </p:spTree>
    <p:extLst>
      <p:ext uri="{BB962C8B-B14F-4D97-AF65-F5344CB8AC3E}">
        <p14:creationId xmlns:p14="http://schemas.microsoft.com/office/powerpoint/2010/main" val="39788035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78</a:t>
            </a:fld>
            <a:endParaRPr lang="fr-FR"/>
          </a:p>
        </p:txBody>
      </p:sp>
    </p:spTree>
    <p:extLst>
      <p:ext uri="{BB962C8B-B14F-4D97-AF65-F5344CB8AC3E}">
        <p14:creationId xmlns:p14="http://schemas.microsoft.com/office/powerpoint/2010/main" val="22425356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79</a:t>
            </a:fld>
            <a:endParaRPr lang="fr-FR"/>
          </a:p>
        </p:txBody>
      </p:sp>
    </p:spTree>
    <p:extLst>
      <p:ext uri="{BB962C8B-B14F-4D97-AF65-F5344CB8AC3E}">
        <p14:creationId xmlns:p14="http://schemas.microsoft.com/office/powerpoint/2010/main" val="33811985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80</a:t>
            </a:fld>
            <a:endParaRPr lang="fr-FR" dirty="0"/>
          </a:p>
        </p:txBody>
      </p:sp>
    </p:spTree>
    <p:extLst>
      <p:ext uri="{BB962C8B-B14F-4D97-AF65-F5344CB8AC3E}">
        <p14:creationId xmlns:p14="http://schemas.microsoft.com/office/powerpoint/2010/main" val="22589321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81</a:t>
            </a:fld>
            <a:endParaRPr lang="fr-FR"/>
          </a:p>
        </p:txBody>
      </p:sp>
    </p:spTree>
    <p:extLst>
      <p:ext uri="{BB962C8B-B14F-4D97-AF65-F5344CB8AC3E}">
        <p14:creationId xmlns:p14="http://schemas.microsoft.com/office/powerpoint/2010/main" val="8007956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82</a:t>
            </a:fld>
            <a:endParaRPr lang="fr-FR"/>
          </a:p>
        </p:txBody>
      </p:sp>
    </p:spTree>
    <p:extLst>
      <p:ext uri="{BB962C8B-B14F-4D97-AF65-F5344CB8AC3E}">
        <p14:creationId xmlns:p14="http://schemas.microsoft.com/office/powerpoint/2010/main" val="41774874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83</a:t>
            </a:fld>
            <a:endParaRPr lang="fr-FR"/>
          </a:p>
        </p:txBody>
      </p:sp>
    </p:spTree>
    <p:extLst>
      <p:ext uri="{BB962C8B-B14F-4D97-AF65-F5344CB8AC3E}">
        <p14:creationId xmlns:p14="http://schemas.microsoft.com/office/powerpoint/2010/main" val="40680431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84</a:t>
            </a:fld>
            <a:endParaRPr lang="fr-FR"/>
          </a:p>
        </p:txBody>
      </p:sp>
    </p:spTree>
    <p:extLst>
      <p:ext uri="{BB962C8B-B14F-4D97-AF65-F5344CB8AC3E}">
        <p14:creationId xmlns:p14="http://schemas.microsoft.com/office/powerpoint/2010/main" val="14987446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85</a:t>
            </a:fld>
            <a:endParaRPr lang="fr-FR"/>
          </a:p>
        </p:txBody>
      </p:sp>
    </p:spTree>
    <p:extLst>
      <p:ext uri="{BB962C8B-B14F-4D97-AF65-F5344CB8AC3E}">
        <p14:creationId xmlns:p14="http://schemas.microsoft.com/office/powerpoint/2010/main" val="398028979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86</a:t>
            </a:fld>
            <a:endParaRPr lang="fr-FR"/>
          </a:p>
        </p:txBody>
      </p:sp>
    </p:spTree>
    <p:extLst>
      <p:ext uri="{BB962C8B-B14F-4D97-AF65-F5344CB8AC3E}">
        <p14:creationId xmlns:p14="http://schemas.microsoft.com/office/powerpoint/2010/main" val="37083094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87</a:t>
            </a:fld>
            <a:endParaRPr lang="fr-FR"/>
          </a:p>
        </p:txBody>
      </p:sp>
    </p:spTree>
    <p:extLst>
      <p:ext uri="{BB962C8B-B14F-4D97-AF65-F5344CB8AC3E}">
        <p14:creationId xmlns:p14="http://schemas.microsoft.com/office/powerpoint/2010/main" val="19651809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88</a:t>
            </a:fld>
            <a:endParaRPr lang="fr-FR"/>
          </a:p>
        </p:txBody>
      </p:sp>
    </p:spTree>
    <p:extLst>
      <p:ext uri="{BB962C8B-B14F-4D97-AF65-F5344CB8AC3E}">
        <p14:creationId xmlns:p14="http://schemas.microsoft.com/office/powerpoint/2010/main" val="108488605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89</a:t>
            </a:fld>
            <a:endParaRPr lang="fr-FR"/>
          </a:p>
        </p:txBody>
      </p:sp>
    </p:spTree>
    <p:extLst>
      <p:ext uri="{BB962C8B-B14F-4D97-AF65-F5344CB8AC3E}">
        <p14:creationId xmlns:p14="http://schemas.microsoft.com/office/powerpoint/2010/main" val="414207368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90</a:t>
            </a:fld>
            <a:endParaRPr lang="fr-FR"/>
          </a:p>
        </p:txBody>
      </p:sp>
    </p:spTree>
    <p:extLst>
      <p:ext uri="{BB962C8B-B14F-4D97-AF65-F5344CB8AC3E}">
        <p14:creationId xmlns:p14="http://schemas.microsoft.com/office/powerpoint/2010/main" val="113484745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91</a:t>
            </a:fld>
            <a:endParaRPr lang="fr-FR" dirty="0"/>
          </a:p>
        </p:txBody>
      </p:sp>
    </p:spTree>
    <p:extLst>
      <p:ext uri="{BB962C8B-B14F-4D97-AF65-F5344CB8AC3E}">
        <p14:creationId xmlns:p14="http://schemas.microsoft.com/office/powerpoint/2010/main" val="249661170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92</a:t>
            </a:fld>
            <a:endParaRPr lang="fr-FR"/>
          </a:p>
        </p:txBody>
      </p:sp>
    </p:spTree>
    <p:extLst>
      <p:ext uri="{BB962C8B-B14F-4D97-AF65-F5344CB8AC3E}">
        <p14:creationId xmlns:p14="http://schemas.microsoft.com/office/powerpoint/2010/main" val="140201486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93</a:t>
            </a:fld>
            <a:endParaRPr lang="fr-FR"/>
          </a:p>
        </p:txBody>
      </p:sp>
    </p:spTree>
    <p:extLst>
      <p:ext uri="{BB962C8B-B14F-4D97-AF65-F5344CB8AC3E}">
        <p14:creationId xmlns:p14="http://schemas.microsoft.com/office/powerpoint/2010/main" val="393280644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94</a:t>
            </a:fld>
            <a:endParaRPr lang="fr-FR" dirty="0"/>
          </a:p>
        </p:txBody>
      </p:sp>
    </p:spTree>
    <p:extLst>
      <p:ext uri="{BB962C8B-B14F-4D97-AF65-F5344CB8AC3E}">
        <p14:creationId xmlns:p14="http://schemas.microsoft.com/office/powerpoint/2010/main" val="360033202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95</a:t>
            </a:fld>
            <a:endParaRPr lang="fr-FR"/>
          </a:p>
        </p:txBody>
      </p:sp>
    </p:spTree>
    <p:extLst>
      <p:ext uri="{BB962C8B-B14F-4D97-AF65-F5344CB8AC3E}">
        <p14:creationId xmlns:p14="http://schemas.microsoft.com/office/powerpoint/2010/main" val="318191352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lgn="l">
              <a:buFont typeface="Arial" panose="020B0604020202020204" pitchFamily="34" charset="0"/>
              <a:buNone/>
            </a:pPr>
            <a:endParaRPr lang="fr-FR" dirty="0"/>
          </a:p>
        </p:txBody>
      </p:sp>
      <p:sp>
        <p:nvSpPr>
          <p:cNvPr id="4" name="Espace réservé du numéro de diapositive 3"/>
          <p:cNvSpPr>
            <a:spLocks noGrp="1"/>
          </p:cNvSpPr>
          <p:nvPr>
            <p:ph type="sldNum" sz="quarter" idx="10"/>
          </p:nvPr>
        </p:nvSpPr>
        <p:spPr/>
        <p:txBody>
          <a:bodyPr/>
          <a:lstStyle/>
          <a:p>
            <a:fld id="{CAE88226-737E-4FAF-B603-CC8E46420395}" type="slidenum">
              <a:rPr lang="fr-FR" smtClean="0"/>
              <a:pPr/>
              <a:t>96</a:t>
            </a:fld>
            <a:endParaRPr lang="fr-FR"/>
          </a:p>
        </p:txBody>
      </p:sp>
    </p:spTree>
    <p:extLst>
      <p:ext uri="{BB962C8B-B14F-4D97-AF65-F5344CB8AC3E}">
        <p14:creationId xmlns:p14="http://schemas.microsoft.com/office/powerpoint/2010/main" val="2419121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fr-FR"/>
              <a:t>Modifiez le style du titre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AA309A6D-C09C-4548-B29A-6CF363A7E532}" type="datetimeFigureOut">
              <a:rPr lang="fr-FR" smtClean="0"/>
              <a:pPr/>
              <a:t>15/10/2025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pPr/>
              <a:t>‹N°›</a:t>
            </a:fld>
            <a:endParaRPr lang="fr-BE"/>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AA309A6D-C09C-4548-B29A-6CF363A7E532}" type="datetimeFigureOut">
              <a:rPr lang="fr-FR" smtClean="0"/>
              <a:pPr/>
              <a:t>15/10/2025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fr-FR"/>
              <a:t>Modifiez le style du titre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AA309A6D-C09C-4548-B29A-6CF363A7E532}" type="datetimeFigureOut">
              <a:rPr lang="fr-FR" smtClean="0"/>
              <a:pPr/>
              <a:t>15/10/2025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pPr/>
              <a:t>‹N°›</a:t>
            </a:fld>
            <a:endParaRPr lang="fr-BE"/>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A309A6D-C09C-4548-B29A-6CF363A7E532}" type="datetimeFigureOut">
              <a:rPr lang="fr-FR" smtClean="0"/>
              <a:pPr/>
              <a:t>15/10/2025</a:t>
            </a:fld>
            <a:endParaRPr lang="fr-BE"/>
          </a:p>
        </p:txBody>
      </p:sp>
      <p:sp>
        <p:nvSpPr>
          <p:cNvPr id="6" name="Footer Placeholder 5"/>
          <p:cNvSpPr>
            <a:spLocks noGrp="1"/>
          </p:cNvSpPr>
          <p:nvPr>
            <p:ph type="ftr" sz="quarter" idx="11"/>
          </p:nvPr>
        </p:nvSpPr>
        <p:spPr/>
        <p:txBody>
          <a:bodyPr/>
          <a:lstStyle/>
          <a:p>
            <a:endParaRPr lang="fr-BE"/>
          </a:p>
        </p:txBody>
      </p:sp>
      <p:sp>
        <p:nvSpPr>
          <p:cNvPr id="7" name="Slide Number Placeholder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AA309A6D-C09C-4548-B29A-6CF363A7E532}" type="datetimeFigureOut">
              <a:rPr lang="fr-FR" smtClean="0"/>
              <a:pPr/>
              <a:t>15/10/2025</a:t>
            </a:fld>
            <a:endParaRPr lang="fr-BE"/>
          </a:p>
        </p:txBody>
      </p:sp>
      <p:sp>
        <p:nvSpPr>
          <p:cNvPr id="8" name="Footer Placeholder 7"/>
          <p:cNvSpPr>
            <a:spLocks noGrp="1"/>
          </p:cNvSpPr>
          <p:nvPr>
            <p:ph type="ftr" sz="quarter" idx="11"/>
          </p:nvPr>
        </p:nvSpPr>
        <p:spPr/>
        <p:txBody>
          <a:bodyPr/>
          <a:lstStyle/>
          <a:p>
            <a:endParaRPr lang="fr-BE"/>
          </a:p>
        </p:txBody>
      </p:sp>
      <p:sp>
        <p:nvSpPr>
          <p:cNvPr id="9" name="Slide Number Placeholder 8"/>
          <p:cNvSpPr>
            <a:spLocks noGrp="1"/>
          </p:cNvSpPr>
          <p:nvPr>
            <p:ph type="sldNum" sz="quarter" idx="12"/>
          </p:nvPr>
        </p:nvSpPr>
        <p:spPr/>
        <p:txBody>
          <a:bodyPr/>
          <a:lstStyle/>
          <a:p>
            <a:fld id="{CF4668DC-857F-487D-BFFA-8C0CA5037977}" type="slidenum">
              <a:rPr lang="fr-BE" smtClean="0"/>
              <a:pPr/>
              <a:t>‹N°›</a:t>
            </a:fld>
            <a:endParaRPr lang="fr-BE"/>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AA309A6D-C09C-4548-B29A-6CF363A7E532}" type="datetimeFigureOut">
              <a:rPr lang="fr-FR" smtClean="0"/>
              <a:pPr/>
              <a:t>15/10/2025</a:t>
            </a:fld>
            <a:endParaRPr lang="fr-BE"/>
          </a:p>
        </p:txBody>
      </p:sp>
      <p:sp>
        <p:nvSpPr>
          <p:cNvPr id="4" name="Footer Placeholder 3"/>
          <p:cNvSpPr>
            <a:spLocks noGrp="1"/>
          </p:cNvSpPr>
          <p:nvPr>
            <p:ph type="ftr" sz="quarter" idx="11"/>
          </p:nvPr>
        </p:nvSpPr>
        <p:spPr/>
        <p:txBody>
          <a:bodyPr/>
          <a:lstStyle/>
          <a:p>
            <a:endParaRPr lang="fr-BE"/>
          </a:p>
        </p:txBody>
      </p:sp>
      <p:sp>
        <p:nvSpPr>
          <p:cNvPr id="5" name="Slide Number Placeholder 4"/>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309A6D-C09C-4548-B29A-6CF363A7E532}" type="datetimeFigureOut">
              <a:rPr lang="fr-FR" smtClean="0"/>
              <a:pPr/>
              <a:t>15/10/2025</a:t>
            </a:fld>
            <a:endParaRPr lang="fr-BE"/>
          </a:p>
        </p:txBody>
      </p:sp>
      <p:sp>
        <p:nvSpPr>
          <p:cNvPr id="3" name="Footer Placeholder 2"/>
          <p:cNvSpPr>
            <a:spLocks noGrp="1"/>
          </p:cNvSpPr>
          <p:nvPr>
            <p:ph type="ftr" sz="quarter" idx="11"/>
          </p:nvPr>
        </p:nvSpPr>
        <p:spPr/>
        <p:txBody>
          <a:bodyPr/>
          <a:lstStyle/>
          <a:p>
            <a:endParaRPr lang="fr-BE"/>
          </a:p>
        </p:txBody>
      </p:sp>
      <p:sp>
        <p:nvSpPr>
          <p:cNvPr id="4" name="Slide Number Placeholder 3"/>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AA309A6D-C09C-4548-B29A-6CF363A7E532}" type="datetimeFigureOut">
              <a:rPr lang="fr-FR" smtClean="0"/>
              <a:pPr/>
              <a:t>15/10/2025</a:t>
            </a:fld>
            <a:endParaRPr lang="fr-BE"/>
          </a:p>
        </p:txBody>
      </p:sp>
      <p:sp>
        <p:nvSpPr>
          <p:cNvPr id="6" name="Footer Placeholder 5"/>
          <p:cNvSpPr>
            <a:spLocks noGrp="1"/>
          </p:cNvSpPr>
          <p:nvPr>
            <p:ph type="ftr" sz="quarter" idx="11"/>
          </p:nvPr>
        </p:nvSpPr>
        <p:spPr/>
        <p:txBody>
          <a:bodyPr/>
          <a:lstStyle/>
          <a:p>
            <a:endParaRPr lang="fr-BE"/>
          </a:p>
        </p:txBody>
      </p:sp>
      <p:sp>
        <p:nvSpPr>
          <p:cNvPr id="7" name="Slide Number Placeholder 6"/>
          <p:cNvSpPr>
            <a:spLocks noGrp="1"/>
          </p:cNvSpPr>
          <p:nvPr>
            <p:ph type="sldNum" sz="quarter" idx="12"/>
          </p:nvPr>
        </p:nvSpPr>
        <p:spPr/>
        <p:txBody>
          <a:bodyPr/>
          <a:lstStyle/>
          <a:p>
            <a:fld id="{CF4668DC-857F-487D-BFFA-8C0CA5037977}" type="slidenum">
              <a:rPr lang="fr-BE" smtClean="0"/>
              <a:pPr/>
              <a:t>‹N°›</a:t>
            </a:fld>
            <a:endParaRPr lang="fr-BE"/>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AA309A6D-C09C-4548-B29A-6CF363A7E532}" type="datetimeFigureOut">
              <a:rPr lang="fr-FR" smtClean="0"/>
              <a:pPr/>
              <a:t>15/10/2025</a:t>
            </a:fld>
            <a:endParaRPr lang="fr-BE"/>
          </a:p>
        </p:txBody>
      </p:sp>
      <p:sp>
        <p:nvSpPr>
          <p:cNvPr id="6" name="Footer Placeholder 5"/>
          <p:cNvSpPr>
            <a:spLocks noGrp="1"/>
          </p:cNvSpPr>
          <p:nvPr>
            <p:ph type="ftr" sz="quarter" idx="11"/>
          </p:nvPr>
        </p:nvSpPr>
        <p:spPr/>
        <p:txBody>
          <a:bodyPr/>
          <a:lstStyle/>
          <a:p>
            <a:endParaRPr lang="fr-BE"/>
          </a:p>
        </p:txBody>
      </p:sp>
      <p:sp>
        <p:nvSpPr>
          <p:cNvPr id="7" name="Slide Number Placeholder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AA309A6D-C09C-4548-B29A-6CF363A7E532}" type="datetimeFigureOut">
              <a:rPr lang="fr-FR" smtClean="0"/>
              <a:pPr/>
              <a:t>15/10/2025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fr-FR"/>
              <a:t>Modifiez le style du titre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A309A6D-C09C-4548-B29A-6CF363A7E532}" type="datetimeFigureOut">
              <a:rPr lang="fr-FR" smtClean="0"/>
              <a:pPr/>
              <a:t>15/10/2025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AA309A6D-C09C-4548-B29A-6CF363A7E532}" type="datetimeFigureOut">
              <a:rPr lang="fr-FR" smtClean="0"/>
              <a:pPr/>
              <a:t>15/10/2025</a:t>
            </a:fld>
            <a:endParaRPr lang="fr-BE"/>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fr-BE"/>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CF4668DC-857F-487D-BFFA-8C0CA5037977}" type="slidenum">
              <a:rPr lang="fr-BE" smtClean="0"/>
              <a:pPr/>
              <a:t>‹N°›</a:t>
            </a:fld>
            <a:endParaRPr lang="fr-BE"/>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dorothee.koe@hotmail.f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a:t>Méthodologie de la gestion de projet</a:t>
            </a:r>
          </a:p>
        </p:txBody>
      </p:sp>
      <p:sp>
        <p:nvSpPr>
          <p:cNvPr id="3" name="Sous-titre 2"/>
          <p:cNvSpPr>
            <a:spLocks noGrp="1"/>
          </p:cNvSpPr>
          <p:nvPr>
            <p:ph type="subTitle" idx="1"/>
          </p:nvPr>
        </p:nvSpPr>
        <p:spPr>
          <a:xfrm>
            <a:off x="685800" y="3721224"/>
            <a:ext cx="8278688" cy="2876128"/>
          </a:xfrm>
        </p:spPr>
        <p:txBody>
          <a:bodyPr>
            <a:normAutofit fontScale="92500" lnSpcReduction="10000"/>
          </a:bodyPr>
          <a:lstStyle/>
          <a:p>
            <a:r>
              <a:rPr lang="fr-FR" dirty="0"/>
              <a:t>Mercredi 15 octobre 2025</a:t>
            </a:r>
          </a:p>
          <a:p>
            <a:br>
              <a:rPr lang="fr-FR" dirty="0"/>
            </a:br>
            <a:br>
              <a:rPr lang="fr-FR" dirty="0"/>
            </a:br>
            <a:r>
              <a:rPr lang="fr-FR" dirty="0"/>
              <a:t>LP MRT 2025-2026</a:t>
            </a:r>
          </a:p>
          <a:p>
            <a:r>
              <a:rPr lang="fr-FR" dirty="0"/>
              <a:t>IUT de Cachan – Université Paris Sud – Université Paris Saclay </a:t>
            </a:r>
          </a:p>
          <a:p>
            <a:endParaRPr lang="fr-FR" dirty="0"/>
          </a:p>
          <a:p>
            <a:r>
              <a:rPr lang="fr-FR" dirty="0"/>
              <a:t>Intervenant : Dorothée KOE EFFALA</a:t>
            </a:r>
          </a:p>
          <a:p>
            <a:r>
              <a:rPr lang="fr-FR" dirty="0">
                <a:hlinkClick r:id="rId3"/>
              </a:rPr>
              <a:t>dorothee.koe@hotmail.fr</a:t>
            </a:r>
            <a:endParaRPr lang="fr-FR" dirty="0"/>
          </a:p>
          <a:p>
            <a:endParaRPr lang="fr-FR" dirty="0"/>
          </a:p>
          <a:p>
            <a:endParaRPr lang="fr-FR" dirty="0"/>
          </a:p>
        </p:txBody>
      </p:sp>
      <p:pic>
        <p:nvPicPr>
          <p:cNvPr id="5" name="Image 4">
            <a:extLst>
              <a:ext uri="{FF2B5EF4-FFF2-40B4-BE49-F238E27FC236}">
                <a16:creationId xmlns:a16="http://schemas.microsoft.com/office/drawing/2014/main" id="{1EA8896C-D5D6-4744-AE16-2907B08E647E}"/>
              </a:ext>
            </a:extLst>
          </p:cNvPr>
          <p:cNvPicPr>
            <a:picLocks noChangeAspect="1"/>
          </p:cNvPicPr>
          <p:nvPr/>
        </p:nvPicPr>
        <p:blipFill>
          <a:blip r:embed="rId4"/>
          <a:stretch>
            <a:fillRect/>
          </a:stretch>
        </p:blipFill>
        <p:spPr>
          <a:xfrm>
            <a:off x="4786386" y="3429000"/>
            <a:ext cx="3818062" cy="1000770"/>
          </a:xfrm>
          <a:prstGeom prst="rect">
            <a:avLst/>
          </a:prstGeom>
        </p:spPr>
      </p:pic>
    </p:spTree>
    <p:extLst>
      <p:ext uri="{BB962C8B-B14F-4D97-AF65-F5344CB8AC3E}">
        <p14:creationId xmlns:p14="http://schemas.microsoft.com/office/powerpoint/2010/main" val="3236112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a:t>CHAPITRE 2</a:t>
            </a:r>
            <a:br>
              <a:rPr lang="fr-FR" dirty="0"/>
            </a:br>
            <a:r>
              <a:rPr lang="fr-FR" dirty="0"/>
              <a:t>PLANIFICATION</a:t>
            </a:r>
          </a:p>
        </p:txBody>
      </p:sp>
      <p:sp>
        <p:nvSpPr>
          <p:cNvPr id="5" name="Sous-titre 4"/>
          <p:cNvSpPr>
            <a:spLocks noGrp="1"/>
          </p:cNvSpPr>
          <p:nvPr>
            <p:ph type="subTitle" idx="1"/>
          </p:nvPr>
        </p:nvSpPr>
        <p:spPr/>
        <p:txBody>
          <a:bodyPr/>
          <a:lstStyle/>
          <a:p>
            <a:r>
              <a:rPr lang="fr-FR" b="1" dirty="0">
                <a:solidFill>
                  <a:schemeClr val="tx2"/>
                </a:solidFill>
              </a:rPr>
              <a:t>Le plan de projet</a:t>
            </a:r>
          </a:p>
          <a:p>
            <a:endParaRPr lang="fr-FR" dirty="0"/>
          </a:p>
        </p:txBody>
      </p:sp>
    </p:spTree>
    <p:extLst>
      <p:ext uri="{BB962C8B-B14F-4D97-AF65-F5344CB8AC3E}">
        <p14:creationId xmlns:p14="http://schemas.microsoft.com/office/powerpoint/2010/main" val="3519832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Tâches, jalons et livrables</a:t>
            </a:r>
          </a:p>
        </p:txBody>
      </p:sp>
      <p:sp>
        <p:nvSpPr>
          <p:cNvPr id="3" name="Espace réservé du contenu 2"/>
          <p:cNvSpPr>
            <a:spLocks noGrp="1"/>
          </p:cNvSpPr>
          <p:nvPr>
            <p:ph idx="1"/>
          </p:nvPr>
        </p:nvSpPr>
        <p:spPr/>
        <p:txBody>
          <a:bodyPr>
            <a:normAutofit fontScale="85000" lnSpcReduction="20000"/>
          </a:bodyPr>
          <a:lstStyle/>
          <a:p>
            <a:r>
              <a:rPr lang="fr-FR" sz="2800" b="1" u="sng" dirty="0"/>
              <a:t>Définition d’une tâche</a:t>
            </a:r>
          </a:p>
          <a:p>
            <a:endParaRPr lang="fr-FR" dirty="0"/>
          </a:p>
          <a:p>
            <a:r>
              <a:rPr lang="fr-FR" dirty="0"/>
              <a:t>Une tâche est une action à mener pour aboutir à un résultat.</a:t>
            </a:r>
          </a:p>
          <a:p>
            <a:endParaRPr lang="fr-FR" dirty="0"/>
          </a:p>
          <a:p>
            <a:r>
              <a:rPr lang="fr-FR" dirty="0"/>
              <a:t>A chaque tâche définie, il faut associer :</a:t>
            </a:r>
          </a:p>
          <a:p>
            <a:endParaRPr lang="fr-FR" dirty="0"/>
          </a:p>
          <a:p>
            <a:pPr>
              <a:buFontTx/>
              <a:buChar char="-"/>
            </a:pPr>
            <a:r>
              <a:rPr lang="fr-FR" dirty="0"/>
              <a:t>Un objectif précis et mesurable</a:t>
            </a:r>
          </a:p>
          <a:p>
            <a:pPr>
              <a:buFontTx/>
              <a:buChar char="-"/>
            </a:pPr>
            <a:r>
              <a:rPr lang="fr-FR" dirty="0"/>
              <a:t>Des ressources humaines, matérielles et financières adaptées</a:t>
            </a:r>
          </a:p>
          <a:p>
            <a:pPr>
              <a:buFontTx/>
              <a:buChar char="-"/>
            </a:pPr>
            <a:r>
              <a:rPr lang="fr-FR" dirty="0"/>
              <a:t>Une charge de travail exprimée en nombre de journées-homme</a:t>
            </a:r>
          </a:p>
          <a:p>
            <a:pPr>
              <a:buFontTx/>
              <a:buChar char="-"/>
            </a:pPr>
            <a:r>
              <a:rPr lang="fr-FR" dirty="0"/>
              <a:t>Une durée ainsi qu’une date de début et une date de fin</a:t>
            </a:r>
          </a:p>
          <a:p>
            <a:pPr marL="0" indent="0">
              <a:buNone/>
            </a:pPr>
            <a:endParaRPr lang="fr-FR" dirty="0"/>
          </a:p>
          <a:p>
            <a:r>
              <a:rPr lang="fr-FR" dirty="0"/>
              <a:t>Une tâche doit être assez courte (&lt; ou = à 15 jours)</a:t>
            </a:r>
          </a:p>
          <a:p>
            <a:endParaRPr lang="fr-FR" dirty="0"/>
          </a:p>
          <a:p>
            <a:r>
              <a:rPr lang="fr-FR" dirty="0"/>
              <a:t>Dans le cadre du planning, les tâches sont reliées entre elles par des relations de dépendance</a:t>
            </a:r>
          </a:p>
        </p:txBody>
      </p:sp>
    </p:spTree>
    <p:extLst>
      <p:ext uri="{BB962C8B-B14F-4D97-AF65-F5344CB8AC3E}">
        <p14:creationId xmlns:p14="http://schemas.microsoft.com/office/powerpoint/2010/main" val="2089960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Tâches, jalons et livrables</a:t>
            </a:r>
          </a:p>
        </p:txBody>
      </p:sp>
      <p:sp>
        <p:nvSpPr>
          <p:cNvPr id="3" name="Espace réservé du contenu 2"/>
          <p:cNvSpPr>
            <a:spLocks noGrp="1"/>
          </p:cNvSpPr>
          <p:nvPr>
            <p:ph idx="1"/>
          </p:nvPr>
        </p:nvSpPr>
        <p:spPr/>
        <p:txBody>
          <a:bodyPr>
            <a:normAutofit fontScale="92500"/>
          </a:bodyPr>
          <a:lstStyle/>
          <a:p>
            <a:r>
              <a:rPr lang="fr-FR" sz="2800" b="1" u="sng" dirty="0"/>
              <a:t>Définition des jalons d’un projet</a:t>
            </a:r>
          </a:p>
          <a:p>
            <a:endParaRPr lang="fr-FR" dirty="0"/>
          </a:p>
          <a:p>
            <a:r>
              <a:rPr lang="fr-FR" dirty="0"/>
              <a:t>Les jalons d’un projet se définissent comme des événements clés d’un projet, montrant une certaine progression du projet</a:t>
            </a:r>
          </a:p>
          <a:p>
            <a:r>
              <a:rPr lang="fr-FR" dirty="0"/>
              <a:t>Des dates importantes de réalisation d’un projet</a:t>
            </a:r>
          </a:p>
          <a:p>
            <a:r>
              <a:rPr lang="fr-FR" dirty="0"/>
              <a:t>Une réalisation concrète (production de livrables)</a:t>
            </a:r>
          </a:p>
          <a:p>
            <a:endParaRPr lang="fr-FR" dirty="0"/>
          </a:p>
          <a:p>
            <a:r>
              <a:rPr lang="fr-FR" dirty="0"/>
              <a:t>Dans le cadre du planning, les jalons limitent le début et la fin de chaque phase et servent de point de synchronisation. </a:t>
            </a:r>
          </a:p>
          <a:p>
            <a:endParaRPr lang="fr-FR" dirty="0"/>
          </a:p>
          <a:p>
            <a:r>
              <a:rPr lang="fr-FR" i="1" dirty="0"/>
              <a:t>Sur les diagrammes de GANTT, les jalons sont représentés par des losanges.</a:t>
            </a:r>
          </a:p>
        </p:txBody>
      </p:sp>
    </p:spTree>
    <p:extLst>
      <p:ext uri="{BB962C8B-B14F-4D97-AF65-F5344CB8AC3E}">
        <p14:creationId xmlns:p14="http://schemas.microsoft.com/office/powerpoint/2010/main" val="4009484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Tâches, jalons et livrables</a:t>
            </a:r>
          </a:p>
        </p:txBody>
      </p:sp>
      <p:sp>
        <p:nvSpPr>
          <p:cNvPr id="3" name="Espace réservé du contenu 2"/>
          <p:cNvSpPr>
            <a:spLocks noGrp="1"/>
          </p:cNvSpPr>
          <p:nvPr>
            <p:ph idx="1"/>
          </p:nvPr>
        </p:nvSpPr>
        <p:spPr/>
        <p:txBody>
          <a:bodyPr>
            <a:normAutofit/>
          </a:bodyPr>
          <a:lstStyle/>
          <a:p>
            <a:r>
              <a:rPr lang="fr-FR" sz="2800" b="1" u="sng" dirty="0"/>
              <a:t>Définition d’un livrable</a:t>
            </a:r>
          </a:p>
          <a:p>
            <a:endParaRPr lang="fr-FR" dirty="0"/>
          </a:p>
          <a:p>
            <a:r>
              <a:rPr lang="fr-FR" dirty="0"/>
              <a:t>Un livrable est tout résultat, document, mesurable, tangible ou vérifiable, qui résulte de l’achèvement d’une partie de projet ou du projet.</a:t>
            </a:r>
          </a:p>
          <a:p>
            <a:endParaRPr lang="fr-FR" dirty="0"/>
          </a:p>
          <a:p>
            <a:r>
              <a:rPr lang="fr-FR" i="1" dirty="0"/>
              <a:t>Exemples : Un cahier des charges et une étude de faisabilité sont des livrables.</a:t>
            </a:r>
          </a:p>
          <a:p>
            <a:endParaRPr lang="fr-FR" dirty="0"/>
          </a:p>
        </p:txBody>
      </p:sp>
    </p:spTree>
    <p:extLst>
      <p:ext uri="{BB962C8B-B14F-4D97-AF65-F5344CB8AC3E}">
        <p14:creationId xmlns:p14="http://schemas.microsoft.com/office/powerpoint/2010/main" val="2533867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La planification d’un projet</a:t>
            </a:r>
          </a:p>
        </p:txBody>
      </p:sp>
      <p:sp>
        <p:nvSpPr>
          <p:cNvPr id="3" name="Espace réservé du contenu 2"/>
          <p:cNvSpPr>
            <a:spLocks noGrp="1"/>
          </p:cNvSpPr>
          <p:nvPr>
            <p:ph idx="1"/>
          </p:nvPr>
        </p:nvSpPr>
        <p:spPr/>
        <p:txBody>
          <a:bodyPr>
            <a:normAutofit/>
          </a:bodyPr>
          <a:lstStyle/>
          <a:p>
            <a:r>
              <a:rPr lang="fr-FR" dirty="0"/>
              <a:t>C’est l’activité qui consiste à déterminer et à ordonnancer les tâches du projet, à estimer leurs charges et à déterminer les profils nécessaires à leur réalisation.</a:t>
            </a:r>
          </a:p>
          <a:p>
            <a:endParaRPr lang="fr-FR" dirty="0"/>
          </a:p>
          <a:p>
            <a:r>
              <a:rPr lang="fr-FR" dirty="0"/>
              <a:t>L’outil requis est le </a:t>
            </a:r>
            <a:r>
              <a:rPr lang="fr-FR" b="1" dirty="0"/>
              <a:t>planning.</a:t>
            </a:r>
          </a:p>
          <a:p>
            <a:pPr marL="0" indent="0">
              <a:buNone/>
            </a:pPr>
            <a:endParaRPr lang="fr-FR" dirty="0"/>
          </a:p>
          <a:p>
            <a:r>
              <a:rPr lang="fr-FR" dirty="0"/>
              <a:t>Les objectifs du planning sont les suivants :</a:t>
            </a:r>
          </a:p>
          <a:p>
            <a:pPr>
              <a:buFontTx/>
              <a:buChar char="-"/>
            </a:pPr>
            <a:r>
              <a:rPr lang="fr-FR" dirty="0"/>
              <a:t>Déterminer si les objectifs sont réalisés ou dépassés</a:t>
            </a:r>
          </a:p>
          <a:p>
            <a:pPr>
              <a:buFontTx/>
              <a:buChar char="-"/>
            </a:pPr>
            <a:r>
              <a:rPr lang="fr-FR" dirty="0"/>
              <a:t>Suivre et communiquer l’avancement du projet</a:t>
            </a:r>
          </a:p>
          <a:p>
            <a:pPr>
              <a:buFontTx/>
              <a:buChar char="-"/>
            </a:pPr>
            <a:r>
              <a:rPr lang="fr-FR" dirty="0"/>
              <a:t>Affecter les ressources aux tâches</a:t>
            </a:r>
          </a:p>
        </p:txBody>
      </p:sp>
    </p:spTree>
    <p:extLst>
      <p:ext uri="{BB962C8B-B14F-4D97-AF65-F5344CB8AC3E}">
        <p14:creationId xmlns:p14="http://schemas.microsoft.com/office/powerpoint/2010/main" val="2085516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La planification d’un projet</a:t>
            </a:r>
          </a:p>
        </p:txBody>
      </p:sp>
      <p:sp>
        <p:nvSpPr>
          <p:cNvPr id="3" name="Espace réservé du contenu 2"/>
          <p:cNvSpPr>
            <a:spLocks noGrp="1"/>
          </p:cNvSpPr>
          <p:nvPr>
            <p:ph idx="1"/>
          </p:nvPr>
        </p:nvSpPr>
        <p:spPr/>
        <p:txBody>
          <a:bodyPr>
            <a:normAutofit/>
          </a:bodyPr>
          <a:lstStyle/>
          <a:p>
            <a:r>
              <a:rPr lang="fr-FR" b="1" u="sng" dirty="0"/>
              <a:t>Le découpage du projet</a:t>
            </a:r>
            <a:r>
              <a:rPr lang="fr-FR" b="1" dirty="0"/>
              <a:t> :</a:t>
            </a:r>
          </a:p>
          <a:p>
            <a:endParaRPr lang="fr-FR" dirty="0"/>
          </a:p>
          <a:p>
            <a:r>
              <a:rPr lang="fr-FR" dirty="0"/>
              <a:t>La conduite d’un projet repose sur un découpage chronologique (phases) du projet en précisant</a:t>
            </a:r>
          </a:p>
          <a:p>
            <a:endParaRPr lang="fr-FR" dirty="0"/>
          </a:p>
          <a:p>
            <a:r>
              <a:rPr lang="fr-FR" dirty="0"/>
              <a:t>Ce qui doit être fait (tâches)</a:t>
            </a:r>
          </a:p>
          <a:p>
            <a:r>
              <a:rPr lang="fr-FR" dirty="0"/>
              <a:t>Par qui cela doit être fait (Ressources)</a:t>
            </a:r>
          </a:p>
          <a:p>
            <a:r>
              <a:rPr lang="fr-FR" dirty="0"/>
              <a:t>Comment les résultats (Livrables) doivent être présentés</a:t>
            </a:r>
          </a:p>
          <a:p>
            <a:r>
              <a:rPr lang="fr-FR" dirty="0"/>
              <a:t>Comment les valider (Jalons)</a:t>
            </a:r>
          </a:p>
        </p:txBody>
      </p:sp>
    </p:spTree>
    <p:extLst>
      <p:ext uri="{BB962C8B-B14F-4D97-AF65-F5344CB8AC3E}">
        <p14:creationId xmlns:p14="http://schemas.microsoft.com/office/powerpoint/2010/main" val="1498067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La planification d’un projet</a:t>
            </a:r>
          </a:p>
        </p:txBody>
      </p:sp>
      <p:sp>
        <p:nvSpPr>
          <p:cNvPr id="3" name="Espace réservé du contenu 2"/>
          <p:cNvSpPr>
            <a:spLocks noGrp="1"/>
          </p:cNvSpPr>
          <p:nvPr>
            <p:ph idx="1"/>
          </p:nvPr>
        </p:nvSpPr>
        <p:spPr/>
        <p:txBody>
          <a:bodyPr>
            <a:normAutofit fontScale="92500"/>
          </a:bodyPr>
          <a:lstStyle/>
          <a:p>
            <a:r>
              <a:rPr lang="fr-FR" b="1" u="sng" dirty="0"/>
              <a:t>La notion de WBS ou l’organigramme des tâches (OT) </a:t>
            </a:r>
            <a:r>
              <a:rPr lang="fr-FR" b="1" dirty="0"/>
              <a:t>:</a:t>
            </a:r>
          </a:p>
          <a:p>
            <a:endParaRPr lang="fr-FR" dirty="0"/>
          </a:p>
          <a:p>
            <a:r>
              <a:rPr lang="fr-FR" dirty="0"/>
              <a:t>La WBS (</a:t>
            </a:r>
            <a:r>
              <a:rPr lang="fr-FR" dirty="0" err="1"/>
              <a:t>Work</a:t>
            </a:r>
            <a:r>
              <a:rPr lang="fr-FR" dirty="0"/>
              <a:t> Breakdown Structure) est la structure hiérarchique des tâches du projet.</a:t>
            </a:r>
          </a:p>
          <a:p>
            <a:endParaRPr lang="fr-FR" dirty="0"/>
          </a:p>
          <a:p>
            <a:r>
              <a:rPr lang="fr-FR" dirty="0"/>
              <a:t>La conception de la WBS passe par :</a:t>
            </a:r>
          </a:p>
          <a:p>
            <a:endParaRPr lang="fr-FR" dirty="0"/>
          </a:p>
          <a:p>
            <a:pPr lvl="1">
              <a:buFontTx/>
              <a:buChar char="-"/>
            </a:pPr>
            <a:r>
              <a:rPr lang="fr-FR" dirty="0"/>
              <a:t>L’établissement d’une liste des résultats de travail (livrables) les + importants du projet</a:t>
            </a:r>
          </a:p>
          <a:p>
            <a:pPr lvl="1">
              <a:buFontTx/>
              <a:buChar char="-"/>
            </a:pPr>
            <a:r>
              <a:rPr lang="fr-FR" dirty="0"/>
              <a:t>La division (si nécessaire) de ces livrables en sous-ensembles</a:t>
            </a:r>
          </a:p>
          <a:p>
            <a:pPr lvl="1">
              <a:buFontTx/>
              <a:buChar char="-"/>
            </a:pPr>
            <a:r>
              <a:rPr lang="fr-FR" dirty="0"/>
              <a:t>Pour chaque livrable et sous-livrable, le listage des activités qui sont nécessaires à sa réalisation</a:t>
            </a:r>
          </a:p>
          <a:p>
            <a:pPr lvl="1">
              <a:buFontTx/>
              <a:buChar char="-"/>
            </a:pPr>
            <a:r>
              <a:rPr lang="fr-FR" dirty="0"/>
              <a:t>La possibilité de diviser ces activités en sous-activités</a:t>
            </a:r>
          </a:p>
        </p:txBody>
      </p:sp>
    </p:spTree>
    <p:extLst>
      <p:ext uri="{BB962C8B-B14F-4D97-AF65-F5344CB8AC3E}">
        <p14:creationId xmlns:p14="http://schemas.microsoft.com/office/powerpoint/2010/main" val="3441728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La planification d’un projet</a:t>
            </a:r>
          </a:p>
        </p:txBody>
      </p:sp>
      <p:sp>
        <p:nvSpPr>
          <p:cNvPr id="3" name="Espace réservé du contenu 2"/>
          <p:cNvSpPr>
            <a:spLocks noGrp="1"/>
          </p:cNvSpPr>
          <p:nvPr>
            <p:ph idx="1"/>
          </p:nvPr>
        </p:nvSpPr>
        <p:spPr/>
        <p:txBody>
          <a:bodyPr>
            <a:normAutofit/>
          </a:bodyPr>
          <a:lstStyle/>
          <a:p>
            <a:r>
              <a:rPr lang="fr-FR" b="1" u="sng" dirty="0"/>
              <a:t>L’organigramme des tâches (OT) </a:t>
            </a:r>
            <a:r>
              <a:rPr lang="fr-FR" b="1" dirty="0"/>
              <a:t>:</a:t>
            </a:r>
            <a:endParaRPr lang="fr-FR" dirty="0"/>
          </a:p>
        </p:txBody>
      </p:sp>
      <p:graphicFrame>
        <p:nvGraphicFramePr>
          <p:cNvPr id="4" name="Diagramme 3"/>
          <p:cNvGraphicFramePr/>
          <p:nvPr>
            <p:extLst>
              <p:ext uri="{D42A27DB-BD31-4B8C-83A1-F6EECF244321}">
                <p14:modId xmlns:p14="http://schemas.microsoft.com/office/powerpoint/2010/main" val="344358774"/>
              </p:ext>
            </p:extLst>
          </p:nvPr>
        </p:nvGraphicFramePr>
        <p:xfrm>
          <a:off x="827584" y="2413000"/>
          <a:ext cx="7152456"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28196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La planification d’un projet</a:t>
            </a:r>
          </a:p>
        </p:txBody>
      </p:sp>
      <p:sp>
        <p:nvSpPr>
          <p:cNvPr id="3" name="Espace réservé du contenu 2"/>
          <p:cNvSpPr>
            <a:spLocks noGrp="1"/>
          </p:cNvSpPr>
          <p:nvPr>
            <p:ph idx="1"/>
          </p:nvPr>
        </p:nvSpPr>
        <p:spPr/>
        <p:txBody>
          <a:bodyPr>
            <a:normAutofit/>
          </a:bodyPr>
          <a:lstStyle/>
          <a:p>
            <a:r>
              <a:rPr lang="fr-FR" b="1" u="sng" dirty="0"/>
              <a:t>L’organigramme des tâche (OT) </a:t>
            </a:r>
            <a:r>
              <a:rPr lang="fr-FR" b="1" dirty="0"/>
              <a:t>:</a:t>
            </a:r>
          </a:p>
          <a:p>
            <a:endParaRPr lang="fr-FR" b="1" dirty="0"/>
          </a:p>
          <a:p>
            <a:r>
              <a:rPr lang="fr-FR" dirty="0"/>
              <a:t>La décomposition s’arrête lorsqu’une tâche peut être clairement circonscrite et déléguée à un responsable de tâche</a:t>
            </a:r>
          </a:p>
          <a:p>
            <a:pPr marL="0" indent="0">
              <a:buNone/>
            </a:pPr>
            <a:endParaRPr lang="fr-FR" dirty="0"/>
          </a:p>
        </p:txBody>
      </p:sp>
    </p:spTree>
    <p:extLst>
      <p:ext uri="{BB962C8B-B14F-4D97-AF65-F5344CB8AC3E}">
        <p14:creationId xmlns:p14="http://schemas.microsoft.com/office/powerpoint/2010/main" val="3342428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a:t>APPLICATION</a:t>
            </a:r>
          </a:p>
        </p:txBody>
      </p:sp>
      <p:sp>
        <p:nvSpPr>
          <p:cNvPr id="5" name="Sous-titre 4"/>
          <p:cNvSpPr>
            <a:spLocks noGrp="1"/>
          </p:cNvSpPr>
          <p:nvPr>
            <p:ph type="subTitle" idx="1"/>
          </p:nvPr>
        </p:nvSpPr>
        <p:spPr/>
        <p:txBody>
          <a:bodyPr/>
          <a:lstStyle/>
          <a:p>
            <a:endParaRPr lang="fr-FR" b="1" dirty="0">
              <a:solidFill>
                <a:schemeClr val="tx2"/>
              </a:solidFill>
            </a:endParaRPr>
          </a:p>
          <a:p>
            <a:endParaRPr lang="fr-FR" dirty="0"/>
          </a:p>
        </p:txBody>
      </p:sp>
      <p:sp>
        <p:nvSpPr>
          <p:cNvPr id="2" name="ZoneTexte 1"/>
          <p:cNvSpPr txBox="1"/>
          <p:nvPr/>
        </p:nvSpPr>
        <p:spPr>
          <a:xfrm>
            <a:off x="685800" y="3717032"/>
            <a:ext cx="8062664" cy="646331"/>
          </a:xfrm>
          <a:prstGeom prst="rect">
            <a:avLst/>
          </a:prstGeom>
          <a:noFill/>
        </p:spPr>
        <p:txBody>
          <a:bodyPr wrap="square" rtlCol="0">
            <a:spAutoFit/>
          </a:bodyPr>
          <a:lstStyle/>
          <a:p>
            <a:r>
              <a:rPr lang="fr-FR" sz="3600" dirty="0"/>
              <a:t>Réaliser l’OT de votre projet</a:t>
            </a:r>
          </a:p>
        </p:txBody>
      </p:sp>
    </p:spTree>
    <p:extLst>
      <p:ext uri="{BB962C8B-B14F-4D97-AF65-F5344CB8AC3E}">
        <p14:creationId xmlns:p14="http://schemas.microsoft.com/office/powerpoint/2010/main" val="1466456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La planification d’un projet</a:t>
            </a:r>
          </a:p>
        </p:txBody>
      </p:sp>
      <p:sp>
        <p:nvSpPr>
          <p:cNvPr id="3" name="Espace réservé du contenu 2"/>
          <p:cNvSpPr>
            <a:spLocks noGrp="1"/>
          </p:cNvSpPr>
          <p:nvPr>
            <p:ph idx="1"/>
          </p:nvPr>
        </p:nvSpPr>
        <p:spPr/>
        <p:txBody>
          <a:bodyPr>
            <a:normAutofit fontScale="85000" lnSpcReduction="20000"/>
          </a:bodyPr>
          <a:lstStyle/>
          <a:p>
            <a:r>
              <a:rPr lang="fr-FR" b="1" u="sng" dirty="0"/>
              <a:t>L’ordonnancement des tâches </a:t>
            </a:r>
            <a:r>
              <a:rPr lang="fr-FR" b="1" dirty="0"/>
              <a:t>:</a:t>
            </a:r>
          </a:p>
          <a:p>
            <a:endParaRPr lang="fr-FR" dirty="0"/>
          </a:p>
          <a:p>
            <a:r>
              <a:rPr lang="fr-FR" dirty="0"/>
              <a:t>L’ordonnancement est l’élaboration d’un plan d’action permettant de déterminer les séquencements ou au contraire les parallélismes possibles entre l’exécution des tâches précédemment identifiées.</a:t>
            </a:r>
          </a:p>
          <a:p>
            <a:endParaRPr lang="fr-FR" dirty="0"/>
          </a:p>
          <a:p>
            <a:r>
              <a:rPr lang="fr-FR" dirty="0"/>
              <a:t>Dans certains projets, une marge de flexibilité peut être aménagée par le chef de projet pour l’ordonnancement des tâches, c’est à dire que le chef de projet peut prévoir plusieurs scénarios possibles concernant l’ordonnancement des tâches. En fonction de l’évolution du projet, un scénario d’ordonnancement des tâches peut être privilégié par rapport à un autre scénario.</a:t>
            </a:r>
          </a:p>
          <a:p>
            <a:endParaRPr lang="fr-FR" dirty="0"/>
          </a:p>
          <a:p>
            <a:r>
              <a:rPr lang="fr-FR" dirty="0"/>
              <a:t>Pour procéder à l’ordonnancement des tâches, il faut, pour chaque tâche élémentaire, lister les tâches antérieures, au vu des informations collectées sur le terrain et sélectionner les seules tâches immédiatement antérieures. Le planning doit permettre l’identification de l’ordonnancement des tâches du projet.</a:t>
            </a:r>
          </a:p>
        </p:txBody>
      </p:sp>
    </p:spTree>
    <p:extLst>
      <p:ext uri="{BB962C8B-B14F-4D97-AF65-F5344CB8AC3E}">
        <p14:creationId xmlns:p14="http://schemas.microsoft.com/office/powerpoint/2010/main" val="597134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La planification d’un projet</a:t>
            </a:r>
          </a:p>
        </p:txBody>
      </p:sp>
      <p:sp>
        <p:nvSpPr>
          <p:cNvPr id="3" name="Espace réservé du contenu 2"/>
          <p:cNvSpPr>
            <a:spLocks noGrp="1"/>
          </p:cNvSpPr>
          <p:nvPr>
            <p:ph idx="1"/>
          </p:nvPr>
        </p:nvSpPr>
        <p:spPr/>
        <p:txBody>
          <a:bodyPr>
            <a:noAutofit/>
          </a:bodyPr>
          <a:lstStyle/>
          <a:p>
            <a:r>
              <a:rPr lang="fr-FR" sz="2000" b="1" u="sng" dirty="0"/>
              <a:t>Le planning </a:t>
            </a:r>
            <a:r>
              <a:rPr lang="fr-FR" sz="2000" b="1" dirty="0"/>
              <a:t>:</a:t>
            </a:r>
          </a:p>
          <a:p>
            <a:endParaRPr lang="fr-FR" sz="2000" b="1" dirty="0"/>
          </a:p>
          <a:p>
            <a:r>
              <a:rPr lang="fr-FR" sz="2000" dirty="0"/>
              <a:t>Le planning correspond aux dates pour réaliser les activités, identifier les jalons et atteindre les objectifs du projet. C’est l’indispensable outil de la planification.</a:t>
            </a:r>
          </a:p>
          <a:p>
            <a:endParaRPr lang="fr-FR" sz="2000" dirty="0"/>
          </a:p>
          <a:p>
            <a:r>
              <a:rPr lang="fr-FR" sz="2000" b="1" u="sng" dirty="0"/>
              <a:t>Les étapes successives</a:t>
            </a:r>
          </a:p>
          <a:p>
            <a:r>
              <a:rPr lang="fr-FR" sz="2000" dirty="0"/>
              <a:t>Prenons l’exemple d’un projet informatique… Supposons qu’une entreprise souhaite implémenter un ERP de type SAP ou GEAC. </a:t>
            </a:r>
          </a:p>
          <a:p>
            <a:endParaRPr lang="fr-FR" sz="2000" dirty="0"/>
          </a:p>
          <a:p>
            <a:r>
              <a:rPr lang="fr-FR" sz="2000" dirty="0"/>
              <a:t>Ce type de projet comporte plusieurs grandes étapes :</a:t>
            </a:r>
          </a:p>
          <a:p>
            <a:pPr>
              <a:buFontTx/>
              <a:buChar char="-"/>
            </a:pPr>
            <a:r>
              <a:rPr lang="fr-FR" sz="2000" b="1" dirty="0"/>
              <a:t>Etude préalable détaillée</a:t>
            </a:r>
            <a:r>
              <a:rPr lang="fr-FR" sz="2000" dirty="0"/>
              <a:t> (définition du périmètre, cahier des charges fonctionnel ...)</a:t>
            </a:r>
          </a:p>
          <a:p>
            <a:pPr>
              <a:buFontTx/>
              <a:buChar char="-"/>
            </a:pPr>
            <a:r>
              <a:rPr lang="fr-FR" sz="2000" b="1" dirty="0"/>
              <a:t>Dossier de Paramétrage</a:t>
            </a:r>
            <a:endParaRPr lang="fr-FR" sz="2000" dirty="0"/>
          </a:p>
        </p:txBody>
      </p:sp>
    </p:spTree>
    <p:extLst>
      <p:ext uri="{BB962C8B-B14F-4D97-AF65-F5344CB8AC3E}">
        <p14:creationId xmlns:p14="http://schemas.microsoft.com/office/powerpoint/2010/main" val="2924196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La planification d’un projet</a:t>
            </a:r>
          </a:p>
        </p:txBody>
      </p:sp>
      <p:sp>
        <p:nvSpPr>
          <p:cNvPr id="3" name="Espace réservé du contenu 2"/>
          <p:cNvSpPr>
            <a:spLocks noGrp="1"/>
          </p:cNvSpPr>
          <p:nvPr>
            <p:ph idx="1"/>
          </p:nvPr>
        </p:nvSpPr>
        <p:spPr/>
        <p:txBody>
          <a:bodyPr>
            <a:noAutofit/>
          </a:bodyPr>
          <a:lstStyle/>
          <a:p>
            <a:r>
              <a:rPr lang="fr-FR" sz="2000" b="1" dirty="0"/>
              <a:t>Réalisation du paramétrage</a:t>
            </a:r>
            <a:r>
              <a:rPr lang="fr-FR" sz="2000" dirty="0"/>
              <a:t> et/ou Programmation</a:t>
            </a:r>
          </a:p>
          <a:p>
            <a:r>
              <a:rPr lang="fr-FR" sz="2000" dirty="0"/>
              <a:t>Conception des </a:t>
            </a:r>
            <a:r>
              <a:rPr lang="fr-FR" sz="2000" b="1" dirty="0"/>
              <a:t>Jeux d’essai</a:t>
            </a:r>
            <a:r>
              <a:rPr lang="fr-FR" sz="2000" dirty="0"/>
              <a:t> pour préparer la recette de l'application/du module</a:t>
            </a:r>
          </a:p>
          <a:p>
            <a:r>
              <a:rPr lang="fr-FR" sz="2000" b="1" dirty="0"/>
              <a:t>Recette</a:t>
            </a:r>
            <a:r>
              <a:rPr lang="fr-FR" sz="2000" dirty="0"/>
              <a:t> (Réalisation des tests informatiques)</a:t>
            </a:r>
          </a:p>
          <a:p>
            <a:r>
              <a:rPr lang="fr-FR" sz="2000" dirty="0"/>
              <a:t>Rédaction des </a:t>
            </a:r>
            <a:r>
              <a:rPr lang="fr-FR" sz="2000" b="1" dirty="0"/>
              <a:t>Manuels utilisateurs</a:t>
            </a:r>
            <a:endParaRPr lang="fr-FR" sz="2000" dirty="0"/>
          </a:p>
          <a:p>
            <a:r>
              <a:rPr lang="fr-FR" sz="2000" b="1" dirty="0"/>
              <a:t>Mise en production</a:t>
            </a:r>
            <a:endParaRPr lang="fr-FR" sz="2000" dirty="0"/>
          </a:p>
          <a:p>
            <a:pPr marL="0" indent="0">
              <a:buNone/>
            </a:pPr>
            <a:endParaRPr lang="fr-FR" sz="2000" b="1" u="sng" dirty="0"/>
          </a:p>
          <a:p>
            <a:pPr marL="0" indent="0">
              <a:buNone/>
            </a:pPr>
            <a:r>
              <a:rPr lang="fr-FR" sz="2000" b="1" u="sng" dirty="0"/>
              <a:t>Dates au plus tôt et au plus tard :</a:t>
            </a:r>
          </a:p>
          <a:p>
            <a:pPr marL="0" indent="0">
              <a:buNone/>
            </a:pPr>
            <a:endParaRPr lang="fr-FR" sz="2000" b="1" u="sng" dirty="0"/>
          </a:p>
          <a:p>
            <a:r>
              <a:rPr lang="fr-FR" sz="2000" dirty="0"/>
              <a:t>Pour bâtir un planning, il faut associer à chaque tâche les dates au plus tôt (Début au plus tôt et Fin au plus tôt de l’exécution de la tâche) et les dates au plus tard (Début au plus tard et Fin au plus tard de l’exécution de la tâche). La durée de la tâche est le temps ouvré qui s’écoule entre le début et la fin de la tâche.</a:t>
            </a:r>
            <a:br>
              <a:rPr lang="fr-FR" sz="2000" dirty="0"/>
            </a:br>
            <a:endParaRPr lang="fr-FR" sz="1200" dirty="0"/>
          </a:p>
        </p:txBody>
      </p:sp>
    </p:spTree>
    <p:extLst>
      <p:ext uri="{BB962C8B-B14F-4D97-AF65-F5344CB8AC3E}">
        <p14:creationId xmlns:p14="http://schemas.microsoft.com/office/powerpoint/2010/main" val="1245609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La planification d’un projet</a:t>
            </a:r>
          </a:p>
        </p:txBody>
      </p:sp>
      <p:sp>
        <p:nvSpPr>
          <p:cNvPr id="3" name="Espace réservé du contenu 2"/>
          <p:cNvSpPr>
            <a:spLocks noGrp="1"/>
          </p:cNvSpPr>
          <p:nvPr>
            <p:ph idx="1"/>
          </p:nvPr>
        </p:nvSpPr>
        <p:spPr/>
        <p:txBody>
          <a:bodyPr>
            <a:noAutofit/>
          </a:bodyPr>
          <a:lstStyle/>
          <a:p>
            <a:pPr marL="0" indent="0">
              <a:buNone/>
            </a:pPr>
            <a:r>
              <a:rPr lang="fr-FR" sz="1800" b="1" u="sng" dirty="0"/>
              <a:t>Importance du chemin critique et des marges :</a:t>
            </a:r>
          </a:p>
          <a:p>
            <a:pPr marL="0" indent="0">
              <a:buNone/>
            </a:pPr>
            <a:endParaRPr lang="fr-FR" sz="1800" b="1" u="sng" dirty="0"/>
          </a:p>
          <a:p>
            <a:r>
              <a:rPr lang="fr-FR" sz="1800" dirty="0"/>
              <a:t>Le </a:t>
            </a:r>
            <a:r>
              <a:rPr lang="fr-FR" sz="1800" b="1" dirty="0"/>
              <a:t>chemin critique</a:t>
            </a:r>
            <a:r>
              <a:rPr lang="fr-FR" sz="1800" dirty="0"/>
              <a:t> correspond à la séquence de tâches qui détermine la durée totale du projet. Ce chemin est continu depuis le début jusqu’à la fin du projet. Tout retard affectant une tâche du chemin critique est intégralement répercuté sur la durée du projet et donc sa date de fin. La tâche critique est une tâche du chemin critique. Toute modification sur la durée d’une de ces tâches critiques impacte d’autant plus la durée totale du projet.</a:t>
            </a:r>
          </a:p>
          <a:p>
            <a:r>
              <a:rPr lang="fr-FR" sz="1800" dirty="0"/>
              <a:t>La </a:t>
            </a:r>
            <a:r>
              <a:rPr lang="fr-FR" sz="1800" b="1" dirty="0"/>
              <a:t>marge</a:t>
            </a:r>
            <a:r>
              <a:rPr lang="fr-FR" sz="1800" dirty="0"/>
              <a:t> est la possibilité qu’à une tâche d’être retardée sans impacter le projet. Les tâches qui sont sur le chemin critique ont une marge nulle.</a:t>
            </a:r>
          </a:p>
          <a:p>
            <a:r>
              <a:rPr lang="fr-FR" sz="1800" dirty="0"/>
              <a:t>La </a:t>
            </a:r>
            <a:r>
              <a:rPr lang="fr-FR" sz="1800" b="1" dirty="0"/>
              <a:t>marge totale (MT)</a:t>
            </a:r>
            <a:r>
              <a:rPr lang="fr-FR" sz="1800" dirty="0"/>
              <a:t> est égale à la différence entre le début au plus tard de la tâche suivante la plus contraignante et la fin au plus tôt de la tâche elle-même. C’est aussi la différence entre les dates au plus tard et les dates au plus tôt de la tâche elle même.</a:t>
            </a:r>
          </a:p>
          <a:p>
            <a:r>
              <a:rPr lang="fr-FR" sz="1800" dirty="0"/>
              <a:t>La </a:t>
            </a:r>
            <a:r>
              <a:rPr lang="fr-FR" sz="1800" b="1" dirty="0"/>
              <a:t>marge Libre (ML)</a:t>
            </a:r>
            <a:r>
              <a:rPr lang="fr-FR" sz="1800" dirty="0"/>
              <a:t> est égale à la différence entre la date de début au plus tôt du successeur le plus précoce, et la date de fin au plus tôt de la tâche elle-même.</a:t>
            </a:r>
            <a:endParaRPr lang="fr-FR" sz="1100" dirty="0"/>
          </a:p>
        </p:txBody>
      </p:sp>
    </p:spTree>
    <p:extLst>
      <p:ext uri="{BB962C8B-B14F-4D97-AF65-F5344CB8AC3E}">
        <p14:creationId xmlns:p14="http://schemas.microsoft.com/office/powerpoint/2010/main" val="3206820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Diagramme de GANTT</a:t>
            </a:r>
          </a:p>
        </p:txBody>
      </p:sp>
      <p:sp>
        <p:nvSpPr>
          <p:cNvPr id="3" name="Espace réservé du contenu 2"/>
          <p:cNvSpPr>
            <a:spLocks noGrp="1"/>
          </p:cNvSpPr>
          <p:nvPr>
            <p:ph idx="1"/>
          </p:nvPr>
        </p:nvSpPr>
        <p:spPr/>
        <p:txBody>
          <a:bodyPr>
            <a:normAutofit/>
          </a:bodyPr>
          <a:lstStyle/>
          <a:p>
            <a:r>
              <a:rPr lang="fr-FR" dirty="0"/>
              <a:t>Technique traditionnelle de représentation graphique de la planification d’un projet :</a:t>
            </a:r>
          </a:p>
          <a:p>
            <a:endParaRPr lang="fr-FR" dirty="0"/>
          </a:p>
          <a:p>
            <a:pPr lvl="2">
              <a:buFontTx/>
              <a:buChar char="-"/>
            </a:pPr>
            <a:r>
              <a:rPr lang="fr-FR" dirty="0"/>
              <a:t>Représentation graphique des tâches d’un projet,  avec des barres horizontales, toutes mises en relation (consécutives), avec un chemin critique</a:t>
            </a:r>
          </a:p>
          <a:p>
            <a:pPr lvl="2">
              <a:buFontTx/>
              <a:buChar char="-"/>
            </a:pPr>
            <a:r>
              <a:rPr lang="fr-FR" dirty="0"/>
              <a:t>Ceci, sur une échelle de temps</a:t>
            </a:r>
          </a:p>
          <a:p>
            <a:pPr>
              <a:buFontTx/>
              <a:buChar char="-"/>
            </a:pPr>
            <a:endParaRPr lang="fr-FR" dirty="0"/>
          </a:p>
          <a:p>
            <a:pPr>
              <a:buFontTx/>
              <a:buChar char="-"/>
            </a:pPr>
            <a:endParaRPr lang="fr-FR" dirty="0"/>
          </a:p>
        </p:txBody>
      </p:sp>
    </p:spTree>
    <p:extLst>
      <p:ext uri="{BB962C8B-B14F-4D97-AF65-F5344CB8AC3E}">
        <p14:creationId xmlns:p14="http://schemas.microsoft.com/office/powerpoint/2010/main" val="2172482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Diagramme de GANTT</a:t>
            </a:r>
          </a:p>
        </p:txBody>
      </p:sp>
      <p:sp>
        <p:nvSpPr>
          <p:cNvPr id="3" name="Espace réservé du contenu 2"/>
          <p:cNvSpPr>
            <a:spLocks noGrp="1"/>
          </p:cNvSpPr>
          <p:nvPr>
            <p:ph idx="1"/>
          </p:nvPr>
        </p:nvSpPr>
        <p:spPr/>
        <p:txBody>
          <a:bodyPr>
            <a:normAutofit/>
          </a:bodyPr>
          <a:lstStyle/>
          <a:p>
            <a:r>
              <a:rPr lang="fr-FR" b="1" dirty="0"/>
              <a:t>Exemple de réalisation d’un diagramme GANTT pour un  projet simple, un déménagement :</a:t>
            </a:r>
          </a:p>
          <a:p>
            <a:pPr>
              <a:buFontTx/>
              <a:buChar char="-"/>
            </a:pPr>
            <a:endParaRPr lang="fr-FR" dirty="0"/>
          </a:p>
          <a:p>
            <a:pPr marL="457200" indent="-457200">
              <a:buAutoNum type="arabicParenR"/>
            </a:pPr>
            <a:r>
              <a:rPr lang="fr-FR" b="1" dirty="0"/>
              <a:t>Lister les tâches + durée estimée : </a:t>
            </a:r>
          </a:p>
          <a:p>
            <a:pPr>
              <a:buFontTx/>
              <a:buChar char="-"/>
            </a:pPr>
            <a:r>
              <a:rPr lang="fr-FR" dirty="0"/>
              <a:t>Tache A : Mise en cartons (1 jour)</a:t>
            </a:r>
          </a:p>
          <a:p>
            <a:pPr>
              <a:buFontTx/>
              <a:buChar char="-"/>
            </a:pPr>
            <a:r>
              <a:rPr lang="fr-FR" dirty="0"/>
              <a:t>Tache B :  Charger dans le camion (1/2 jour)</a:t>
            </a:r>
          </a:p>
          <a:p>
            <a:pPr>
              <a:buFontTx/>
              <a:buChar char="-"/>
            </a:pPr>
            <a:r>
              <a:rPr lang="fr-FR" dirty="0"/>
              <a:t>Tache C : Voyage/transport (1/2 jour)</a:t>
            </a:r>
          </a:p>
          <a:p>
            <a:pPr>
              <a:buFontTx/>
              <a:buChar char="-"/>
            </a:pPr>
            <a:r>
              <a:rPr lang="fr-FR" dirty="0"/>
              <a:t>Tache D : Déchargement camion (1/2 jour)</a:t>
            </a:r>
          </a:p>
          <a:p>
            <a:pPr>
              <a:buFontTx/>
              <a:buChar char="-"/>
            </a:pPr>
            <a:endParaRPr lang="fr-FR" dirty="0"/>
          </a:p>
        </p:txBody>
      </p:sp>
    </p:spTree>
    <p:extLst>
      <p:ext uri="{BB962C8B-B14F-4D97-AF65-F5344CB8AC3E}">
        <p14:creationId xmlns:p14="http://schemas.microsoft.com/office/powerpoint/2010/main" val="2215484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Diagramme de GANTT</a:t>
            </a:r>
          </a:p>
        </p:txBody>
      </p:sp>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3" y="1916833"/>
            <a:ext cx="8424935" cy="13750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41625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Diagramme de GANTT </a:t>
            </a:r>
            <a:br>
              <a:rPr lang="fr-FR" dirty="0"/>
            </a:br>
            <a:r>
              <a:rPr lang="fr-FR" dirty="0"/>
              <a:t>pour création d’un site internet</a:t>
            </a:r>
          </a:p>
        </p:txBody>
      </p:sp>
      <p:pic>
        <p:nvPicPr>
          <p:cNvPr id="4" name="Espace réservé du conten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4814" y="1936576"/>
            <a:ext cx="7814371" cy="4876800"/>
          </a:xfrm>
        </p:spPr>
      </p:pic>
    </p:spTree>
    <p:extLst>
      <p:ext uri="{BB962C8B-B14F-4D97-AF65-F5344CB8AC3E}">
        <p14:creationId xmlns:p14="http://schemas.microsoft.com/office/powerpoint/2010/main" val="1380365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Autres techniques de planification</a:t>
            </a:r>
            <a:br>
              <a:rPr lang="fr-FR" dirty="0"/>
            </a:br>
            <a:r>
              <a:rPr lang="fr-FR" u="sng" dirty="0"/>
              <a:t>A voir également</a:t>
            </a:r>
          </a:p>
        </p:txBody>
      </p:sp>
      <p:sp>
        <p:nvSpPr>
          <p:cNvPr id="3" name="Espace réservé du contenu 2"/>
          <p:cNvSpPr>
            <a:spLocks noGrp="1"/>
          </p:cNvSpPr>
          <p:nvPr>
            <p:ph idx="1"/>
          </p:nvPr>
        </p:nvSpPr>
        <p:spPr/>
        <p:txBody>
          <a:bodyPr/>
          <a:lstStyle/>
          <a:p>
            <a:endParaRPr lang="fr-FR" sz="3200" dirty="0"/>
          </a:p>
          <a:p>
            <a:r>
              <a:rPr lang="fr-FR" sz="3200" dirty="0"/>
              <a:t>La technique PERT</a:t>
            </a:r>
          </a:p>
          <a:p>
            <a:r>
              <a:rPr lang="fr-FR" sz="3200" dirty="0"/>
              <a:t>Les antécédents</a:t>
            </a:r>
            <a:endParaRPr lang="fr-FR" dirty="0"/>
          </a:p>
        </p:txBody>
      </p:sp>
    </p:spTree>
    <p:extLst>
      <p:ext uri="{BB962C8B-B14F-4D97-AF65-F5344CB8AC3E}">
        <p14:creationId xmlns:p14="http://schemas.microsoft.com/office/powerpoint/2010/main" val="2733981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Cas pratique / application :</a:t>
            </a:r>
          </a:p>
        </p:txBody>
      </p:sp>
      <p:sp>
        <p:nvSpPr>
          <p:cNvPr id="3" name="Espace réservé du contenu 2"/>
          <p:cNvSpPr>
            <a:spLocks noGrp="1"/>
          </p:cNvSpPr>
          <p:nvPr>
            <p:ph idx="1"/>
          </p:nvPr>
        </p:nvSpPr>
        <p:spPr/>
        <p:txBody>
          <a:bodyPr/>
          <a:lstStyle/>
          <a:p>
            <a:r>
              <a:rPr lang="fr-FR" b="1" u="sng" dirty="0"/>
              <a:t>BRAINSTORMING</a:t>
            </a:r>
            <a:r>
              <a:rPr lang="fr-FR" b="1" dirty="0"/>
              <a:t> : </a:t>
            </a:r>
          </a:p>
          <a:p>
            <a:pPr marL="0" indent="0">
              <a:buNone/>
            </a:pPr>
            <a:r>
              <a:rPr lang="fr-FR" dirty="0"/>
              <a:t>  Les étapes de création d’un site web</a:t>
            </a:r>
          </a:p>
          <a:p>
            <a:pPr marL="0" indent="0">
              <a:buNone/>
            </a:pPr>
            <a:endParaRPr lang="fr-FR" dirty="0"/>
          </a:p>
          <a:p>
            <a:r>
              <a:rPr lang="fr-FR" b="1" i="1" dirty="0"/>
              <a:t>En groupe, sur un tableur Excel, listez les tâches, jalons et livrables de votre projet : </a:t>
            </a:r>
          </a:p>
          <a:p>
            <a:pPr marL="0" indent="0">
              <a:buNone/>
            </a:pPr>
            <a:endParaRPr lang="fr-FR" dirty="0"/>
          </a:p>
          <a:p>
            <a:pPr>
              <a:buFontTx/>
              <a:buChar char="-"/>
            </a:pPr>
            <a:r>
              <a:rPr lang="fr-FR" dirty="0"/>
              <a:t>Etapes détaillées de la création d’un site internet de l’initialisation à la clôture </a:t>
            </a:r>
          </a:p>
          <a:p>
            <a:pPr>
              <a:buFontTx/>
              <a:buChar char="-"/>
            </a:pPr>
            <a:r>
              <a:rPr lang="fr-FR" dirty="0"/>
              <a:t>Durée </a:t>
            </a:r>
          </a:p>
          <a:p>
            <a:pPr>
              <a:buFontTx/>
              <a:buChar char="-"/>
            </a:pPr>
            <a:r>
              <a:rPr lang="fr-FR" dirty="0"/>
              <a:t>Ressources humaines</a:t>
            </a:r>
          </a:p>
          <a:p>
            <a:pPr>
              <a:buFontTx/>
              <a:buChar char="-"/>
            </a:pPr>
            <a:r>
              <a:rPr lang="fr-FR" dirty="0"/>
              <a:t>Coût mensuel/taux horaire des ressources humaines</a:t>
            </a:r>
          </a:p>
          <a:p>
            <a:pPr marL="0" indent="0">
              <a:buNone/>
            </a:pPr>
            <a:endParaRPr lang="fr-FR" dirty="0"/>
          </a:p>
          <a:p>
            <a:pPr marL="0" indent="0">
              <a:buNone/>
            </a:pPr>
            <a:endParaRPr lang="fr-FR" dirty="0"/>
          </a:p>
          <a:p>
            <a:endParaRPr lang="fr-FR" dirty="0"/>
          </a:p>
        </p:txBody>
      </p:sp>
    </p:spTree>
    <p:extLst>
      <p:ext uri="{BB962C8B-B14F-4D97-AF65-F5344CB8AC3E}">
        <p14:creationId xmlns:p14="http://schemas.microsoft.com/office/powerpoint/2010/main" val="2855230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a:t>CHAPITRE 2</a:t>
            </a:r>
            <a:br>
              <a:rPr lang="fr-FR" dirty="0"/>
            </a:br>
            <a:r>
              <a:rPr lang="fr-FR" dirty="0"/>
              <a:t>PLANIFICATION</a:t>
            </a:r>
          </a:p>
        </p:txBody>
      </p:sp>
      <p:sp>
        <p:nvSpPr>
          <p:cNvPr id="5" name="Sous-titre 4"/>
          <p:cNvSpPr>
            <a:spLocks noGrp="1"/>
          </p:cNvSpPr>
          <p:nvPr>
            <p:ph type="subTitle" idx="1"/>
          </p:nvPr>
        </p:nvSpPr>
        <p:spPr/>
        <p:txBody>
          <a:bodyPr>
            <a:normAutofit/>
          </a:bodyPr>
          <a:lstStyle/>
          <a:p>
            <a:r>
              <a:rPr lang="fr-FR" sz="2800" b="1" dirty="0">
                <a:solidFill>
                  <a:schemeClr val="tx2"/>
                </a:solidFill>
              </a:rPr>
              <a:t>Exercice pratique sur MS PROJECT</a:t>
            </a:r>
          </a:p>
          <a:p>
            <a:endParaRPr lang="fr-FR" sz="2800" dirty="0"/>
          </a:p>
        </p:txBody>
      </p:sp>
    </p:spTree>
    <p:extLst>
      <p:ext uri="{BB962C8B-B14F-4D97-AF65-F5344CB8AC3E}">
        <p14:creationId xmlns:p14="http://schemas.microsoft.com/office/powerpoint/2010/main" val="4108483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Créer un projet avec MS Project	</a:t>
            </a:r>
          </a:p>
        </p:txBody>
      </p:sp>
      <p:sp>
        <p:nvSpPr>
          <p:cNvPr id="3" name="Espace réservé du contenu 2"/>
          <p:cNvSpPr>
            <a:spLocks noGrp="1"/>
          </p:cNvSpPr>
          <p:nvPr>
            <p:ph idx="1"/>
          </p:nvPr>
        </p:nvSpPr>
        <p:spPr/>
        <p:txBody>
          <a:bodyPr/>
          <a:lstStyle/>
          <a:p>
            <a:r>
              <a:rPr lang="fr-FR" dirty="0"/>
              <a:t>Démarrer un nouveau projet</a:t>
            </a:r>
          </a:p>
          <a:p>
            <a:r>
              <a:rPr lang="fr-FR" dirty="0"/>
              <a:t>Différents onglets/menus : Tâche, ressource, rapport, projet, affichage, format</a:t>
            </a:r>
          </a:p>
          <a:p>
            <a:r>
              <a:rPr lang="fr-FR" dirty="0"/>
              <a:t>Espace « Chronologie » avec une vue d’ensemble du projet</a:t>
            </a:r>
          </a:p>
          <a:p>
            <a:r>
              <a:rPr lang="fr-FR" dirty="0"/>
              <a:t>Espace « Diagramme de Gantt » + une partie graphique sur la droite</a:t>
            </a:r>
          </a:p>
          <a:p>
            <a:r>
              <a:rPr lang="fr-FR" dirty="0"/>
              <a:t>Au préalable, définir les options de son projet : </a:t>
            </a:r>
            <a:r>
              <a:rPr lang="fr-FR" i="1" dirty="0"/>
              <a:t>Fichier / Options / Puis paramétrer l’affichage, l’échéancier…</a:t>
            </a:r>
          </a:p>
          <a:p>
            <a:endParaRPr lang="fr-FR" i="1" dirty="0"/>
          </a:p>
        </p:txBody>
      </p:sp>
    </p:spTree>
    <p:extLst>
      <p:ext uri="{BB962C8B-B14F-4D97-AF65-F5344CB8AC3E}">
        <p14:creationId xmlns:p14="http://schemas.microsoft.com/office/powerpoint/2010/main" val="1932166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Créer un projet avec MS Project	</a:t>
            </a:r>
          </a:p>
        </p:txBody>
      </p:sp>
      <p:sp>
        <p:nvSpPr>
          <p:cNvPr id="3" name="Espace réservé du contenu 2"/>
          <p:cNvSpPr>
            <a:spLocks noGrp="1"/>
          </p:cNvSpPr>
          <p:nvPr>
            <p:ph idx="1"/>
          </p:nvPr>
        </p:nvSpPr>
        <p:spPr/>
        <p:txBody>
          <a:bodyPr>
            <a:normAutofit fontScale="92500" lnSpcReduction="10000"/>
          </a:bodyPr>
          <a:lstStyle/>
          <a:p>
            <a:r>
              <a:rPr lang="fr-FR" dirty="0"/>
              <a:t>Ajouter les tâches de son projet, en mettant en 1</a:t>
            </a:r>
            <a:r>
              <a:rPr lang="fr-FR" baseline="30000" dirty="0"/>
              <a:t>ère</a:t>
            </a:r>
            <a:r>
              <a:rPr lang="fr-FR" dirty="0"/>
              <a:t> tâche « Mon projet XYZ »</a:t>
            </a:r>
          </a:p>
          <a:p>
            <a:endParaRPr lang="fr-FR" dirty="0"/>
          </a:p>
          <a:p>
            <a:r>
              <a:rPr lang="fr-FR" dirty="0"/>
              <a:t>Ajouter ensuite les 4 phases clés du projet :</a:t>
            </a:r>
          </a:p>
          <a:p>
            <a:pPr lvl="1">
              <a:buFontTx/>
              <a:buChar char="-"/>
            </a:pPr>
            <a:r>
              <a:rPr lang="fr-FR" sz="2400" dirty="0"/>
              <a:t>Initialisation</a:t>
            </a:r>
          </a:p>
          <a:p>
            <a:pPr lvl="1">
              <a:buFontTx/>
              <a:buChar char="-"/>
            </a:pPr>
            <a:r>
              <a:rPr lang="fr-FR" sz="2400" dirty="0"/>
              <a:t>Planification</a:t>
            </a:r>
          </a:p>
          <a:p>
            <a:pPr lvl="1">
              <a:buFontTx/>
              <a:buChar char="-"/>
            </a:pPr>
            <a:r>
              <a:rPr lang="fr-FR" sz="2400" dirty="0"/>
              <a:t>Exécution</a:t>
            </a:r>
          </a:p>
          <a:p>
            <a:pPr lvl="2">
              <a:buFontTx/>
              <a:buChar char="-"/>
            </a:pPr>
            <a:r>
              <a:rPr lang="fr-FR" sz="2200" dirty="0"/>
              <a:t>Définition</a:t>
            </a:r>
          </a:p>
          <a:p>
            <a:pPr lvl="2">
              <a:buFontTx/>
              <a:buChar char="-"/>
            </a:pPr>
            <a:r>
              <a:rPr lang="fr-FR" sz="2200" dirty="0"/>
              <a:t>Design</a:t>
            </a:r>
          </a:p>
          <a:p>
            <a:pPr lvl="2">
              <a:buFontTx/>
              <a:buChar char="-"/>
            </a:pPr>
            <a:r>
              <a:rPr lang="fr-FR" sz="2200" dirty="0"/>
              <a:t>Intégration</a:t>
            </a:r>
          </a:p>
          <a:p>
            <a:pPr lvl="2">
              <a:buFontTx/>
              <a:buChar char="-"/>
            </a:pPr>
            <a:r>
              <a:rPr lang="fr-FR" sz="2200" dirty="0"/>
              <a:t>Test</a:t>
            </a:r>
          </a:p>
          <a:p>
            <a:pPr lvl="2">
              <a:buFontTx/>
              <a:buChar char="-"/>
            </a:pPr>
            <a:r>
              <a:rPr lang="fr-FR" sz="2200" dirty="0"/>
              <a:t>Mise en production</a:t>
            </a:r>
          </a:p>
          <a:p>
            <a:pPr lvl="1">
              <a:buFontTx/>
              <a:buChar char="-"/>
            </a:pPr>
            <a:r>
              <a:rPr lang="fr-FR" sz="2400" dirty="0"/>
              <a:t>Clôture</a:t>
            </a:r>
          </a:p>
          <a:p>
            <a:pPr>
              <a:buFontTx/>
              <a:buChar char="-"/>
            </a:pPr>
            <a:endParaRPr lang="fr-FR" dirty="0"/>
          </a:p>
        </p:txBody>
      </p:sp>
    </p:spTree>
    <p:extLst>
      <p:ext uri="{BB962C8B-B14F-4D97-AF65-F5344CB8AC3E}">
        <p14:creationId xmlns:p14="http://schemas.microsoft.com/office/powerpoint/2010/main" val="3681266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Créer un projet avec MS Project	</a:t>
            </a:r>
          </a:p>
        </p:txBody>
      </p:sp>
      <p:sp>
        <p:nvSpPr>
          <p:cNvPr id="3" name="Espace réservé du contenu 2"/>
          <p:cNvSpPr>
            <a:spLocks noGrp="1"/>
          </p:cNvSpPr>
          <p:nvPr>
            <p:ph idx="1"/>
          </p:nvPr>
        </p:nvSpPr>
        <p:spPr/>
        <p:txBody>
          <a:bodyPr>
            <a:normAutofit fontScale="92500" lnSpcReduction="10000"/>
          </a:bodyPr>
          <a:lstStyle/>
          <a:p>
            <a:r>
              <a:rPr lang="fr-FR" dirty="0"/>
              <a:t>Définir soit même la date de démarrage du projet : </a:t>
            </a:r>
            <a:r>
              <a:rPr lang="fr-FR" i="1" dirty="0"/>
              <a:t>Menu Projet / Déplacer le projet.</a:t>
            </a:r>
          </a:p>
          <a:p>
            <a:endParaRPr lang="fr-FR" dirty="0"/>
          </a:p>
          <a:p>
            <a:r>
              <a:rPr lang="fr-FR" dirty="0"/>
              <a:t>Attribuer des ressources à ce projet : </a:t>
            </a:r>
            <a:r>
              <a:rPr lang="fr-FR" i="1" dirty="0"/>
              <a:t>Menu Tâches / Tableau des ressources </a:t>
            </a:r>
            <a:r>
              <a:rPr lang="fr-FR" dirty="0"/>
              <a:t>(en haut à gauche, menu déroulant « Vue » où il y a écrit par défaut « Diagramme GANTT »)</a:t>
            </a:r>
          </a:p>
          <a:p>
            <a:endParaRPr lang="fr-FR" dirty="0"/>
          </a:p>
          <a:p>
            <a:r>
              <a:rPr lang="fr-FR" dirty="0"/>
              <a:t>Saisir les ressources humaines nécessaires : Intitulé, taux horaire</a:t>
            </a:r>
          </a:p>
          <a:p>
            <a:endParaRPr lang="fr-FR" dirty="0"/>
          </a:p>
          <a:p>
            <a:r>
              <a:rPr lang="fr-FR" dirty="0"/>
              <a:t>Attribuer les ressources à chacune des tâches : Directement dans la partie tableau du Diagramme Gantt, compléter la colonne « Noms Ressources » en sélectionner la/les ressource(s) concernée(s) par la tâche à accomplir</a:t>
            </a:r>
          </a:p>
        </p:txBody>
      </p:sp>
    </p:spTree>
    <p:extLst>
      <p:ext uri="{BB962C8B-B14F-4D97-AF65-F5344CB8AC3E}">
        <p14:creationId xmlns:p14="http://schemas.microsoft.com/office/powerpoint/2010/main" val="2553893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Créer un projet avec MS Project	</a:t>
            </a:r>
          </a:p>
        </p:txBody>
      </p:sp>
      <p:sp>
        <p:nvSpPr>
          <p:cNvPr id="3" name="Espace réservé du contenu 2"/>
          <p:cNvSpPr>
            <a:spLocks noGrp="1"/>
          </p:cNvSpPr>
          <p:nvPr>
            <p:ph idx="1"/>
          </p:nvPr>
        </p:nvSpPr>
        <p:spPr/>
        <p:txBody>
          <a:bodyPr>
            <a:normAutofit fontScale="92500" lnSpcReduction="10000"/>
          </a:bodyPr>
          <a:lstStyle/>
          <a:p>
            <a:r>
              <a:rPr lang="fr-FR" dirty="0"/>
              <a:t>Définir soit même la date de démarrage du projet : </a:t>
            </a:r>
            <a:r>
              <a:rPr lang="fr-FR" i="1" dirty="0"/>
              <a:t>Menu Projet / Déplacer le projet.</a:t>
            </a:r>
          </a:p>
          <a:p>
            <a:endParaRPr lang="fr-FR" dirty="0"/>
          </a:p>
          <a:p>
            <a:r>
              <a:rPr lang="fr-FR" dirty="0"/>
              <a:t>Attribuer des ressources à ce projet : </a:t>
            </a:r>
            <a:r>
              <a:rPr lang="fr-FR" i="1" dirty="0"/>
              <a:t>Menu Tâches / Tableau des ressources </a:t>
            </a:r>
            <a:r>
              <a:rPr lang="fr-FR" dirty="0"/>
              <a:t>(en haut à gauche, menu déroulant « Vue » où il y a écrit par défaut « Diagramme GANTT »)</a:t>
            </a:r>
          </a:p>
          <a:p>
            <a:endParaRPr lang="fr-FR" dirty="0"/>
          </a:p>
          <a:p>
            <a:r>
              <a:rPr lang="fr-FR" dirty="0"/>
              <a:t>Saisir les ressources humaines nécessaires : Intitulé, taux horaire, capacité maximum (% d’attribution sur le projet)</a:t>
            </a:r>
          </a:p>
          <a:p>
            <a:endParaRPr lang="fr-FR" dirty="0"/>
          </a:p>
          <a:p>
            <a:r>
              <a:rPr lang="fr-FR" dirty="0"/>
              <a:t>Attribuer les ressources à chacune des tâches : Directement dans la partie tableau du Diagramme Gantt, compléter la colonne « Noms Ressources » en sélectionner la/les ressource(s) concernée(s) par la tâche à accomplir</a:t>
            </a:r>
          </a:p>
        </p:txBody>
      </p:sp>
    </p:spTree>
    <p:extLst>
      <p:ext uri="{BB962C8B-B14F-4D97-AF65-F5344CB8AC3E}">
        <p14:creationId xmlns:p14="http://schemas.microsoft.com/office/powerpoint/2010/main" val="2028168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Créer un projet avec MS Project	</a:t>
            </a:r>
          </a:p>
        </p:txBody>
      </p:sp>
      <p:sp>
        <p:nvSpPr>
          <p:cNvPr id="3" name="Espace réservé du contenu 2"/>
          <p:cNvSpPr>
            <a:spLocks noGrp="1"/>
          </p:cNvSpPr>
          <p:nvPr>
            <p:ph idx="1"/>
          </p:nvPr>
        </p:nvSpPr>
        <p:spPr/>
        <p:txBody>
          <a:bodyPr>
            <a:normAutofit/>
          </a:bodyPr>
          <a:lstStyle/>
          <a:p>
            <a:r>
              <a:rPr lang="fr-FR" dirty="0"/>
              <a:t>La colonne « Coût » se complète au fur et à mesure, si vous avez saisi des taux horaires + capacité maximum (% d’attribution sur le projet), pour chaque ressource, dans le tableau des ressources. </a:t>
            </a:r>
            <a:endParaRPr lang="fr-FR" i="1" dirty="0"/>
          </a:p>
          <a:p>
            <a:endParaRPr lang="fr-FR" i="1" dirty="0"/>
          </a:p>
          <a:p>
            <a:r>
              <a:rPr lang="fr-FR" dirty="0"/>
              <a:t>Définir le planning de référence : Menu Projet « Définir le planning de référence »</a:t>
            </a:r>
          </a:p>
          <a:p>
            <a:endParaRPr lang="fr-FR" dirty="0"/>
          </a:p>
          <a:p>
            <a:r>
              <a:rPr lang="fr-FR" dirty="0"/>
              <a:t>Suivre l’exécution du projet et gérer l’état d’avancement du projet : Menu Tâches / Achevée à 0% / 25% / 50% / 75% / 100%</a:t>
            </a:r>
          </a:p>
          <a:p>
            <a:endParaRPr lang="fr-FR" dirty="0"/>
          </a:p>
        </p:txBody>
      </p:sp>
    </p:spTree>
    <p:extLst>
      <p:ext uri="{BB962C8B-B14F-4D97-AF65-F5344CB8AC3E}">
        <p14:creationId xmlns:p14="http://schemas.microsoft.com/office/powerpoint/2010/main" val="1973886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Créer un projet avec MS Project	</a:t>
            </a:r>
          </a:p>
        </p:txBody>
      </p:sp>
      <p:sp>
        <p:nvSpPr>
          <p:cNvPr id="3" name="Espace réservé du contenu 2"/>
          <p:cNvSpPr>
            <a:spLocks noGrp="1"/>
          </p:cNvSpPr>
          <p:nvPr>
            <p:ph idx="1"/>
          </p:nvPr>
        </p:nvSpPr>
        <p:spPr/>
        <p:txBody>
          <a:bodyPr>
            <a:normAutofit lnSpcReduction="10000"/>
          </a:bodyPr>
          <a:lstStyle/>
          <a:p>
            <a:r>
              <a:rPr lang="fr-FR" dirty="0"/>
              <a:t>Définir en amont un retard sur une tâche / un niveau d’avancement partiel : Menu Projet / Date d’état « NC » et sélectionner la date, puis définir le niveau d’avancement</a:t>
            </a:r>
          </a:p>
          <a:p>
            <a:endParaRPr lang="fr-FR" dirty="0"/>
          </a:p>
          <a:p>
            <a:r>
              <a:rPr lang="fr-FR" dirty="0"/>
              <a:t>Avec la vue « Suivi Gantt » on peut voir clairement le suivi d’avancement.</a:t>
            </a:r>
          </a:p>
          <a:p>
            <a:endParaRPr lang="fr-FR" dirty="0"/>
          </a:p>
          <a:p>
            <a:r>
              <a:rPr lang="fr-FR" dirty="0"/>
              <a:t>Toujours sur la vue « Suivi Gantt », on peut visualiser le planning de référence VS le planning effectivement réalisé.</a:t>
            </a:r>
          </a:p>
          <a:p>
            <a:endParaRPr lang="fr-FR" dirty="0"/>
          </a:p>
          <a:p>
            <a:r>
              <a:rPr lang="fr-FR" dirty="0"/>
              <a:t>Naviguer également sur les onglets « Rapports » </a:t>
            </a:r>
          </a:p>
          <a:p>
            <a:endParaRPr lang="fr-FR" dirty="0"/>
          </a:p>
          <a:p>
            <a:endParaRPr lang="fr-FR" dirty="0"/>
          </a:p>
        </p:txBody>
      </p:sp>
    </p:spTree>
    <p:extLst>
      <p:ext uri="{BB962C8B-B14F-4D97-AF65-F5344CB8AC3E}">
        <p14:creationId xmlns:p14="http://schemas.microsoft.com/office/powerpoint/2010/main" val="25737459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Créer et suivre l’avancement d’un projet  avec MS Project</a:t>
            </a:r>
          </a:p>
        </p:txBody>
      </p:sp>
      <p:sp>
        <p:nvSpPr>
          <p:cNvPr id="3" name="Espace réservé du contenu 2"/>
          <p:cNvSpPr>
            <a:spLocks noGrp="1"/>
          </p:cNvSpPr>
          <p:nvPr>
            <p:ph idx="1"/>
          </p:nvPr>
        </p:nvSpPr>
        <p:spPr>
          <a:xfrm>
            <a:off x="457200" y="3181713"/>
            <a:ext cx="8229600" cy="2911583"/>
          </a:xfrm>
        </p:spPr>
        <p:txBody>
          <a:bodyPr>
            <a:normAutofit/>
          </a:bodyPr>
          <a:lstStyle/>
          <a:p>
            <a:pPr marL="0" indent="0">
              <a:buNone/>
            </a:pPr>
            <a:endParaRPr lang="fr-FR" dirty="0"/>
          </a:p>
          <a:p>
            <a:pPr marL="514350" indent="-514350">
              <a:buAutoNum type="arabicPeriod"/>
            </a:pPr>
            <a:r>
              <a:rPr lang="fr-FR" dirty="0"/>
              <a:t>Création d'un nouveau projet</a:t>
            </a:r>
          </a:p>
          <a:p>
            <a:pPr marL="514350" indent="-514350">
              <a:buAutoNum type="arabicPeriod"/>
            </a:pPr>
            <a:r>
              <a:rPr lang="fr-FR" dirty="0"/>
              <a:t>Gestion des calendriers </a:t>
            </a:r>
          </a:p>
          <a:p>
            <a:pPr marL="514350" indent="-514350">
              <a:buAutoNum type="arabicPeriod"/>
            </a:pPr>
            <a:r>
              <a:rPr lang="fr-FR" dirty="0"/>
              <a:t>Ordonnancement du projet</a:t>
            </a:r>
          </a:p>
          <a:p>
            <a:pPr marL="514350" indent="-514350">
              <a:buFont typeface="Arial" pitchFamily="34" charset="0"/>
              <a:buAutoNum type="arabicPeriod"/>
            </a:pPr>
            <a:r>
              <a:rPr lang="fr-FR" dirty="0"/>
              <a:t>Gérer les ressources</a:t>
            </a:r>
          </a:p>
          <a:p>
            <a:pPr marL="514350" indent="-514350">
              <a:buFont typeface="Arial" pitchFamily="34" charset="0"/>
              <a:buAutoNum type="arabicPeriod"/>
            </a:pPr>
            <a:r>
              <a:rPr lang="fr-FR" dirty="0"/>
              <a:t>Reporting du projet</a:t>
            </a:r>
          </a:p>
        </p:txBody>
      </p:sp>
      <p:sp>
        <p:nvSpPr>
          <p:cNvPr id="4" name="Rectangle 3"/>
          <p:cNvSpPr/>
          <p:nvPr/>
        </p:nvSpPr>
        <p:spPr>
          <a:xfrm>
            <a:off x="470498" y="1877923"/>
            <a:ext cx="8216302" cy="1200329"/>
          </a:xfrm>
          <a:prstGeom prst="rect">
            <a:avLst/>
          </a:prstGeom>
        </p:spPr>
        <p:txBody>
          <a:bodyPr wrap="square">
            <a:spAutoFit/>
          </a:bodyPr>
          <a:lstStyle/>
          <a:p>
            <a:r>
              <a:rPr lang="fr-FR" sz="2400" b="1" dirty="0">
                <a:solidFill>
                  <a:schemeClr val="accent1"/>
                </a:solidFill>
              </a:rPr>
              <a:t>Planifier, mettre à jour et analyser un projet de site web </a:t>
            </a:r>
            <a:r>
              <a:rPr lang="fr-FR" sz="2400" b="1" i="1" dirty="0">
                <a:solidFill>
                  <a:schemeClr val="accent1"/>
                </a:solidFill>
              </a:rPr>
              <a:t>« Site web INNOVATION » </a:t>
            </a:r>
            <a:r>
              <a:rPr lang="fr-FR" sz="2400" b="1" dirty="0">
                <a:solidFill>
                  <a:schemeClr val="accent1"/>
                </a:solidFill>
              </a:rPr>
              <a:t>depuis la conception initiale jusqu’à son achèvement.	</a:t>
            </a:r>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29</a:t>
            </a:fld>
            <a:endParaRPr lang="fr-BE"/>
          </a:p>
        </p:txBody>
      </p:sp>
    </p:spTree>
    <p:extLst>
      <p:ext uri="{BB962C8B-B14F-4D97-AF65-F5344CB8AC3E}">
        <p14:creationId xmlns:p14="http://schemas.microsoft.com/office/powerpoint/2010/main" val="1090552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5 étapes	</a:t>
            </a:r>
          </a:p>
        </p:txBody>
      </p:sp>
      <p:sp>
        <p:nvSpPr>
          <p:cNvPr id="3" name="Espace réservé du contenu 2"/>
          <p:cNvSpPr>
            <a:spLocks noGrp="1"/>
          </p:cNvSpPr>
          <p:nvPr>
            <p:ph idx="1"/>
          </p:nvPr>
        </p:nvSpPr>
        <p:spPr/>
        <p:txBody>
          <a:bodyPr>
            <a:normAutofit fontScale="92500" lnSpcReduction="10000"/>
          </a:bodyPr>
          <a:lstStyle/>
          <a:p>
            <a:pPr marL="457200" indent="-457200">
              <a:buAutoNum type="arabicPeriod"/>
            </a:pPr>
            <a:r>
              <a:rPr lang="fr-FR" dirty="0"/>
              <a:t>Initialiser le projet en définissant son nom, sa date de début, le calendrier </a:t>
            </a:r>
          </a:p>
          <a:p>
            <a:pPr marL="457200" indent="-457200">
              <a:buAutoNum type="arabicPeriod"/>
            </a:pPr>
            <a:r>
              <a:rPr lang="fr-FR" dirty="0"/>
              <a:t>Définir la listes des tâches et des ressources</a:t>
            </a:r>
          </a:p>
          <a:p>
            <a:pPr marL="457200" indent="-457200">
              <a:buAutoNum type="arabicPeriod"/>
            </a:pPr>
            <a:r>
              <a:rPr lang="fr-FR" dirty="0"/>
              <a:t>Planifier le projet c'est-à-dire saisir les tâches en indiquant leur durée, préciser dans quel ordre et éventuellement à quelle date les activités seront réalisées</a:t>
            </a:r>
          </a:p>
          <a:p>
            <a:pPr marL="457200" indent="-457200">
              <a:buAutoNum type="arabicPeriod"/>
            </a:pPr>
            <a:r>
              <a:rPr lang="fr-FR" dirty="0"/>
              <a:t>Affecter les ressources aux tâches, car ce projet nécessitera des ressources humaines (les développeurs) et il faudra calculer la charge et le coût de chaque tâche, de chaque phase puis du projet tout entier</a:t>
            </a:r>
          </a:p>
          <a:p>
            <a:pPr marL="457200" indent="-457200">
              <a:buAutoNum type="arabicPeriod"/>
            </a:pPr>
            <a:r>
              <a:rPr lang="fr-FR" dirty="0"/>
              <a:t>Gérer un projet demande à rendre compte régulièrement de la planification et de la réalisation du projet. Pour cela, régulièrement, vous imprimerez des vues du projet, vous publierez des tableaux de bords. </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30</a:t>
            </a:fld>
            <a:endParaRPr lang="fr-BE"/>
          </a:p>
        </p:txBody>
      </p:sp>
    </p:spTree>
    <p:extLst>
      <p:ext uri="{BB962C8B-B14F-4D97-AF65-F5344CB8AC3E}">
        <p14:creationId xmlns:p14="http://schemas.microsoft.com/office/powerpoint/2010/main" val="787185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611560" y="1371600"/>
            <a:ext cx="8206680" cy="1927225"/>
          </a:xfrm>
        </p:spPr>
        <p:txBody>
          <a:bodyPr/>
          <a:lstStyle/>
          <a:p>
            <a:pPr algn="r"/>
            <a:r>
              <a:rPr lang="fr-FR" dirty="0"/>
              <a:t>1. Créer un nouveau projet</a:t>
            </a:r>
          </a:p>
        </p:txBody>
      </p:sp>
      <p:sp>
        <p:nvSpPr>
          <p:cNvPr id="2" name="Espace réservé du numéro de diapositive 1"/>
          <p:cNvSpPr>
            <a:spLocks noGrp="1"/>
          </p:cNvSpPr>
          <p:nvPr>
            <p:ph type="sldNum" sz="quarter" idx="12"/>
          </p:nvPr>
        </p:nvSpPr>
        <p:spPr/>
        <p:txBody>
          <a:bodyPr/>
          <a:lstStyle/>
          <a:p>
            <a:fld id="{CF4668DC-857F-487D-BFFA-8C0CA5037977}" type="slidenum">
              <a:rPr lang="fr-BE" smtClean="0"/>
              <a:pPr/>
              <a:t>31</a:t>
            </a:fld>
            <a:endParaRPr lang="fr-BE"/>
          </a:p>
        </p:txBody>
      </p:sp>
    </p:spTree>
    <p:extLst>
      <p:ext uri="{BB962C8B-B14F-4D97-AF65-F5344CB8AC3E}">
        <p14:creationId xmlns:p14="http://schemas.microsoft.com/office/powerpoint/2010/main" val="26444948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1. Création d'un nouveau projet	</a:t>
            </a:r>
          </a:p>
        </p:txBody>
      </p:sp>
      <p:sp>
        <p:nvSpPr>
          <p:cNvPr id="3" name="Espace réservé du contenu 2"/>
          <p:cNvSpPr>
            <a:spLocks noGrp="1"/>
          </p:cNvSpPr>
          <p:nvPr>
            <p:ph idx="1"/>
          </p:nvPr>
        </p:nvSpPr>
        <p:spPr/>
        <p:txBody>
          <a:bodyPr>
            <a:normAutofit fontScale="92500" lnSpcReduction="10000"/>
          </a:bodyPr>
          <a:lstStyle/>
          <a:p>
            <a:pPr marL="457200" indent="-457200">
              <a:buAutoNum type="alphaUcPeriod"/>
            </a:pPr>
            <a:r>
              <a:rPr lang="fr-FR" b="1" dirty="0">
                <a:solidFill>
                  <a:schemeClr val="accent1"/>
                </a:solidFill>
              </a:rPr>
              <a:t>Initialisation du projet</a:t>
            </a:r>
          </a:p>
          <a:p>
            <a:pPr marL="0" indent="0">
              <a:buNone/>
            </a:pPr>
            <a:endParaRPr lang="fr-FR" b="1" dirty="0"/>
          </a:p>
          <a:p>
            <a:pPr marL="457200" indent="-457200">
              <a:buAutoNum type="arabicPeriod"/>
            </a:pPr>
            <a:r>
              <a:rPr lang="fr-FR" dirty="0"/>
              <a:t>Lancez MS Projet : un Diagramme de Gantt vide s’affiche à l’écran.</a:t>
            </a:r>
          </a:p>
          <a:p>
            <a:pPr marL="457200" indent="-457200">
              <a:buAutoNum type="arabicPeriod"/>
            </a:pPr>
            <a:endParaRPr lang="fr-FR" dirty="0"/>
          </a:p>
          <a:p>
            <a:pPr marL="457200" indent="-457200">
              <a:buAutoNum type="arabicPeriod"/>
            </a:pPr>
            <a:r>
              <a:rPr lang="fr-FR" dirty="0"/>
              <a:t>Différents affichages / menus : </a:t>
            </a:r>
          </a:p>
          <a:p>
            <a:pPr marL="0" indent="0">
              <a:buNone/>
            </a:pPr>
            <a:r>
              <a:rPr lang="fr-FR" dirty="0"/>
              <a:t>	</a:t>
            </a:r>
            <a:r>
              <a:rPr lang="fr-FR" b="1" dirty="0"/>
              <a:t>1. </a:t>
            </a:r>
            <a:r>
              <a:rPr lang="fr-FR" dirty="0"/>
              <a:t>Diagramme Gantt (affichage par défaut)</a:t>
            </a:r>
            <a:br>
              <a:rPr lang="fr-FR" dirty="0"/>
            </a:br>
            <a:r>
              <a:rPr lang="fr-FR" dirty="0"/>
              <a:t>	</a:t>
            </a:r>
            <a:r>
              <a:rPr lang="fr-FR" b="1" dirty="0"/>
              <a:t>2. </a:t>
            </a:r>
            <a:r>
              <a:rPr lang="fr-FR" dirty="0"/>
              <a:t>Liste des tâches (affichage par défaut)</a:t>
            </a:r>
          </a:p>
          <a:p>
            <a:pPr marL="0" indent="0">
              <a:buNone/>
            </a:pPr>
            <a:r>
              <a:rPr lang="fr-FR" dirty="0"/>
              <a:t>	</a:t>
            </a:r>
            <a:r>
              <a:rPr lang="fr-FR" b="1" dirty="0"/>
              <a:t>3. </a:t>
            </a:r>
            <a:r>
              <a:rPr lang="fr-FR" dirty="0"/>
              <a:t>Barre de menu et barre d’outils : </a:t>
            </a:r>
            <a:br>
              <a:rPr lang="fr-FR" dirty="0"/>
            </a:br>
            <a:r>
              <a:rPr lang="fr-FR" dirty="0"/>
              <a:t>	Tâche, ressource, rapport, projet, affichage, format. </a:t>
            </a:r>
            <a:br>
              <a:rPr lang="fr-FR" dirty="0"/>
            </a:br>
            <a:r>
              <a:rPr lang="fr-FR" dirty="0"/>
              <a:t>	</a:t>
            </a:r>
            <a:r>
              <a:rPr lang="fr-FR" b="1" dirty="0"/>
              <a:t>4. </a:t>
            </a:r>
            <a:r>
              <a:rPr lang="fr-FR" dirty="0"/>
              <a:t>Chronologie : une vue d’ensemble du projet</a:t>
            </a:r>
          </a:p>
          <a:p>
            <a:pPr marL="0" indent="0">
              <a:buNone/>
            </a:pPr>
            <a:endParaRPr lang="fr-FR" dirty="0"/>
          </a:p>
          <a:p>
            <a:pPr marL="0" indent="0" algn="r">
              <a:buNone/>
            </a:pPr>
            <a:r>
              <a:rPr lang="fr-FR" u="sng" dirty="0"/>
              <a:t>Cf. capture écran ci-après</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32</a:t>
            </a:fld>
            <a:endParaRPr lang="fr-BE"/>
          </a:p>
        </p:txBody>
      </p:sp>
    </p:spTree>
    <p:extLst>
      <p:ext uri="{BB962C8B-B14F-4D97-AF65-F5344CB8AC3E}">
        <p14:creationId xmlns:p14="http://schemas.microsoft.com/office/powerpoint/2010/main" val="4267429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1. Création d'un nouveau projet	</a:t>
            </a:r>
          </a:p>
        </p:txBody>
      </p:sp>
      <p:sp>
        <p:nvSpPr>
          <p:cNvPr id="3" name="Espace réservé du contenu 2"/>
          <p:cNvSpPr>
            <a:spLocks noGrp="1"/>
          </p:cNvSpPr>
          <p:nvPr>
            <p:ph idx="1"/>
          </p:nvPr>
        </p:nvSpPr>
        <p:spPr/>
        <p:txBody>
          <a:bodyPr>
            <a:normAutofit/>
          </a:bodyPr>
          <a:lstStyle/>
          <a:p>
            <a:pPr marL="457200" indent="-457200">
              <a:buAutoNum type="alphaUcPeriod"/>
            </a:pPr>
            <a:r>
              <a:rPr lang="fr-FR" b="1" dirty="0">
                <a:solidFill>
                  <a:schemeClr val="accent1"/>
                </a:solidFill>
              </a:rPr>
              <a:t>Initialisation du projet</a:t>
            </a:r>
          </a:p>
          <a:p>
            <a:pPr marL="0" indent="0">
              <a:buNone/>
            </a:pPr>
            <a:endParaRPr lang="fr-FR" b="1"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33</a:t>
            </a:fld>
            <a:endParaRPr lang="fr-BE"/>
          </a:p>
        </p:txBody>
      </p:sp>
      <p:pic>
        <p:nvPicPr>
          <p:cNvPr id="5" name="Image 4"/>
          <p:cNvPicPr>
            <a:picLocks noChangeAspect="1"/>
          </p:cNvPicPr>
          <p:nvPr/>
        </p:nvPicPr>
        <p:blipFill>
          <a:blip r:embed="rId3"/>
          <a:stretch>
            <a:fillRect/>
          </a:stretch>
        </p:blipFill>
        <p:spPr>
          <a:xfrm>
            <a:off x="899592" y="2008796"/>
            <a:ext cx="7216864" cy="4820252"/>
          </a:xfrm>
          <a:prstGeom prst="rect">
            <a:avLst/>
          </a:prstGeom>
        </p:spPr>
      </p:pic>
      <p:sp>
        <p:nvSpPr>
          <p:cNvPr id="7" name="Ellipse 6"/>
          <p:cNvSpPr/>
          <p:nvPr/>
        </p:nvSpPr>
        <p:spPr>
          <a:xfrm>
            <a:off x="2915816" y="3356992"/>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4</a:t>
            </a:r>
          </a:p>
        </p:txBody>
      </p:sp>
    </p:spTree>
    <p:extLst>
      <p:ext uri="{BB962C8B-B14F-4D97-AF65-F5344CB8AC3E}">
        <p14:creationId xmlns:p14="http://schemas.microsoft.com/office/powerpoint/2010/main" val="3829877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1. Création d'un nouveau projet	</a:t>
            </a:r>
          </a:p>
        </p:txBody>
      </p:sp>
      <p:sp>
        <p:nvSpPr>
          <p:cNvPr id="3" name="Espace réservé du contenu 2"/>
          <p:cNvSpPr>
            <a:spLocks noGrp="1"/>
          </p:cNvSpPr>
          <p:nvPr>
            <p:ph idx="1"/>
          </p:nvPr>
        </p:nvSpPr>
        <p:spPr/>
        <p:txBody>
          <a:bodyPr>
            <a:normAutofit/>
          </a:bodyPr>
          <a:lstStyle/>
          <a:p>
            <a:pPr marL="457200" indent="-457200">
              <a:buAutoNum type="alphaUcPeriod"/>
            </a:pPr>
            <a:r>
              <a:rPr lang="fr-FR" b="1" dirty="0">
                <a:solidFill>
                  <a:schemeClr val="accent1"/>
                </a:solidFill>
              </a:rPr>
              <a:t>Initialisation du projet</a:t>
            </a:r>
          </a:p>
          <a:p>
            <a:pPr marL="0" indent="0">
              <a:buNone/>
            </a:pPr>
            <a:endParaRPr lang="fr-FR" b="1" dirty="0"/>
          </a:p>
          <a:p>
            <a:pPr marL="457200" indent="-457200">
              <a:buAutoNum type="arabicPeriod"/>
            </a:pPr>
            <a:r>
              <a:rPr lang="fr-FR" dirty="0">
                <a:solidFill>
                  <a:schemeClr val="bg1">
                    <a:lumMod val="65000"/>
                  </a:schemeClr>
                </a:solidFill>
              </a:rPr>
              <a:t>Lancez MS Projet : un Diagramme de Gantt vide s’affiche à l’écran.</a:t>
            </a:r>
          </a:p>
          <a:p>
            <a:pPr marL="457200" indent="-457200">
              <a:buAutoNum type="arabicPeriod"/>
            </a:pPr>
            <a:r>
              <a:rPr lang="fr-FR" dirty="0">
                <a:solidFill>
                  <a:schemeClr val="bg1">
                    <a:lumMod val="65000"/>
                  </a:schemeClr>
                </a:solidFill>
              </a:rPr>
              <a:t>Différents affichages / menus </a:t>
            </a:r>
          </a:p>
          <a:p>
            <a:pPr marL="457200" indent="-457200">
              <a:buAutoNum type="arabicPeriod"/>
            </a:pPr>
            <a:r>
              <a:rPr lang="fr-FR" dirty="0"/>
              <a:t>Afficher la </a:t>
            </a:r>
            <a:r>
              <a:rPr lang="fr-FR" b="1" dirty="0"/>
              <a:t>« Barre d’affichage » </a:t>
            </a:r>
            <a:r>
              <a:rPr lang="fr-FR" dirty="0"/>
              <a:t>: Cliquez droit sur la bande située sur la gauche de l’écran – qui indique le nom de l’affichage courant, écrit en vertical (par défaut : Diagramme de Gantt) – puis cliquez sur l’option Barre Affichage, tout en bas du menu contextuel.</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34</a:t>
            </a:fld>
            <a:endParaRPr lang="fr-BE"/>
          </a:p>
        </p:txBody>
      </p:sp>
    </p:spTree>
    <p:extLst>
      <p:ext uri="{BB962C8B-B14F-4D97-AF65-F5344CB8AC3E}">
        <p14:creationId xmlns:p14="http://schemas.microsoft.com/office/powerpoint/2010/main" val="37852660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1. Création d'un nouveau projet	</a:t>
            </a:r>
          </a:p>
        </p:txBody>
      </p:sp>
      <p:sp>
        <p:nvSpPr>
          <p:cNvPr id="3" name="Espace réservé du contenu 2"/>
          <p:cNvSpPr>
            <a:spLocks noGrp="1"/>
          </p:cNvSpPr>
          <p:nvPr>
            <p:ph idx="1"/>
          </p:nvPr>
        </p:nvSpPr>
        <p:spPr/>
        <p:txBody>
          <a:bodyPr>
            <a:normAutofit/>
          </a:bodyPr>
          <a:lstStyle/>
          <a:p>
            <a:pPr marL="0" indent="0">
              <a:buNone/>
            </a:pPr>
            <a:r>
              <a:rPr lang="fr-FR" dirty="0">
                <a:solidFill>
                  <a:schemeClr val="accent1"/>
                </a:solidFill>
              </a:rPr>
              <a:t>4. </a:t>
            </a:r>
            <a:r>
              <a:rPr lang="fr-FR" dirty="0"/>
              <a:t>Préciser la </a:t>
            </a:r>
            <a:r>
              <a:rPr lang="fr-FR" b="1" dirty="0"/>
              <a:t>date de début :</a:t>
            </a:r>
          </a:p>
          <a:p>
            <a:r>
              <a:rPr lang="fr-FR" dirty="0"/>
              <a:t>Cliquez sur l’onglet </a:t>
            </a:r>
            <a:r>
              <a:rPr lang="fr-FR" b="1" dirty="0"/>
              <a:t>« Projet » </a:t>
            </a:r>
            <a:r>
              <a:rPr lang="fr-FR" dirty="0"/>
              <a:t>puis sur l’icône </a:t>
            </a:r>
            <a:r>
              <a:rPr lang="fr-FR" b="1" dirty="0"/>
              <a:t>Informations sur le projet</a:t>
            </a:r>
            <a:r>
              <a:rPr lang="fr-FR" dirty="0"/>
              <a:t>.</a:t>
            </a:r>
          </a:p>
          <a:p>
            <a:r>
              <a:rPr lang="fr-FR" dirty="0"/>
              <a:t>Vérifiez que le champ </a:t>
            </a:r>
            <a:r>
              <a:rPr lang="fr-FR" b="1" dirty="0"/>
              <a:t>Prévisions à partir de</a:t>
            </a:r>
            <a:r>
              <a:rPr lang="fr-FR" dirty="0"/>
              <a:t> affiche bien l’indication </a:t>
            </a:r>
            <a:r>
              <a:rPr lang="fr-FR" b="1" dirty="0"/>
              <a:t>Date de début du projet</a:t>
            </a:r>
            <a:r>
              <a:rPr lang="fr-FR" dirty="0"/>
              <a:t>. En effet il est possible de définir une date de fin qui serait en quelque sorte la date butoir du projet. Le logiciel vous permettra alors de calculer la date de début au plus tard du projet. Cette planification à rebours est aussi appelé rétro-planning.</a:t>
            </a:r>
          </a:p>
          <a:p>
            <a:r>
              <a:rPr lang="fr-FR" dirty="0"/>
              <a:t>Saisissez comme </a:t>
            </a:r>
            <a:r>
              <a:rPr lang="fr-FR" b="1" dirty="0"/>
              <a:t>Date de début du projet</a:t>
            </a:r>
            <a:r>
              <a:rPr lang="fr-FR" dirty="0"/>
              <a:t> le </a:t>
            </a:r>
            <a:r>
              <a:rPr lang="fr-FR" dirty="0">
                <a:solidFill>
                  <a:srgbClr val="FF0000"/>
                </a:solidFill>
              </a:rPr>
              <a:t>2 janvier 2026.</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35</a:t>
            </a:fld>
            <a:endParaRPr lang="fr-BE"/>
          </a:p>
        </p:txBody>
      </p:sp>
    </p:spTree>
    <p:extLst>
      <p:ext uri="{BB962C8B-B14F-4D97-AF65-F5344CB8AC3E}">
        <p14:creationId xmlns:p14="http://schemas.microsoft.com/office/powerpoint/2010/main" val="32060474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1. Création d'un nouveau projet	</a:t>
            </a:r>
          </a:p>
        </p:txBody>
      </p:sp>
      <p:sp>
        <p:nvSpPr>
          <p:cNvPr id="3" name="Espace réservé du contenu 2"/>
          <p:cNvSpPr>
            <a:spLocks noGrp="1"/>
          </p:cNvSpPr>
          <p:nvPr>
            <p:ph idx="1"/>
          </p:nvPr>
        </p:nvSpPr>
        <p:spPr/>
        <p:txBody>
          <a:bodyPr>
            <a:normAutofit lnSpcReduction="10000"/>
          </a:bodyPr>
          <a:lstStyle/>
          <a:p>
            <a:pPr marL="0" indent="0">
              <a:buNone/>
            </a:pPr>
            <a:r>
              <a:rPr lang="fr-FR" b="1" dirty="0">
                <a:solidFill>
                  <a:schemeClr val="accent1"/>
                </a:solidFill>
              </a:rPr>
              <a:t>B. Liste des tâches</a:t>
            </a:r>
          </a:p>
          <a:p>
            <a:pPr marL="0" indent="0">
              <a:buNone/>
            </a:pPr>
            <a:endParaRPr lang="fr-FR" b="1" dirty="0"/>
          </a:p>
          <a:p>
            <a:pPr marL="457200" indent="-457200">
              <a:buAutoNum type="arabicPeriod"/>
            </a:pPr>
            <a:r>
              <a:rPr lang="fr-FR" dirty="0"/>
              <a:t>Avant de saisir les tâches du projet, vous allez paramétrer le logiciel pour que les tâches créées soient automatiquement planifiées à la date de début de projet c'est-à-dire en utilisant le mode </a:t>
            </a:r>
            <a:r>
              <a:rPr lang="fr-FR" b="1" dirty="0"/>
              <a:t>Planification automatique :</a:t>
            </a:r>
          </a:p>
          <a:p>
            <a:pPr lvl="1">
              <a:buFontTx/>
              <a:buChar char="-"/>
            </a:pPr>
            <a:r>
              <a:rPr lang="fr-FR" dirty="0"/>
              <a:t>Cliquez sur </a:t>
            </a:r>
            <a:r>
              <a:rPr lang="fr-FR" b="1" dirty="0"/>
              <a:t>Fichier &gt; Options &gt; Planification (Echéancier)</a:t>
            </a:r>
          </a:p>
          <a:p>
            <a:pPr lvl="1">
              <a:buFontTx/>
              <a:buChar char="-"/>
            </a:pPr>
            <a:r>
              <a:rPr lang="fr-FR" dirty="0"/>
              <a:t>Dans la zone </a:t>
            </a:r>
            <a:r>
              <a:rPr lang="fr-FR" b="1" dirty="0"/>
              <a:t>Options de planification </a:t>
            </a:r>
            <a:r>
              <a:rPr lang="fr-FR" dirty="0"/>
              <a:t>pour ce projet, sélectionnez pour l’option </a:t>
            </a:r>
            <a:r>
              <a:rPr lang="fr-FR" b="1" dirty="0"/>
              <a:t>Nouvelles tâches créées</a:t>
            </a:r>
            <a:r>
              <a:rPr lang="fr-FR" dirty="0"/>
              <a:t>, la valeur </a:t>
            </a:r>
            <a:r>
              <a:rPr lang="fr-FR" b="1" dirty="0"/>
              <a:t>Planifié automatiquement</a:t>
            </a:r>
            <a:r>
              <a:rPr lang="fr-FR" dirty="0"/>
              <a:t> ; laissez l’option suivante </a:t>
            </a:r>
            <a:r>
              <a:rPr lang="fr-FR" b="1" dirty="0"/>
              <a:t>Tâches planifiées automatiquement </a:t>
            </a:r>
            <a:r>
              <a:rPr lang="fr-FR" dirty="0"/>
              <a:t>à sur le réglage </a:t>
            </a:r>
            <a:r>
              <a:rPr lang="fr-FR" b="1" dirty="0"/>
              <a:t>Date de début du projet.</a:t>
            </a:r>
          </a:p>
          <a:p>
            <a:pPr lvl="1">
              <a:buFontTx/>
              <a:buChar char="-"/>
            </a:pPr>
            <a:r>
              <a:rPr lang="fr-FR" dirty="0"/>
              <a:t>Validez par OK.</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36</a:t>
            </a:fld>
            <a:endParaRPr lang="fr-BE"/>
          </a:p>
        </p:txBody>
      </p:sp>
    </p:spTree>
    <p:extLst>
      <p:ext uri="{BB962C8B-B14F-4D97-AF65-F5344CB8AC3E}">
        <p14:creationId xmlns:p14="http://schemas.microsoft.com/office/powerpoint/2010/main" val="26161469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1. Création d'un nouveau projet	</a:t>
            </a:r>
          </a:p>
        </p:txBody>
      </p:sp>
      <p:sp>
        <p:nvSpPr>
          <p:cNvPr id="3" name="Espace réservé du contenu 2"/>
          <p:cNvSpPr>
            <a:spLocks noGrp="1"/>
          </p:cNvSpPr>
          <p:nvPr>
            <p:ph idx="1"/>
          </p:nvPr>
        </p:nvSpPr>
        <p:spPr/>
        <p:txBody>
          <a:bodyPr>
            <a:normAutofit fontScale="92500" lnSpcReduction="10000"/>
          </a:bodyPr>
          <a:lstStyle/>
          <a:p>
            <a:pPr marL="0" indent="0">
              <a:buNone/>
            </a:pPr>
            <a:r>
              <a:rPr lang="fr-FR" b="1" dirty="0">
                <a:solidFill>
                  <a:schemeClr val="accent1"/>
                </a:solidFill>
              </a:rPr>
              <a:t>B. Liste des tâches</a:t>
            </a:r>
          </a:p>
          <a:p>
            <a:pPr marL="0" indent="0">
              <a:buNone/>
            </a:pPr>
            <a:endParaRPr lang="fr-FR" b="1" dirty="0"/>
          </a:p>
          <a:p>
            <a:pPr marL="0" indent="0">
              <a:buNone/>
            </a:pPr>
            <a:r>
              <a:rPr lang="fr-FR" dirty="0">
                <a:solidFill>
                  <a:schemeClr val="accent1"/>
                </a:solidFill>
              </a:rPr>
              <a:t>2. </a:t>
            </a:r>
            <a:r>
              <a:rPr lang="fr-FR" dirty="0"/>
              <a:t>Saisie des tâches</a:t>
            </a:r>
          </a:p>
          <a:p>
            <a:pPr marL="0" indent="0">
              <a:buNone/>
            </a:pPr>
            <a:endParaRPr lang="fr-FR" dirty="0"/>
          </a:p>
          <a:p>
            <a:r>
              <a:rPr lang="fr-FR" dirty="0"/>
              <a:t>Le projet est découpé en différentes phases. Les tâches qui servent à marquer le début et la fin des phases (ou du projet tout entier) portent le nom de jalon. Ces tâches ont une durée de 0 jour. Dans la liste ci-après les tâches jalons du projet sont recensées avec une durée de 0 jour :</a:t>
            </a:r>
          </a:p>
          <a:p>
            <a:pPr lvl="1">
              <a:buFontTx/>
              <a:buChar char="-"/>
            </a:pPr>
            <a:r>
              <a:rPr lang="fr-FR" sz="2400" dirty="0"/>
              <a:t>Lancement du projet</a:t>
            </a:r>
          </a:p>
          <a:p>
            <a:pPr lvl="1">
              <a:buFontTx/>
              <a:buChar char="-"/>
            </a:pPr>
            <a:r>
              <a:rPr lang="fr-FR" sz="2400" dirty="0"/>
              <a:t>Validation de la solution</a:t>
            </a:r>
          </a:p>
          <a:p>
            <a:pPr lvl="1">
              <a:buFontTx/>
              <a:buChar char="-"/>
            </a:pPr>
            <a:r>
              <a:rPr lang="fr-FR" sz="2400" dirty="0"/>
              <a:t>Livraison </a:t>
            </a:r>
          </a:p>
          <a:p>
            <a:pPr lvl="1">
              <a:buFontTx/>
              <a:buChar char="-"/>
            </a:pPr>
            <a:r>
              <a:rPr lang="fr-FR" sz="2400" dirty="0"/>
              <a:t>Fin du projet</a:t>
            </a:r>
          </a:p>
          <a:p>
            <a:pPr lvl="1">
              <a:buFontTx/>
              <a:buChar char="-"/>
            </a:pPr>
            <a:endParaRPr lang="fr-FR" sz="2400" b="1" dirty="0"/>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37</a:t>
            </a:fld>
            <a:endParaRPr lang="fr-BE"/>
          </a:p>
        </p:txBody>
      </p:sp>
    </p:spTree>
    <p:extLst>
      <p:ext uri="{BB962C8B-B14F-4D97-AF65-F5344CB8AC3E}">
        <p14:creationId xmlns:p14="http://schemas.microsoft.com/office/powerpoint/2010/main" val="3483556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1. Création d'un nouveau projet	</a:t>
            </a:r>
          </a:p>
        </p:txBody>
      </p:sp>
      <p:sp>
        <p:nvSpPr>
          <p:cNvPr id="3" name="Espace réservé du contenu 2"/>
          <p:cNvSpPr>
            <a:spLocks noGrp="1"/>
          </p:cNvSpPr>
          <p:nvPr>
            <p:ph idx="1"/>
          </p:nvPr>
        </p:nvSpPr>
        <p:spPr/>
        <p:txBody>
          <a:bodyPr>
            <a:normAutofit lnSpcReduction="10000"/>
          </a:bodyPr>
          <a:lstStyle/>
          <a:p>
            <a:pPr marL="0" indent="0">
              <a:buNone/>
            </a:pPr>
            <a:r>
              <a:rPr lang="fr-FR" b="1" dirty="0">
                <a:solidFill>
                  <a:schemeClr val="accent1"/>
                </a:solidFill>
              </a:rPr>
              <a:t>B. Liste des tâches</a:t>
            </a:r>
          </a:p>
          <a:p>
            <a:pPr marL="0" indent="0">
              <a:buNone/>
            </a:pPr>
            <a:endParaRPr lang="fr-FR" b="1" dirty="0"/>
          </a:p>
          <a:p>
            <a:pPr marL="0" indent="0">
              <a:buNone/>
            </a:pPr>
            <a:r>
              <a:rPr lang="fr-FR" b="1" u="sng" dirty="0"/>
              <a:t>Exercice</a:t>
            </a:r>
            <a:r>
              <a:rPr lang="fr-FR" b="1" dirty="0"/>
              <a:t> : Dans MS Project, saisissez le nom des tâches, sans saisir, pour l’instant les durées. Vous le ferez ultérieurement.</a:t>
            </a:r>
          </a:p>
          <a:p>
            <a:endParaRPr lang="fr-FR" dirty="0"/>
          </a:p>
          <a:p>
            <a:r>
              <a:rPr lang="fr-FR" dirty="0"/>
              <a:t>Vous devriez obtenir un Diagramme de Gantt où toutes les tâches commencent le </a:t>
            </a:r>
            <a:r>
              <a:rPr lang="fr-FR" dirty="0">
                <a:solidFill>
                  <a:srgbClr val="FF0000"/>
                </a:solidFill>
              </a:rPr>
              <a:t>2 janvier 2026 </a:t>
            </a:r>
            <a:r>
              <a:rPr lang="fr-FR" dirty="0"/>
              <a:t>et durent 1 jour, car la durée par défaut des tâches dans MS Project est égale à 1 jour.</a:t>
            </a:r>
          </a:p>
          <a:p>
            <a:pPr marL="0" indent="0">
              <a:buNone/>
            </a:pPr>
            <a:endParaRPr lang="fr-FR" dirty="0"/>
          </a:p>
          <a:p>
            <a:pPr marL="0" indent="0" algn="r">
              <a:buNone/>
            </a:pPr>
            <a:r>
              <a:rPr lang="fr-FR" u="sng" dirty="0"/>
              <a:t>Cf. liste des tâches dans le tableau ci-après</a:t>
            </a:r>
          </a:p>
          <a:p>
            <a:pPr marL="0" indent="0">
              <a:buNone/>
            </a:pPr>
            <a:endParaRPr lang="fr-FR" dirty="0"/>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38</a:t>
            </a:fld>
            <a:endParaRPr lang="fr-BE"/>
          </a:p>
        </p:txBody>
      </p:sp>
    </p:spTree>
    <p:extLst>
      <p:ext uri="{BB962C8B-B14F-4D97-AF65-F5344CB8AC3E}">
        <p14:creationId xmlns:p14="http://schemas.microsoft.com/office/powerpoint/2010/main" val="36121159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F4668DC-857F-487D-BFFA-8C0CA5037977}" type="slidenum">
              <a:rPr lang="fr-BE" smtClean="0"/>
              <a:pPr/>
              <a:t>39</a:t>
            </a:fld>
            <a:endParaRPr lang="fr-BE"/>
          </a:p>
        </p:txBody>
      </p:sp>
      <p:graphicFrame>
        <p:nvGraphicFramePr>
          <p:cNvPr id="7" name="Tableau 6"/>
          <p:cNvGraphicFramePr>
            <a:graphicFrameLocks noGrp="1"/>
          </p:cNvGraphicFramePr>
          <p:nvPr/>
        </p:nvGraphicFramePr>
        <p:xfrm>
          <a:off x="755576" y="-27384"/>
          <a:ext cx="7632848" cy="6903548"/>
        </p:xfrm>
        <a:graphic>
          <a:graphicData uri="http://schemas.openxmlformats.org/drawingml/2006/table">
            <a:tbl>
              <a:tblPr firstRow="1" firstCol="1" bandRow="1">
                <a:tableStyleId>{BC89EF96-8CEA-46FF-86C4-4CE0E7609802}</a:tableStyleId>
              </a:tblPr>
              <a:tblGrid>
                <a:gridCol w="66247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154890">
                <a:tc>
                  <a:txBody>
                    <a:bodyPr/>
                    <a:lstStyle/>
                    <a:p>
                      <a:pPr>
                        <a:lnSpc>
                          <a:spcPct val="107000"/>
                        </a:lnSpc>
                        <a:spcAft>
                          <a:spcPts val="0"/>
                        </a:spcAft>
                      </a:pPr>
                      <a:r>
                        <a:rPr lang="fr-FR" sz="1600" dirty="0">
                          <a:solidFill>
                            <a:schemeClr val="bg1"/>
                          </a:solidFill>
                          <a:effectLst/>
                        </a:rPr>
                        <a:t>Nom de la tâche</a:t>
                      </a:r>
                      <a:endParaRPr lang="fr-FR"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solidFill>
                            <a:schemeClr val="bg1"/>
                          </a:solidFill>
                          <a:effectLst/>
                        </a:rPr>
                        <a:t>Durée</a:t>
                      </a:r>
                      <a:endParaRPr lang="fr-FR"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0"/>
                  </a:ext>
                </a:extLst>
              </a:tr>
              <a:tr h="257529">
                <a:tc>
                  <a:txBody>
                    <a:bodyPr/>
                    <a:lstStyle/>
                    <a:p>
                      <a:pPr>
                        <a:lnSpc>
                          <a:spcPct val="107000"/>
                        </a:lnSpc>
                        <a:spcAft>
                          <a:spcPts val="0"/>
                        </a:spcAft>
                      </a:pPr>
                      <a:r>
                        <a:rPr lang="fr-FR" sz="1600" dirty="0">
                          <a:effectLst/>
                        </a:rPr>
                        <a:t>Lancement du projet</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effectLst/>
                        </a:rPr>
                        <a:t>0</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1"/>
                  </a:ext>
                </a:extLst>
              </a:tr>
              <a:tr h="257529">
                <a:tc>
                  <a:txBody>
                    <a:bodyPr/>
                    <a:lstStyle/>
                    <a:p>
                      <a:pPr>
                        <a:lnSpc>
                          <a:spcPct val="107000"/>
                        </a:lnSpc>
                        <a:spcAft>
                          <a:spcPts val="0"/>
                        </a:spcAft>
                      </a:pPr>
                      <a:r>
                        <a:rPr lang="fr-FR" sz="1600" dirty="0">
                          <a:effectLst/>
                        </a:rPr>
                        <a:t>Conception / Maquettage</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30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2"/>
                  </a:ext>
                </a:extLst>
              </a:tr>
              <a:tr h="257529">
                <a:tc>
                  <a:txBody>
                    <a:bodyPr/>
                    <a:lstStyle/>
                    <a:p>
                      <a:pPr>
                        <a:lnSpc>
                          <a:spcPct val="107000"/>
                        </a:lnSpc>
                        <a:spcAft>
                          <a:spcPts val="0"/>
                        </a:spcAft>
                      </a:pPr>
                      <a:r>
                        <a:rPr lang="fr-FR" sz="1600" dirty="0">
                          <a:effectLst/>
                        </a:rPr>
                        <a:t>Documentation</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20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3"/>
                  </a:ext>
                </a:extLst>
              </a:tr>
              <a:tr h="257529">
                <a:tc>
                  <a:txBody>
                    <a:bodyPr/>
                    <a:lstStyle/>
                    <a:p>
                      <a:pPr>
                        <a:lnSpc>
                          <a:spcPct val="107000"/>
                        </a:lnSpc>
                        <a:spcAft>
                          <a:spcPts val="0"/>
                        </a:spcAft>
                      </a:pPr>
                      <a:r>
                        <a:rPr lang="fr-FR" sz="1600" dirty="0">
                          <a:effectLst/>
                        </a:rPr>
                        <a:t>Validation des charges</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10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4"/>
                  </a:ext>
                </a:extLst>
              </a:tr>
              <a:tr h="257529">
                <a:tc>
                  <a:txBody>
                    <a:bodyPr/>
                    <a:lstStyle/>
                    <a:p>
                      <a:pPr>
                        <a:lnSpc>
                          <a:spcPct val="107000"/>
                        </a:lnSpc>
                        <a:spcAft>
                          <a:spcPts val="0"/>
                        </a:spcAft>
                      </a:pPr>
                      <a:r>
                        <a:rPr lang="fr-FR" sz="1600" dirty="0">
                          <a:effectLst/>
                        </a:rPr>
                        <a:t>Validation de la solution</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5"/>
                  </a:ext>
                </a:extLst>
              </a:tr>
              <a:tr h="257529">
                <a:tc>
                  <a:txBody>
                    <a:bodyPr/>
                    <a:lstStyle/>
                    <a:p>
                      <a:pPr>
                        <a:lnSpc>
                          <a:spcPct val="107000"/>
                        </a:lnSpc>
                        <a:spcAft>
                          <a:spcPts val="0"/>
                        </a:spcAft>
                      </a:pPr>
                      <a:r>
                        <a:rPr lang="fr-FR" sz="1600">
                          <a:effectLst/>
                        </a:rPr>
                        <a:t>Conception de l’architecture technique</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70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6"/>
                  </a:ext>
                </a:extLst>
              </a:tr>
              <a:tr h="257529">
                <a:tc>
                  <a:txBody>
                    <a:bodyPr/>
                    <a:lstStyle/>
                    <a:p>
                      <a:pPr>
                        <a:lnSpc>
                          <a:spcPct val="107000"/>
                        </a:lnSpc>
                        <a:spcAft>
                          <a:spcPts val="0"/>
                        </a:spcAft>
                      </a:pPr>
                      <a:r>
                        <a:rPr lang="fr-FR" sz="1600" dirty="0">
                          <a:effectLst/>
                        </a:rPr>
                        <a:t>Conception des écrans</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20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7"/>
                  </a:ext>
                </a:extLst>
              </a:tr>
              <a:tr h="257529">
                <a:tc>
                  <a:txBody>
                    <a:bodyPr/>
                    <a:lstStyle/>
                    <a:p>
                      <a:pPr>
                        <a:lnSpc>
                          <a:spcPct val="107000"/>
                        </a:lnSpc>
                        <a:spcAft>
                          <a:spcPts val="0"/>
                        </a:spcAft>
                      </a:pPr>
                      <a:r>
                        <a:rPr lang="fr-FR" sz="1600" dirty="0">
                          <a:effectLst/>
                        </a:rPr>
                        <a:t>Conception des Contrôles</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10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8"/>
                  </a:ext>
                </a:extLst>
              </a:tr>
              <a:tr h="257529">
                <a:tc>
                  <a:txBody>
                    <a:bodyPr/>
                    <a:lstStyle/>
                    <a:p>
                      <a:pPr>
                        <a:lnSpc>
                          <a:spcPct val="107000"/>
                        </a:lnSpc>
                        <a:spcAft>
                          <a:spcPts val="0"/>
                        </a:spcAft>
                      </a:pPr>
                      <a:r>
                        <a:rPr lang="fr-FR" sz="1600" dirty="0">
                          <a:effectLst/>
                        </a:rPr>
                        <a:t>Conception Sécurité</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20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9"/>
                  </a:ext>
                </a:extLst>
              </a:tr>
              <a:tr h="418044">
                <a:tc>
                  <a:txBody>
                    <a:bodyPr/>
                    <a:lstStyle/>
                    <a:p>
                      <a:pPr>
                        <a:lnSpc>
                          <a:spcPct val="107000"/>
                        </a:lnSpc>
                        <a:spcAft>
                          <a:spcPts val="0"/>
                        </a:spcAft>
                      </a:pPr>
                      <a:r>
                        <a:rPr lang="fr-FR" sz="1600" dirty="0">
                          <a:effectLst/>
                        </a:rPr>
                        <a:t>Simulations de la conception (Tests techniques)</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effectLst/>
                        </a:rPr>
                        <a:t>40</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0"/>
                  </a:ext>
                </a:extLst>
              </a:tr>
              <a:tr h="257529">
                <a:tc>
                  <a:txBody>
                    <a:bodyPr/>
                    <a:lstStyle/>
                    <a:p>
                      <a:pPr>
                        <a:lnSpc>
                          <a:spcPct val="107000"/>
                        </a:lnSpc>
                        <a:spcAft>
                          <a:spcPts val="0"/>
                        </a:spcAft>
                      </a:pPr>
                      <a:r>
                        <a:rPr lang="fr-FR" sz="1600" dirty="0">
                          <a:effectLst/>
                        </a:rPr>
                        <a:t>Développement des écrans</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10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1"/>
                  </a:ext>
                </a:extLst>
              </a:tr>
              <a:tr h="257529">
                <a:tc>
                  <a:txBody>
                    <a:bodyPr/>
                    <a:lstStyle/>
                    <a:p>
                      <a:pPr>
                        <a:lnSpc>
                          <a:spcPct val="107000"/>
                        </a:lnSpc>
                        <a:spcAft>
                          <a:spcPts val="0"/>
                        </a:spcAft>
                      </a:pPr>
                      <a:r>
                        <a:rPr lang="fr-FR" sz="1600" dirty="0">
                          <a:effectLst/>
                        </a:rPr>
                        <a:t>Développement des contrôles</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effectLst/>
                        </a:rPr>
                        <a:t>10</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2"/>
                  </a:ext>
                </a:extLst>
              </a:tr>
              <a:tr h="257529">
                <a:tc>
                  <a:txBody>
                    <a:bodyPr/>
                    <a:lstStyle/>
                    <a:p>
                      <a:pPr>
                        <a:lnSpc>
                          <a:spcPct val="107000"/>
                        </a:lnSpc>
                        <a:spcAft>
                          <a:spcPts val="0"/>
                        </a:spcAft>
                      </a:pPr>
                      <a:r>
                        <a:rPr lang="fr-FR" sz="1600" dirty="0">
                          <a:effectLst/>
                        </a:rPr>
                        <a:t>Développement sécurité</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10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3"/>
                  </a:ext>
                </a:extLst>
              </a:tr>
              <a:tr h="418044">
                <a:tc>
                  <a:txBody>
                    <a:bodyPr/>
                    <a:lstStyle/>
                    <a:p>
                      <a:pPr>
                        <a:lnSpc>
                          <a:spcPct val="107000"/>
                        </a:lnSpc>
                        <a:spcAft>
                          <a:spcPts val="0"/>
                        </a:spcAft>
                      </a:pPr>
                      <a:r>
                        <a:rPr lang="fr-FR" sz="1600" dirty="0">
                          <a:effectLst/>
                        </a:rPr>
                        <a:t>Simulations des développements (Tests techniques)</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effectLst/>
                        </a:rPr>
                        <a:t>30</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4"/>
                  </a:ext>
                </a:extLst>
              </a:tr>
              <a:tr h="257529">
                <a:tc>
                  <a:txBody>
                    <a:bodyPr/>
                    <a:lstStyle/>
                    <a:p>
                      <a:pPr>
                        <a:lnSpc>
                          <a:spcPct val="107000"/>
                        </a:lnSpc>
                        <a:spcAft>
                          <a:spcPts val="0"/>
                        </a:spcAft>
                      </a:pPr>
                      <a:r>
                        <a:rPr lang="fr-FR" sz="1600" dirty="0">
                          <a:effectLst/>
                        </a:rPr>
                        <a:t>Recette fonctionnelle</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20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5"/>
                  </a:ext>
                </a:extLst>
              </a:tr>
              <a:tr h="257529">
                <a:tc>
                  <a:txBody>
                    <a:bodyPr/>
                    <a:lstStyle/>
                    <a:p>
                      <a:pPr>
                        <a:lnSpc>
                          <a:spcPct val="107000"/>
                        </a:lnSpc>
                        <a:spcAft>
                          <a:spcPts val="0"/>
                        </a:spcAft>
                      </a:pPr>
                      <a:r>
                        <a:rPr lang="fr-FR" sz="1600" dirty="0">
                          <a:effectLst/>
                        </a:rPr>
                        <a:t>Livraison</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effectLst/>
                        </a:rPr>
                        <a:t>0</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6"/>
                  </a:ext>
                </a:extLst>
              </a:tr>
              <a:tr h="257529">
                <a:tc>
                  <a:txBody>
                    <a:bodyPr/>
                    <a:lstStyle/>
                    <a:p>
                      <a:pPr>
                        <a:lnSpc>
                          <a:spcPct val="107000"/>
                        </a:lnSpc>
                        <a:spcAft>
                          <a:spcPts val="0"/>
                        </a:spcAft>
                      </a:pPr>
                      <a:r>
                        <a:rPr lang="fr-FR" sz="1600" dirty="0">
                          <a:effectLst/>
                        </a:rPr>
                        <a:t>Formation utilisateurs</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effectLst/>
                        </a:rPr>
                        <a:t>10</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7"/>
                  </a:ext>
                </a:extLst>
              </a:tr>
              <a:tr h="257529">
                <a:tc>
                  <a:txBody>
                    <a:bodyPr/>
                    <a:lstStyle/>
                    <a:p>
                      <a:pPr>
                        <a:lnSpc>
                          <a:spcPct val="107000"/>
                        </a:lnSpc>
                        <a:spcAft>
                          <a:spcPts val="0"/>
                        </a:spcAft>
                      </a:pPr>
                      <a:r>
                        <a:rPr lang="fr-FR" sz="1600">
                          <a:effectLst/>
                        </a:rPr>
                        <a:t>Déploiement</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effectLst/>
                        </a:rPr>
                        <a:t>10</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8"/>
                  </a:ext>
                </a:extLst>
              </a:tr>
              <a:tr h="257529">
                <a:tc>
                  <a:txBody>
                    <a:bodyPr/>
                    <a:lstStyle/>
                    <a:p>
                      <a:pPr>
                        <a:lnSpc>
                          <a:spcPct val="107000"/>
                        </a:lnSpc>
                        <a:spcAft>
                          <a:spcPts val="0"/>
                        </a:spcAft>
                      </a:pPr>
                      <a:r>
                        <a:rPr lang="fr-FR" sz="1600">
                          <a:effectLst/>
                        </a:rPr>
                        <a:t>Pilotage</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effectLst/>
                        </a:rPr>
                        <a:t>25</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9"/>
                  </a:ext>
                </a:extLst>
              </a:tr>
              <a:tr h="257529">
                <a:tc>
                  <a:txBody>
                    <a:bodyPr/>
                    <a:lstStyle/>
                    <a:p>
                      <a:pPr>
                        <a:lnSpc>
                          <a:spcPct val="107000"/>
                        </a:lnSpc>
                        <a:spcAft>
                          <a:spcPts val="0"/>
                        </a:spcAft>
                      </a:pPr>
                      <a:r>
                        <a:rPr lang="fr-FR" sz="1600">
                          <a:effectLst/>
                        </a:rPr>
                        <a:t>Fin du projet</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effectLst/>
                        </a:rPr>
                        <a:t>0</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20"/>
                  </a:ext>
                </a:extLst>
              </a:tr>
            </a:tbl>
          </a:graphicData>
        </a:graphic>
      </p:graphicFrame>
      <p:sp>
        <p:nvSpPr>
          <p:cNvPr id="2" name="Rectangle 1"/>
          <p:cNvSpPr/>
          <p:nvPr/>
        </p:nvSpPr>
        <p:spPr>
          <a:xfrm rot="16200000">
            <a:off x="-1679205" y="3326160"/>
            <a:ext cx="3970784" cy="576064"/>
          </a:xfrm>
          <a:prstGeom prst="rect">
            <a:avLst/>
          </a:prstGeom>
          <a:solidFill>
            <a:schemeClr val="tx2"/>
          </a:solidFill>
          <a:ln>
            <a:solidFill>
              <a:schemeClr val="tx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b="1" u="sng" dirty="0"/>
              <a:t>Astuce</a:t>
            </a:r>
            <a:r>
              <a:rPr lang="fr-FR" b="1" dirty="0"/>
              <a:t> : copier-coller les données dans Excel d’abord </a:t>
            </a:r>
          </a:p>
        </p:txBody>
      </p:sp>
    </p:spTree>
    <p:extLst>
      <p:ext uri="{BB962C8B-B14F-4D97-AF65-F5344CB8AC3E}">
        <p14:creationId xmlns:p14="http://schemas.microsoft.com/office/powerpoint/2010/main" val="13411031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1. Création d'un nouveau projet	</a:t>
            </a:r>
          </a:p>
        </p:txBody>
      </p:sp>
      <p:sp>
        <p:nvSpPr>
          <p:cNvPr id="3" name="Espace réservé du contenu 2"/>
          <p:cNvSpPr>
            <a:spLocks noGrp="1"/>
          </p:cNvSpPr>
          <p:nvPr>
            <p:ph idx="1"/>
          </p:nvPr>
        </p:nvSpPr>
        <p:spPr/>
        <p:txBody>
          <a:bodyPr>
            <a:normAutofit lnSpcReduction="10000"/>
          </a:bodyPr>
          <a:lstStyle/>
          <a:p>
            <a:pPr marL="0" indent="0">
              <a:buNone/>
            </a:pPr>
            <a:r>
              <a:rPr lang="fr-FR" b="1" dirty="0">
                <a:solidFill>
                  <a:schemeClr val="accent1"/>
                </a:solidFill>
              </a:rPr>
              <a:t>C. Liste des ressources</a:t>
            </a:r>
          </a:p>
          <a:p>
            <a:pPr marL="0" indent="0">
              <a:buNone/>
            </a:pPr>
            <a:endParaRPr lang="fr-FR" b="1" dirty="0"/>
          </a:p>
          <a:p>
            <a:pPr marL="457200" indent="-457200">
              <a:buAutoNum type="arabicPeriod"/>
            </a:pPr>
            <a:r>
              <a:rPr lang="fr-FR" dirty="0"/>
              <a:t>Saisir à présent la liste des ressources. </a:t>
            </a:r>
          </a:p>
          <a:p>
            <a:r>
              <a:rPr lang="fr-FR" dirty="0"/>
              <a:t>Par défaut, chaque fichier de projet de MS Projet contient ses tâches et ses ressources. Cependant, quand les mêmes ressources de l’organisation peuvent être utilisées dans plusieurs projets, il est possible de les saisir dans un fichier particulier, nommé </a:t>
            </a:r>
            <a:r>
              <a:rPr lang="fr-FR" b="1" dirty="0"/>
              <a:t>Liste des ressources</a:t>
            </a:r>
            <a:r>
              <a:rPr lang="fr-FR" dirty="0"/>
              <a:t> par MS Project. C’est ensuite dans ce fichier que les différents projets iront chercher les ressources qu’ils doivent utiliser.</a:t>
            </a:r>
          </a:p>
          <a:p>
            <a:r>
              <a:rPr lang="fr-FR" b="1" dirty="0"/>
              <a:t>Dans une première étape, vous saisirez la liste des ressources (cf. le tableau sur la </a:t>
            </a:r>
            <a:r>
              <a:rPr lang="fr-FR" b="1" dirty="0">
                <a:solidFill>
                  <a:srgbClr val="FF0000"/>
                </a:solidFill>
              </a:rPr>
              <a:t>diapo 42</a:t>
            </a:r>
            <a:r>
              <a:rPr lang="fr-FR" b="1" dirty="0"/>
              <a:t>) dans le fichier du projet Site Web INNOVATION.</a:t>
            </a:r>
          </a:p>
          <a:p>
            <a:pPr marL="0" indent="0">
              <a:buNone/>
            </a:pPr>
            <a:endParaRPr lang="fr-FR" dirty="0"/>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40</a:t>
            </a:fld>
            <a:endParaRPr lang="fr-BE"/>
          </a:p>
        </p:txBody>
      </p:sp>
    </p:spTree>
    <p:extLst>
      <p:ext uri="{BB962C8B-B14F-4D97-AF65-F5344CB8AC3E}">
        <p14:creationId xmlns:p14="http://schemas.microsoft.com/office/powerpoint/2010/main" val="22809783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1. Création d'un nouveau projet	</a:t>
            </a:r>
          </a:p>
        </p:txBody>
      </p:sp>
      <p:sp>
        <p:nvSpPr>
          <p:cNvPr id="3" name="Espace réservé du contenu 2"/>
          <p:cNvSpPr>
            <a:spLocks noGrp="1"/>
          </p:cNvSpPr>
          <p:nvPr>
            <p:ph idx="1"/>
          </p:nvPr>
        </p:nvSpPr>
        <p:spPr/>
        <p:txBody>
          <a:bodyPr>
            <a:normAutofit fontScale="77500" lnSpcReduction="20000"/>
          </a:bodyPr>
          <a:lstStyle/>
          <a:p>
            <a:pPr marL="0" indent="0">
              <a:buNone/>
            </a:pPr>
            <a:r>
              <a:rPr lang="fr-FR" b="1" dirty="0">
                <a:solidFill>
                  <a:schemeClr val="accent1"/>
                </a:solidFill>
              </a:rPr>
              <a:t>C. Liste des ressources</a:t>
            </a:r>
          </a:p>
          <a:p>
            <a:pPr marL="0" indent="0">
              <a:buNone/>
            </a:pPr>
            <a:endParaRPr lang="fr-FR" b="1" dirty="0"/>
          </a:p>
          <a:p>
            <a:r>
              <a:rPr lang="fr-FR" dirty="0"/>
              <a:t>Dans l’onglet </a:t>
            </a:r>
            <a:r>
              <a:rPr lang="fr-FR" b="1" dirty="0"/>
              <a:t>Ressource</a:t>
            </a:r>
            <a:r>
              <a:rPr lang="fr-FR" dirty="0"/>
              <a:t>, cliquez sur la flèche de liste déroulante sous le bouton </a:t>
            </a:r>
            <a:r>
              <a:rPr lang="fr-FR" b="1" dirty="0"/>
              <a:t>Planificateur d’équipe</a:t>
            </a:r>
            <a:r>
              <a:rPr lang="fr-FR" dirty="0"/>
              <a:t> et sélectionnez l’affichage </a:t>
            </a:r>
            <a:r>
              <a:rPr lang="fr-FR" b="1" dirty="0"/>
              <a:t>Tableau des ressources</a:t>
            </a:r>
            <a:r>
              <a:rPr lang="fr-FR" dirty="0"/>
              <a:t>.</a:t>
            </a:r>
          </a:p>
          <a:p>
            <a:r>
              <a:rPr lang="fr-FR" dirty="0"/>
              <a:t>MS Project gère trois types de ressources :</a:t>
            </a:r>
          </a:p>
          <a:p>
            <a:pPr>
              <a:buFontTx/>
              <a:buChar char="-"/>
            </a:pPr>
            <a:r>
              <a:rPr lang="fr-FR" dirty="0"/>
              <a:t>Les ressources </a:t>
            </a:r>
            <a:r>
              <a:rPr lang="fr-FR" b="1" dirty="0"/>
              <a:t>Travail</a:t>
            </a:r>
            <a:r>
              <a:rPr lang="fr-FR" dirty="0"/>
              <a:t> représentent la main-d’œuvre et aussi les équipements tels qu’un véhicule ou un ordinateur.</a:t>
            </a:r>
          </a:p>
          <a:p>
            <a:pPr>
              <a:buFontTx/>
              <a:buChar char="-"/>
            </a:pPr>
            <a:r>
              <a:rPr lang="fr-FR" dirty="0"/>
              <a:t>Les ressources </a:t>
            </a:r>
            <a:r>
              <a:rPr lang="fr-FR" b="1" dirty="0"/>
              <a:t>Matériel</a:t>
            </a:r>
            <a:r>
              <a:rPr lang="fr-FR" dirty="0"/>
              <a:t> représentent les matériaux et consommables de toute sorte, comme le carburant ou les logiciels.</a:t>
            </a:r>
          </a:p>
          <a:p>
            <a:r>
              <a:rPr lang="fr-FR" dirty="0"/>
              <a:t>Les ressources </a:t>
            </a:r>
            <a:r>
              <a:rPr lang="fr-FR" b="1" dirty="0"/>
              <a:t>Coûts</a:t>
            </a:r>
            <a:r>
              <a:rPr lang="fr-FR" dirty="0"/>
              <a:t> qui permettent d’imputer des dépenses sur les tâches.</a:t>
            </a:r>
          </a:p>
          <a:p>
            <a:r>
              <a:rPr lang="fr-FR" dirty="0"/>
              <a:t>Pour ce projet, vous n’utiliserez que des ressources </a:t>
            </a:r>
            <a:r>
              <a:rPr lang="fr-FR" b="1" dirty="0"/>
              <a:t>Travail</a:t>
            </a:r>
            <a:r>
              <a:rPr lang="fr-FR" dirty="0"/>
              <a:t>.</a:t>
            </a:r>
          </a:p>
          <a:p>
            <a:pPr marL="0" indent="0" algn="r">
              <a:buNone/>
            </a:pPr>
            <a:br>
              <a:rPr lang="fr-FR" dirty="0"/>
            </a:br>
            <a:br>
              <a:rPr lang="fr-FR" dirty="0"/>
            </a:br>
            <a:r>
              <a:rPr lang="fr-FR" i="1" u="sng" dirty="0"/>
              <a:t>Voir dans les notes sous la diapositive </a:t>
            </a:r>
            <a:br>
              <a:rPr lang="fr-FR" i="1" u="sng" dirty="0"/>
            </a:br>
            <a:r>
              <a:rPr lang="fr-FR" i="1" u="sng" dirty="0"/>
              <a:t>quelques précisions sur la saisie </a:t>
            </a:r>
            <a:br>
              <a:rPr lang="fr-FR" i="1" u="sng" dirty="0"/>
            </a:br>
            <a:r>
              <a:rPr lang="fr-FR" i="1" u="sng" dirty="0"/>
              <a:t>des ressources </a:t>
            </a:r>
            <a:r>
              <a:rPr lang="fr-FR" b="1" i="1" u="sng" dirty="0"/>
              <a:t>Travail</a:t>
            </a:r>
            <a:r>
              <a:rPr lang="fr-FR" i="1" u="sng" dirty="0"/>
              <a:t> </a:t>
            </a:r>
          </a:p>
          <a:p>
            <a:pPr marL="0" indent="0">
              <a:buNone/>
            </a:pPr>
            <a:endParaRPr lang="fr-FR" i="1" dirty="0"/>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41</a:t>
            </a:fld>
            <a:endParaRPr lang="fr-BE"/>
          </a:p>
        </p:txBody>
      </p:sp>
    </p:spTree>
    <p:extLst>
      <p:ext uri="{BB962C8B-B14F-4D97-AF65-F5344CB8AC3E}">
        <p14:creationId xmlns:p14="http://schemas.microsoft.com/office/powerpoint/2010/main" val="177070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1. Création d'un nouveau projet	</a:t>
            </a:r>
          </a:p>
        </p:txBody>
      </p:sp>
      <p:sp>
        <p:nvSpPr>
          <p:cNvPr id="3" name="Espace réservé du contenu 2"/>
          <p:cNvSpPr>
            <a:spLocks noGrp="1"/>
          </p:cNvSpPr>
          <p:nvPr>
            <p:ph idx="1"/>
          </p:nvPr>
        </p:nvSpPr>
        <p:spPr>
          <a:xfrm>
            <a:off x="457200" y="1648544"/>
            <a:ext cx="8229600" cy="4876800"/>
          </a:xfrm>
        </p:spPr>
        <p:txBody>
          <a:bodyPr>
            <a:normAutofit/>
          </a:bodyPr>
          <a:lstStyle/>
          <a:p>
            <a:pPr marL="0" indent="0">
              <a:buNone/>
            </a:pPr>
            <a:r>
              <a:rPr lang="fr-FR" b="1" dirty="0">
                <a:solidFill>
                  <a:schemeClr val="accent1"/>
                </a:solidFill>
              </a:rPr>
              <a:t>C. Liste des ressources</a:t>
            </a:r>
            <a:br>
              <a:rPr lang="fr-FR" b="1" dirty="0">
                <a:solidFill>
                  <a:schemeClr val="accent1"/>
                </a:solidFill>
              </a:rPr>
            </a:br>
            <a:endParaRPr lang="fr-FR" sz="1400" b="1" dirty="0"/>
          </a:p>
          <a:p>
            <a:pPr marL="0" indent="0">
              <a:buNone/>
            </a:pPr>
            <a:r>
              <a:rPr lang="fr-FR" sz="2000" b="1" dirty="0"/>
              <a:t>Saisie des ressources Travail :</a:t>
            </a:r>
            <a:endParaRPr lang="fr-FR" sz="2000" dirty="0"/>
          </a:p>
          <a:p>
            <a:pPr marL="0" indent="0">
              <a:buNone/>
            </a:pPr>
            <a:endParaRPr lang="fr-FR" dirty="0"/>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42</a:t>
            </a:fld>
            <a:endParaRPr lang="fr-BE"/>
          </a:p>
        </p:txBody>
      </p:sp>
      <p:graphicFrame>
        <p:nvGraphicFramePr>
          <p:cNvPr id="5" name="Tableau 4"/>
          <p:cNvGraphicFramePr>
            <a:graphicFrameLocks noGrp="1"/>
          </p:cNvGraphicFramePr>
          <p:nvPr/>
        </p:nvGraphicFramePr>
        <p:xfrm>
          <a:off x="889247" y="2934847"/>
          <a:ext cx="7931225" cy="2366361"/>
        </p:xfrm>
        <a:graphic>
          <a:graphicData uri="http://schemas.openxmlformats.org/drawingml/2006/table">
            <a:tbl>
              <a:tblPr firstRow="1" firstCol="1" bandRow="1">
                <a:tableStyleId>{5C22544A-7EE6-4342-B048-85BDC9FD1C3A}</a:tableStyleId>
              </a:tblPr>
              <a:tblGrid>
                <a:gridCol w="2016226">
                  <a:extLst>
                    <a:ext uri="{9D8B030D-6E8A-4147-A177-3AD203B41FA5}">
                      <a16:colId xmlns:a16="http://schemas.microsoft.com/office/drawing/2014/main" val="20000"/>
                    </a:ext>
                  </a:extLst>
                </a:gridCol>
                <a:gridCol w="1156264">
                  <a:extLst>
                    <a:ext uri="{9D8B030D-6E8A-4147-A177-3AD203B41FA5}">
                      <a16:colId xmlns:a16="http://schemas.microsoft.com/office/drawing/2014/main" val="20001"/>
                    </a:ext>
                  </a:extLst>
                </a:gridCol>
                <a:gridCol w="1586245">
                  <a:extLst>
                    <a:ext uri="{9D8B030D-6E8A-4147-A177-3AD203B41FA5}">
                      <a16:colId xmlns:a16="http://schemas.microsoft.com/office/drawing/2014/main" val="20002"/>
                    </a:ext>
                  </a:extLst>
                </a:gridCol>
                <a:gridCol w="1145923">
                  <a:extLst>
                    <a:ext uri="{9D8B030D-6E8A-4147-A177-3AD203B41FA5}">
                      <a16:colId xmlns:a16="http://schemas.microsoft.com/office/drawing/2014/main" val="20003"/>
                    </a:ext>
                  </a:extLst>
                </a:gridCol>
                <a:gridCol w="2026567">
                  <a:extLst>
                    <a:ext uri="{9D8B030D-6E8A-4147-A177-3AD203B41FA5}">
                      <a16:colId xmlns:a16="http://schemas.microsoft.com/office/drawing/2014/main" val="20004"/>
                    </a:ext>
                  </a:extLst>
                </a:gridCol>
              </a:tblGrid>
              <a:tr h="629559">
                <a:tc>
                  <a:txBody>
                    <a:bodyPr/>
                    <a:lstStyle/>
                    <a:p>
                      <a:pPr>
                        <a:lnSpc>
                          <a:spcPct val="107000"/>
                        </a:lnSpc>
                        <a:spcAft>
                          <a:spcPts val="0"/>
                        </a:spcAft>
                      </a:pPr>
                      <a:r>
                        <a:rPr lang="fr-FR" sz="1600" dirty="0">
                          <a:effectLst/>
                        </a:rPr>
                        <a:t>Nom de la ressource</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a:effectLst/>
                        </a:rPr>
                        <a:t>Initiales</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a:effectLst/>
                        </a:rPr>
                        <a:t>Groupe</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a:effectLst/>
                        </a:rPr>
                        <a:t>Capacité max.</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err="1">
                          <a:effectLst/>
                        </a:rPr>
                        <a:t>Tx</a:t>
                      </a:r>
                      <a:r>
                        <a:rPr lang="fr-FR" sz="1600" dirty="0">
                          <a:effectLst/>
                        </a:rPr>
                        <a:t>. standard</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extLst>
                  <a:ext uri="{0D108BD9-81ED-4DB2-BD59-A6C34878D82A}">
                    <a16:rowId xmlns:a16="http://schemas.microsoft.com/office/drawing/2014/main" val="10000"/>
                  </a:ext>
                </a:extLst>
              </a:tr>
              <a:tr h="629559">
                <a:tc>
                  <a:txBody>
                    <a:bodyPr/>
                    <a:lstStyle/>
                    <a:p>
                      <a:pPr>
                        <a:lnSpc>
                          <a:spcPct val="107000"/>
                        </a:lnSpc>
                        <a:spcAft>
                          <a:spcPts val="0"/>
                        </a:spcAft>
                      </a:pPr>
                      <a:r>
                        <a:rPr lang="fr-FR" sz="1600" dirty="0">
                          <a:effectLst/>
                        </a:rPr>
                        <a:t>Chef de projet</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CP</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Cadre</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1</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800,00 € /j</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extLst>
                  <a:ext uri="{0D108BD9-81ED-4DB2-BD59-A6C34878D82A}">
                    <a16:rowId xmlns:a16="http://schemas.microsoft.com/office/drawing/2014/main" val="10001"/>
                  </a:ext>
                </a:extLst>
              </a:tr>
              <a:tr h="369081">
                <a:tc>
                  <a:txBody>
                    <a:bodyPr/>
                    <a:lstStyle/>
                    <a:p>
                      <a:pPr>
                        <a:lnSpc>
                          <a:spcPct val="107000"/>
                        </a:lnSpc>
                        <a:spcAft>
                          <a:spcPts val="0"/>
                        </a:spcAft>
                      </a:pPr>
                      <a:r>
                        <a:rPr lang="fr-FR" sz="1600" dirty="0">
                          <a:effectLst/>
                        </a:rPr>
                        <a:t>Architecte</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a:effectLst/>
                        </a:rPr>
                        <a:t>A</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Design</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2</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600,00 € /j</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extLst>
                  <a:ext uri="{0D108BD9-81ED-4DB2-BD59-A6C34878D82A}">
                    <a16:rowId xmlns:a16="http://schemas.microsoft.com/office/drawing/2014/main" val="10002"/>
                  </a:ext>
                </a:extLst>
              </a:tr>
              <a:tr h="369081">
                <a:tc>
                  <a:txBody>
                    <a:bodyPr/>
                    <a:lstStyle/>
                    <a:p>
                      <a:pPr>
                        <a:lnSpc>
                          <a:spcPct val="107000"/>
                        </a:lnSpc>
                        <a:spcAft>
                          <a:spcPts val="0"/>
                        </a:spcAft>
                      </a:pPr>
                      <a:r>
                        <a:rPr lang="fr-FR" sz="1600" dirty="0">
                          <a:effectLst/>
                        </a:rPr>
                        <a:t>Maquettiste</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a:effectLst/>
                        </a:rPr>
                        <a:t>M</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Design</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2</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500,00 € /j</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extLst>
                  <a:ext uri="{0D108BD9-81ED-4DB2-BD59-A6C34878D82A}">
                    <a16:rowId xmlns:a16="http://schemas.microsoft.com/office/drawing/2014/main" val="10003"/>
                  </a:ext>
                </a:extLst>
              </a:tr>
              <a:tr h="369081">
                <a:tc>
                  <a:txBody>
                    <a:bodyPr/>
                    <a:lstStyle/>
                    <a:p>
                      <a:pPr>
                        <a:lnSpc>
                          <a:spcPct val="107000"/>
                        </a:lnSpc>
                        <a:spcAft>
                          <a:spcPts val="0"/>
                        </a:spcAft>
                      </a:pPr>
                      <a:r>
                        <a:rPr lang="fr-FR" sz="1600" dirty="0">
                          <a:effectLst/>
                        </a:rPr>
                        <a:t>Développeur</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a:effectLst/>
                        </a:rPr>
                        <a:t>D</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Programmeur</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4</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1600" dirty="0">
                          <a:effectLst/>
                        </a:rPr>
                        <a:t>400,00 € /j</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extLst>
                  <a:ext uri="{0D108BD9-81ED-4DB2-BD59-A6C34878D82A}">
                    <a16:rowId xmlns:a16="http://schemas.microsoft.com/office/drawing/2014/main" val="10004"/>
                  </a:ext>
                </a:extLst>
              </a:tr>
            </a:tbl>
          </a:graphicData>
        </a:graphic>
      </p:graphicFrame>
      <p:sp>
        <p:nvSpPr>
          <p:cNvPr id="6" name="Rectangle 5"/>
          <p:cNvSpPr/>
          <p:nvPr/>
        </p:nvSpPr>
        <p:spPr>
          <a:xfrm>
            <a:off x="179512" y="5463189"/>
            <a:ext cx="8964488" cy="1200329"/>
          </a:xfrm>
          <a:prstGeom prst="rect">
            <a:avLst/>
          </a:prstGeom>
        </p:spPr>
        <p:txBody>
          <a:bodyPr wrap="square">
            <a:spAutoFit/>
          </a:bodyPr>
          <a:lstStyle/>
          <a:p>
            <a:r>
              <a:rPr lang="fr-FR" dirty="0">
                <a:solidFill>
                  <a:srgbClr val="333333"/>
                </a:solidFill>
                <a:latin typeface="Arial" panose="020B0604020202020204" pitchFamily="34" charset="0"/>
              </a:rPr>
              <a:t>Pour saisir la capacité au format </a:t>
            </a:r>
            <a:r>
              <a:rPr lang="fr-FR" b="1" dirty="0">
                <a:solidFill>
                  <a:srgbClr val="333333"/>
                </a:solidFill>
                <a:latin typeface="Arial" panose="020B0604020202020204" pitchFamily="34" charset="0"/>
              </a:rPr>
              <a:t>décimal</a:t>
            </a:r>
            <a:r>
              <a:rPr lang="fr-FR" dirty="0">
                <a:solidFill>
                  <a:srgbClr val="333333"/>
                </a:solidFill>
                <a:latin typeface="Arial" panose="020B0604020202020204" pitchFamily="34" charset="0"/>
              </a:rPr>
              <a:t> et non au format pourcentage (par défaut) :</a:t>
            </a:r>
          </a:p>
          <a:p>
            <a:pPr>
              <a:buFont typeface="+mj-lt"/>
              <a:buAutoNum type="arabicPeriod"/>
            </a:pPr>
            <a:r>
              <a:rPr lang="fr-FR" dirty="0">
                <a:solidFill>
                  <a:srgbClr val="333333"/>
                </a:solidFill>
                <a:latin typeface="Arial" panose="020B0604020202020204" pitchFamily="34" charset="0"/>
              </a:rPr>
              <a:t>Cliquez sur l’onglet </a:t>
            </a:r>
            <a:r>
              <a:rPr lang="fr-FR" b="1" dirty="0">
                <a:solidFill>
                  <a:srgbClr val="333333"/>
                </a:solidFill>
                <a:latin typeface="Arial" panose="020B0604020202020204" pitchFamily="34" charset="0"/>
              </a:rPr>
              <a:t>Fichier</a:t>
            </a:r>
            <a:r>
              <a:rPr lang="fr-FR" dirty="0">
                <a:solidFill>
                  <a:srgbClr val="333333"/>
                </a:solidFill>
                <a:latin typeface="Arial" panose="020B0604020202020204" pitchFamily="34" charset="0"/>
              </a:rPr>
              <a:t>, puis sur </a:t>
            </a:r>
            <a:r>
              <a:rPr lang="fr-FR" b="1" dirty="0">
                <a:solidFill>
                  <a:srgbClr val="333333"/>
                </a:solidFill>
                <a:latin typeface="Arial" panose="020B0604020202020204" pitchFamily="34" charset="0"/>
              </a:rPr>
              <a:t>Options</a:t>
            </a:r>
            <a:r>
              <a:rPr lang="fr-FR" dirty="0">
                <a:solidFill>
                  <a:srgbClr val="333333"/>
                </a:solidFill>
                <a:latin typeface="Arial" panose="020B0604020202020204" pitchFamily="34" charset="0"/>
              </a:rPr>
              <a:t>, puis sur </a:t>
            </a:r>
            <a:r>
              <a:rPr lang="fr-FR" b="1" dirty="0">
                <a:solidFill>
                  <a:srgbClr val="333333"/>
                </a:solidFill>
                <a:latin typeface="Arial" panose="020B0604020202020204" pitchFamily="34" charset="0"/>
              </a:rPr>
              <a:t>Echéancier</a:t>
            </a:r>
          </a:p>
          <a:p>
            <a:pPr>
              <a:buFont typeface="+mj-lt"/>
              <a:buAutoNum type="arabicPeriod"/>
            </a:pPr>
            <a:r>
              <a:rPr lang="fr-FR" dirty="0">
                <a:solidFill>
                  <a:srgbClr val="333333"/>
                </a:solidFill>
                <a:latin typeface="Arial" panose="020B0604020202020204" pitchFamily="34" charset="0"/>
              </a:rPr>
              <a:t>Dans la zone </a:t>
            </a:r>
            <a:r>
              <a:rPr lang="fr-FR" b="1" dirty="0">
                <a:solidFill>
                  <a:srgbClr val="333333"/>
                </a:solidFill>
                <a:latin typeface="Arial" panose="020B0604020202020204" pitchFamily="34" charset="0"/>
              </a:rPr>
              <a:t>Echéancier</a:t>
            </a:r>
            <a:r>
              <a:rPr lang="fr-FR" dirty="0">
                <a:solidFill>
                  <a:srgbClr val="333333"/>
                </a:solidFill>
                <a:latin typeface="Arial" panose="020B0604020202020204" pitchFamily="34" charset="0"/>
              </a:rPr>
              <a:t>, sélectionnez pour </a:t>
            </a:r>
            <a:r>
              <a:rPr lang="fr-FR" b="1" dirty="0">
                <a:solidFill>
                  <a:srgbClr val="333333"/>
                </a:solidFill>
                <a:latin typeface="Arial" panose="020B0604020202020204" pitchFamily="34" charset="0"/>
              </a:rPr>
              <a:t>Afficher le taux d’allocation en tant que</a:t>
            </a:r>
            <a:r>
              <a:rPr lang="fr-FR" dirty="0">
                <a:solidFill>
                  <a:srgbClr val="333333"/>
                </a:solidFill>
                <a:latin typeface="Arial" panose="020B0604020202020204" pitchFamily="34" charset="0"/>
              </a:rPr>
              <a:t>, la valeur </a:t>
            </a:r>
            <a:r>
              <a:rPr lang="fr-FR" b="1" dirty="0">
                <a:solidFill>
                  <a:srgbClr val="333333"/>
                </a:solidFill>
                <a:latin typeface="Arial" panose="020B0604020202020204" pitchFamily="34" charset="0"/>
              </a:rPr>
              <a:t>Décimal</a:t>
            </a:r>
            <a:r>
              <a:rPr lang="fr-FR" dirty="0">
                <a:solidFill>
                  <a:srgbClr val="333333"/>
                </a:solidFill>
                <a:latin typeface="Arial" panose="020B0604020202020204" pitchFamily="34" charset="0"/>
              </a:rPr>
              <a:t>.</a:t>
            </a:r>
            <a:endParaRPr lang="fr-FR" b="0" i="0" dirty="0">
              <a:solidFill>
                <a:srgbClr val="333333"/>
              </a:solidFill>
              <a:effectLst/>
              <a:latin typeface="Arial" panose="020B0604020202020204" pitchFamily="34" charset="0"/>
            </a:endParaRPr>
          </a:p>
        </p:txBody>
      </p:sp>
      <p:sp>
        <p:nvSpPr>
          <p:cNvPr id="7" name="Rectangle 6"/>
          <p:cNvSpPr/>
          <p:nvPr/>
        </p:nvSpPr>
        <p:spPr>
          <a:xfrm rot="16200000">
            <a:off x="-873375" y="3861048"/>
            <a:ext cx="2592288" cy="576064"/>
          </a:xfrm>
          <a:prstGeom prst="rect">
            <a:avLst/>
          </a:prstGeom>
          <a:solidFill>
            <a:schemeClr val="tx2"/>
          </a:solidFill>
          <a:ln>
            <a:solidFill>
              <a:schemeClr val="tx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1400" b="1" u="sng" dirty="0"/>
              <a:t>Astuce</a:t>
            </a:r>
            <a:r>
              <a:rPr lang="fr-FR" sz="1400" b="1" dirty="0"/>
              <a:t> : copier-coller les données dans Excel d’abord</a:t>
            </a:r>
          </a:p>
        </p:txBody>
      </p:sp>
    </p:spTree>
    <p:extLst>
      <p:ext uri="{BB962C8B-B14F-4D97-AF65-F5344CB8AC3E}">
        <p14:creationId xmlns:p14="http://schemas.microsoft.com/office/powerpoint/2010/main" val="20407184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611560" y="1371600"/>
            <a:ext cx="8206680" cy="1927225"/>
          </a:xfrm>
        </p:spPr>
        <p:txBody>
          <a:bodyPr/>
          <a:lstStyle/>
          <a:p>
            <a:pPr algn="r"/>
            <a:r>
              <a:rPr lang="fr-FR" dirty="0"/>
              <a:t>2. GESTION DES CALENDRIERS</a:t>
            </a:r>
          </a:p>
        </p:txBody>
      </p:sp>
      <p:sp>
        <p:nvSpPr>
          <p:cNvPr id="2" name="Espace réservé du numéro de diapositive 1"/>
          <p:cNvSpPr>
            <a:spLocks noGrp="1"/>
          </p:cNvSpPr>
          <p:nvPr>
            <p:ph type="sldNum" sz="quarter" idx="12"/>
          </p:nvPr>
        </p:nvSpPr>
        <p:spPr/>
        <p:txBody>
          <a:bodyPr/>
          <a:lstStyle/>
          <a:p>
            <a:fld id="{CF4668DC-857F-487D-BFFA-8C0CA5037977}" type="slidenum">
              <a:rPr lang="fr-BE" smtClean="0"/>
              <a:pPr/>
              <a:t>43</a:t>
            </a:fld>
            <a:endParaRPr lang="fr-BE"/>
          </a:p>
        </p:txBody>
      </p:sp>
    </p:spTree>
    <p:extLst>
      <p:ext uri="{BB962C8B-B14F-4D97-AF65-F5344CB8AC3E}">
        <p14:creationId xmlns:p14="http://schemas.microsoft.com/office/powerpoint/2010/main" val="30221859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a:bodyPr>
          <a:lstStyle/>
          <a:p>
            <a:r>
              <a:rPr lang="fr-FR" dirty="0"/>
              <a:t>La réalisation du projet nécessite des ressources humaines (Chef de projet, Architectes, Maquettistes et développeur) qui ne peuvent travailler que certains jours et à certaines heures.</a:t>
            </a:r>
          </a:p>
          <a:p>
            <a:pPr marL="0" indent="0">
              <a:buNone/>
            </a:pPr>
            <a:endParaRPr lang="fr-FR" dirty="0"/>
          </a:p>
          <a:p>
            <a:r>
              <a:rPr lang="fr-FR" dirty="0"/>
              <a:t>MS Project utilise des calendriers pour différencier les heures et les jours travaillés des heures et des jours de repos. Ces calendriers seront ensuite appliqués au projet entier ou à une tâche particulière. MS Project créera automatiquement un calendrier propre pour chaque ressource de votre projet, calendrier que vous pourrez ensuite modifier selon les besoins de votre projet.</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44</a:t>
            </a:fld>
            <a:endParaRPr lang="fr-BE"/>
          </a:p>
        </p:txBody>
      </p:sp>
    </p:spTree>
    <p:extLst>
      <p:ext uri="{BB962C8B-B14F-4D97-AF65-F5344CB8AC3E}">
        <p14:creationId xmlns:p14="http://schemas.microsoft.com/office/powerpoint/2010/main" val="27133721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fontScale="92500" lnSpcReduction="20000"/>
          </a:bodyPr>
          <a:lstStyle/>
          <a:p>
            <a:pPr marL="0" indent="0">
              <a:buNone/>
            </a:pPr>
            <a:r>
              <a:rPr lang="fr-FR" b="1" dirty="0">
                <a:solidFill>
                  <a:schemeClr val="accent1"/>
                </a:solidFill>
              </a:rPr>
              <a:t>A. </a:t>
            </a:r>
            <a:r>
              <a:rPr lang="fr-FR" b="1" dirty="0"/>
              <a:t>Calendrier du projet</a:t>
            </a:r>
          </a:p>
          <a:p>
            <a:pPr marL="0" indent="0">
              <a:buNone/>
            </a:pPr>
            <a:endParaRPr lang="fr-FR" b="1" dirty="0"/>
          </a:p>
          <a:p>
            <a:r>
              <a:rPr lang="fr-FR" dirty="0"/>
              <a:t>Dans l’onglet </a:t>
            </a:r>
            <a:r>
              <a:rPr lang="fr-FR" b="1" dirty="0"/>
              <a:t>Projet</a:t>
            </a:r>
            <a:r>
              <a:rPr lang="fr-FR" dirty="0"/>
              <a:t>, cliquez sur </a:t>
            </a:r>
            <a:r>
              <a:rPr lang="fr-FR" b="1" dirty="0"/>
              <a:t>Modifier les horaires de travail</a:t>
            </a:r>
            <a:r>
              <a:rPr lang="fr-FR" dirty="0"/>
              <a:t> </a:t>
            </a:r>
          </a:p>
          <a:p>
            <a:pPr marL="0" indent="0">
              <a:buNone/>
            </a:pPr>
            <a:endParaRPr lang="fr-FR" b="1" dirty="0"/>
          </a:p>
          <a:p>
            <a:pPr marL="0" indent="0">
              <a:buNone/>
            </a:pPr>
            <a:r>
              <a:rPr lang="fr-FR" b="1" dirty="0">
                <a:solidFill>
                  <a:schemeClr val="accent1"/>
                </a:solidFill>
              </a:rPr>
              <a:t>B. </a:t>
            </a:r>
            <a:r>
              <a:rPr lang="fr-FR" b="1" dirty="0"/>
              <a:t>Créer un nouveau calendrier</a:t>
            </a:r>
          </a:p>
          <a:p>
            <a:pPr marL="0" indent="0">
              <a:buNone/>
            </a:pPr>
            <a:endParaRPr lang="fr-FR" b="1" dirty="0"/>
          </a:p>
          <a:p>
            <a:r>
              <a:rPr lang="fr-FR" dirty="0"/>
              <a:t>Il est préférable de créer un calendrier particulier pour votre projet, cela vous évitera certaines confusions.</a:t>
            </a:r>
          </a:p>
          <a:p>
            <a:r>
              <a:rPr lang="fr-FR" dirty="0"/>
              <a:t>Cliquez sur le bouton </a:t>
            </a:r>
            <a:r>
              <a:rPr lang="fr-FR" b="1" dirty="0"/>
              <a:t>Créer un nouveau calendrier</a:t>
            </a:r>
            <a:r>
              <a:rPr lang="fr-FR" dirty="0"/>
              <a:t> ;</a:t>
            </a:r>
          </a:p>
          <a:p>
            <a:r>
              <a:rPr lang="fr-FR" dirty="0"/>
              <a:t>Nommez votre </a:t>
            </a:r>
            <a:r>
              <a:rPr lang="fr-FR" b="1" dirty="0"/>
              <a:t>nouveau calendrier ‘Site Web INNOVATION’;</a:t>
            </a:r>
            <a:endParaRPr lang="fr-FR" dirty="0"/>
          </a:p>
          <a:p>
            <a:r>
              <a:rPr lang="fr-FR" dirty="0"/>
              <a:t>Choisissez de préférence de copier le calendrier </a:t>
            </a:r>
            <a:r>
              <a:rPr lang="fr-FR" b="1" dirty="0"/>
              <a:t>Standard existant</a:t>
            </a:r>
            <a:r>
              <a:rPr lang="fr-FR" dirty="0"/>
              <a:t> ; ce qui permet de prendre en compte les jours de repos qui auraient été déjà saisis dans le calendrier Standard.</a:t>
            </a:r>
          </a:p>
          <a:p>
            <a:r>
              <a:rPr lang="fr-FR" dirty="0"/>
              <a:t>Puis cliquez sur le bouton OK.</a:t>
            </a:r>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45</a:t>
            </a:fld>
            <a:endParaRPr lang="fr-BE"/>
          </a:p>
        </p:txBody>
      </p:sp>
    </p:spTree>
    <p:extLst>
      <p:ext uri="{BB962C8B-B14F-4D97-AF65-F5344CB8AC3E}">
        <p14:creationId xmlns:p14="http://schemas.microsoft.com/office/powerpoint/2010/main" val="12092898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a:bodyPr>
          <a:lstStyle/>
          <a:p>
            <a:pPr marL="0" indent="0">
              <a:buNone/>
            </a:pPr>
            <a:r>
              <a:rPr lang="fr-FR" b="1" dirty="0">
                <a:solidFill>
                  <a:schemeClr val="accent1"/>
                </a:solidFill>
              </a:rPr>
              <a:t>A. </a:t>
            </a:r>
            <a:r>
              <a:rPr lang="fr-FR" b="1" dirty="0"/>
              <a:t>Personnaliser le calendrier du projet</a:t>
            </a:r>
          </a:p>
          <a:p>
            <a:pPr marL="0" indent="0">
              <a:buNone/>
            </a:pPr>
            <a:endParaRPr lang="fr-FR" dirty="0"/>
          </a:p>
          <a:p>
            <a:r>
              <a:rPr lang="fr-FR" dirty="0"/>
              <a:t>Vous allez maintenant adapter ce calendrier à votre entreprise, en définissant :</a:t>
            </a:r>
          </a:p>
          <a:p>
            <a:pPr marL="0" indent="0">
              <a:buNone/>
            </a:pPr>
            <a:endParaRPr lang="fr-FR" dirty="0"/>
          </a:p>
          <a:p>
            <a:pPr lvl="1">
              <a:buFontTx/>
              <a:buChar char="-"/>
            </a:pPr>
            <a:r>
              <a:rPr lang="fr-FR" sz="2400" dirty="0"/>
              <a:t>Les jours et les périodes de repos</a:t>
            </a:r>
          </a:p>
          <a:p>
            <a:pPr lvl="1">
              <a:buFontTx/>
              <a:buChar char="-"/>
            </a:pPr>
            <a:r>
              <a:rPr lang="fr-FR" sz="2400" dirty="0"/>
              <a:t>Les horaires de travail</a:t>
            </a:r>
          </a:p>
          <a:p>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46</a:t>
            </a:fld>
            <a:endParaRPr lang="fr-BE"/>
          </a:p>
        </p:txBody>
      </p:sp>
    </p:spTree>
    <p:extLst>
      <p:ext uri="{BB962C8B-B14F-4D97-AF65-F5344CB8AC3E}">
        <p14:creationId xmlns:p14="http://schemas.microsoft.com/office/powerpoint/2010/main" val="1178100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fontScale="70000" lnSpcReduction="20000"/>
          </a:bodyPr>
          <a:lstStyle/>
          <a:p>
            <a:pPr marL="0" indent="0">
              <a:buNone/>
            </a:pPr>
            <a:r>
              <a:rPr lang="fr-FR" b="1" dirty="0"/>
              <a:t>Gérer les jours fériés</a:t>
            </a:r>
          </a:p>
          <a:p>
            <a:pPr marL="0" indent="0">
              <a:buNone/>
            </a:pPr>
            <a:endParaRPr lang="fr-FR" dirty="0"/>
          </a:p>
          <a:p>
            <a:r>
              <a:rPr lang="fr-FR" dirty="0"/>
              <a:t>Par défaut, MS Project définit la semaine de travail du lundi au vendredi et qu’il n’existe aucun autre jour de repos dans le calendrier. Dans un premier temps, vous allez définir la liste des jours fériés de l’année, du 1er janvier au 25 décembre.</a:t>
            </a:r>
          </a:p>
          <a:p>
            <a:r>
              <a:rPr lang="fr-FR" dirty="0"/>
              <a:t>Utilisez les flèches de la barre de défilement vertical à droite du calendrier mensuel pour arriver sur le mois de janvier </a:t>
            </a:r>
            <a:r>
              <a:rPr lang="fr-FR" dirty="0">
                <a:solidFill>
                  <a:srgbClr val="FF0000"/>
                </a:solidFill>
              </a:rPr>
              <a:t>2026</a:t>
            </a:r>
            <a:r>
              <a:rPr lang="fr-FR" dirty="0"/>
              <a:t> et cliquez sur la journée du </a:t>
            </a:r>
            <a:r>
              <a:rPr lang="fr-FR" b="1" dirty="0"/>
              <a:t>1er janvier</a:t>
            </a:r>
            <a:r>
              <a:rPr lang="fr-FR" dirty="0"/>
              <a:t>.</a:t>
            </a:r>
          </a:p>
          <a:p>
            <a:r>
              <a:rPr lang="fr-FR" dirty="0"/>
              <a:t>Sélectionnez l’onglet </a:t>
            </a:r>
            <a:r>
              <a:rPr lang="fr-FR" b="1" dirty="0"/>
              <a:t>Exceptions</a:t>
            </a:r>
            <a:r>
              <a:rPr lang="fr-FR" dirty="0"/>
              <a:t> en dessous du calendrier, puis cliquez dans le champ </a:t>
            </a:r>
            <a:r>
              <a:rPr lang="fr-FR" b="1" dirty="0"/>
              <a:t>Nom</a:t>
            </a:r>
            <a:r>
              <a:rPr lang="fr-FR" dirty="0"/>
              <a:t> sur la première ligne disponible de la liste et saisissez comme nom de ce jour de repos </a:t>
            </a:r>
            <a:r>
              <a:rPr lang="fr-FR" b="1" dirty="0"/>
              <a:t>Jour de l’An</a:t>
            </a:r>
            <a:r>
              <a:rPr lang="fr-FR" dirty="0"/>
              <a:t>. Puis appuyez sur touche Tabulation.</a:t>
            </a:r>
          </a:p>
          <a:p>
            <a:r>
              <a:rPr lang="fr-FR" dirty="0"/>
              <a:t>MS Project définit le 1er janvier </a:t>
            </a:r>
            <a:r>
              <a:rPr lang="fr-FR" dirty="0">
                <a:solidFill>
                  <a:srgbClr val="FF0000"/>
                </a:solidFill>
              </a:rPr>
              <a:t>2026 </a:t>
            </a:r>
            <a:r>
              <a:rPr lang="fr-FR" dirty="0"/>
              <a:t>comme jour de repos. Comme le Jour de l’An se répète tous les ans à la même date, vous pouvez définir ce jour de repos comme un jour de repos répétitif.</a:t>
            </a:r>
          </a:p>
          <a:p>
            <a:r>
              <a:rPr lang="fr-FR" dirty="0"/>
              <a:t>Sélectionnez la ligne du 1er janvier et cliquez sur le bouton </a:t>
            </a:r>
            <a:r>
              <a:rPr lang="fr-FR" b="1" dirty="0"/>
              <a:t>Détails</a:t>
            </a:r>
            <a:r>
              <a:rPr lang="fr-FR" dirty="0"/>
              <a:t> pour définir les options suivantes :</a:t>
            </a:r>
          </a:p>
          <a:p>
            <a:pPr lvl="1"/>
            <a:r>
              <a:rPr lang="fr-FR" dirty="0"/>
              <a:t>Périodicité : annuelle</a:t>
            </a:r>
          </a:p>
          <a:p>
            <a:pPr lvl="1"/>
            <a:r>
              <a:rPr lang="fr-FR" dirty="0"/>
              <a:t>Le : 01 Janvier</a:t>
            </a:r>
          </a:p>
          <a:p>
            <a:pPr lvl="1"/>
            <a:r>
              <a:rPr lang="fr-FR" dirty="0"/>
              <a:t>Plage de périodicité : Début le 1er janvier</a:t>
            </a:r>
            <a:r>
              <a:rPr lang="fr-FR" dirty="0">
                <a:solidFill>
                  <a:srgbClr val="FF0000"/>
                </a:solidFill>
              </a:rPr>
              <a:t> 2026</a:t>
            </a:r>
          </a:p>
          <a:p>
            <a:pPr lvl="1"/>
            <a:r>
              <a:rPr lang="fr-FR" dirty="0"/>
              <a:t>Fin après 10 occurrence(s)</a:t>
            </a:r>
          </a:p>
          <a:p>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47</a:t>
            </a:fld>
            <a:endParaRPr lang="fr-BE"/>
          </a:p>
        </p:txBody>
      </p:sp>
    </p:spTree>
    <p:extLst>
      <p:ext uri="{BB962C8B-B14F-4D97-AF65-F5344CB8AC3E}">
        <p14:creationId xmlns:p14="http://schemas.microsoft.com/office/powerpoint/2010/main" val="20851962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fontScale="70000" lnSpcReduction="20000"/>
          </a:bodyPr>
          <a:lstStyle/>
          <a:p>
            <a:pPr marL="0" indent="0">
              <a:buNone/>
            </a:pPr>
            <a:r>
              <a:rPr lang="fr-FR" b="1" dirty="0"/>
              <a:t>Gérer les jours fériés</a:t>
            </a:r>
          </a:p>
          <a:p>
            <a:pPr marL="0" indent="0">
              <a:buNone/>
            </a:pPr>
            <a:endParaRPr lang="fr-FR" dirty="0"/>
          </a:p>
          <a:p>
            <a:r>
              <a:rPr lang="fr-FR" b="1" u="sng" dirty="0"/>
              <a:t>Exercice</a:t>
            </a:r>
            <a:r>
              <a:rPr lang="fr-FR" b="1" dirty="0"/>
              <a:t> : Renseigner tous les jours fériés de l’année. </a:t>
            </a:r>
            <a:r>
              <a:rPr lang="fr-FR" dirty="0"/>
              <a:t>Cliquez sur la date à paramétrer avant de saisir l’intitulé dans la liste ; ainsi MS Project affichera de lui-même la date dans les colonnes Début et Fin ce qui vous évitera des erreurs de saisie.</a:t>
            </a:r>
          </a:p>
          <a:p>
            <a:pPr marL="0" indent="0">
              <a:buNone/>
            </a:pPr>
            <a:endParaRPr lang="fr-FR" dirty="0"/>
          </a:p>
          <a:p>
            <a:r>
              <a:rPr lang="fr-FR" dirty="0"/>
              <a:t>Noël : 25 décembre </a:t>
            </a:r>
            <a:r>
              <a:rPr lang="fr-FR" dirty="0">
                <a:solidFill>
                  <a:srgbClr val="FF0000"/>
                </a:solidFill>
              </a:rPr>
              <a:t>2026</a:t>
            </a:r>
            <a:r>
              <a:rPr lang="fr-FR" dirty="0"/>
              <a:t>, répétitif</a:t>
            </a:r>
          </a:p>
          <a:p>
            <a:r>
              <a:rPr lang="fr-FR" dirty="0"/>
              <a:t>Jour de l’an :  1</a:t>
            </a:r>
            <a:r>
              <a:rPr lang="fr-FR" baseline="30000" dirty="0"/>
              <a:t>er</a:t>
            </a:r>
            <a:r>
              <a:rPr lang="fr-FR" dirty="0"/>
              <a:t> janvier </a:t>
            </a:r>
            <a:r>
              <a:rPr lang="fr-FR" dirty="0">
                <a:solidFill>
                  <a:srgbClr val="FF0000"/>
                </a:solidFill>
              </a:rPr>
              <a:t>2026</a:t>
            </a:r>
            <a:r>
              <a:rPr lang="fr-FR" dirty="0"/>
              <a:t>, répétitif</a:t>
            </a:r>
          </a:p>
          <a:p>
            <a:r>
              <a:rPr lang="fr-FR" dirty="0"/>
              <a:t>Lundi de Pâques : </a:t>
            </a:r>
            <a:r>
              <a:rPr lang="fr-FR" dirty="0">
                <a:solidFill>
                  <a:srgbClr val="FF0000"/>
                </a:solidFill>
              </a:rPr>
              <a:t>6 avril 2026</a:t>
            </a:r>
          </a:p>
          <a:p>
            <a:r>
              <a:rPr lang="fr-FR" dirty="0"/>
              <a:t>Fête du Travail : 1er mai </a:t>
            </a:r>
            <a:r>
              <a:rPr lang="fr-FR" dirty="0">
                <a:solidFill>
                  <a:srgbClr val="FF0000"/>
                </a:solidFill>
              </a:rPr>
              <a:t>2026</a:t>
            </a:r>
            <a:r>
              <a:rPr lang="fr-FR" dirty="0"/>
              <a:t>, répétitif</a:t>
            </a:r>
          </a:p>
          <a:p>
            <a:r>
              <a:rPr lang="fr-FR" dirty="0"/>
              <a:t>Victoire 1945 : 8 mai </a:t>
            </a:r>
            <a:r>
              <a:rPr lang="fr-FR" dirty="0">
                <a:solidFill>
                  <a:srgbClr val="FF0000"/>
                </a:solidFill>
              </a:rPr>
              <a:t>2026</a:t>
            </a:r>
            <a:r>
              <a:rPr lang="fr-FR" dirty="0"/>
              <a:t>, répétitif</a:t>
            </a:r>
          </a:p>
          <a:p>
            <a:r>
              <a:rPr lang="fr-FR" dirty="0"/>
              <a:t>Ascension : </a:t>
            </a:r>
            <a:r>
              <a:rPr lang="fr-FR" dirty="0">
                <a:solidFill>
                  <a:srgbClr val="FF0000"/>
                </a:solidFill>
              </a:rPr>
              <a:t>14 mai 2026</a:t>
            </a:r>
          </a:p>
          <a:p>
            <a:r>
              <a:rPr lang="fr-FR" dirty="0"/>
              <a:t>Lundi de Pentecôte : </a:t>
            </a:r>
            <a:r>
              <a:rPr lang="fr-FR" dirty="0">
                <a:solidFill>
                  <a:srgbClr val="FF0000"/>
                </a:solidFill>
              </a:rPr>
              <a:t>24 mai 2026</a:t>
            </a:r>
          </a:p>
          <a:p>
            <a:r>
              <a:rPr lang="fr-FR" dirty="0"/>
              <a:t>Fête Nationale : 14 juillet </a:t>
            </a:r>
            <a:r>
              <a:rPr lang="fr-FR" dirty="0">
                <a:solidFill>
                  <a:srgbClr val="FF0000"/>
                </a:solidFill>
              </a:rPr>
              <a:t>2026</a:t>
            </a:r>
            <a:r>
              <a:rPr lang="fr-FR" dirty="0"/>
              <a:t>, répétitif</a:t>
            </a:r>
          </a:p>
          <a:p>
            <a:r>
              <a:rPr lang="fr-FR" dirty="0"/>
              <a:t>Assomption : 15 août </a:t>
            </a:r>
            <a:r>
              <a:rPr lang="fr-FR" dirty="0">
                <a:solidFill>
                  <a:srgbClr val="FF0000"/>
                </a:solidFill>
              </a:rPr>
              <a:t>2026</a:t>
            </a:r>
            <a:r>
              <a:rPr lang="fr-FR" dirty="0"/>
              <a:t>, répétitif</a:t>
            </a:r>
          </a:p>
          <a:p>
            <a:r>
              <a:rPr lang="fr-FR" dirty="0"/>
              <a:t>Toussaint : 1er novembre </a:t>
            </a:r>
            <a:r>
              <a:rPr lang="fr-FR" dirty="0">
                <a:solidFill>
                  <a:srgbClr val="FF0000"/>
                </a:solidFill>
              </a:rPr>
              <a:t>2026</a:t>
            </a:r>
            <a:r>
              <a:rPr lang="fr-FR" dirty="0"/>
              <a:t>, répétitif</a:t>
            </a:r>
          </a:p>
          <a:p>
            <a:r>
              <a:rPr lang="fr-FR" dirty="0"/>
              <a:t>Armistice 1918 : 11 novembre </a:t>
            </a:r>
            <a:r>
              <a:rPr lang="fr-FR" dirty="0">
                <a:solidFill>
                  <a:srgbClr val="FF0000"/>
                </a:solidFill>
              </a:rPr>
              <a:t>2026</a:t>
            </a:r>
            <a:r>
              <a:rPr lang="fr-FR" dirty="0"/>
              <a:t>, répétitif</a:t>
            </a:r>
          </a:p>
          <a:p>
            <a:endParaRPr lang="fr-FR" dirty="0"/>
          </a:p>
          <a:p>
            <a:endParaRPr lang="fr-FR" dirty="0"/>
          </a:p>
          <a:p>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48</a:t>
            </a:fld>
            <a:endParaRPr lang="fr-BE"/>
          </a:p>
        </p:txBody>
      </p:sp>
    </p:spTree>
    <p:extLst>
      <p:ext uri="{BB962C8B-B14F-4D97-AF65-F5344CB8AC3E}">
        <p14:creationId xmlns:p14="http://schemas.microsoft.com/office/powerpoint/2010/main" val="30317312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fontScale="85000" lnSpcReduction="10000"/>
          </a:bodyPr>
          <a:lstStyle/>
          <a:p>
            <a:pPr marL="0" indent="0">
              <a:buNone/>
            </a:pPr>
            <a:r>
              <a:rPr lang="fr-FR" b="1" dirty="0"/>
              <a:t>Gérer la semaine de travail</a:t>
            </a:r>
            <a:r>
              <a:rPr lang="fr-FR" dirty="0"/>
              <a:t> </a:t>
            </a:r>
          </a:p>
          <a:p>
            <a:pPr marL="0" indent="0">
              <a:buNone/>
            </a:pPr>
            <a:endParaRPr lang="fr-FR" dirty="0"/>
          </a:p>
          <a:p>
            <a:r>
              <a:rPr lang="fr-FR" dirty="0"/>
              <a:t>Par défaut, la semaine de travail se déroule du lundi au vendredi et les heures de travail sont fixées de 9h00 à 12h00 et de 14h00 à 18h00, soit sept heures par jour et trente-cinq heures par semaine.</a:t>
            </a:r>
          </a:p>
          <a:p>
            <a:r>
              <a:rPr lang="fr-FR" dirty="0"/>
              <a:t>Dans votre entreprise, les horaires sont différents. Les salariés travaillent de 9h00 à 12h30 et de 14h00 à 17h30.</a:t>
            </a:r>
          </a:p>
          <a:p>
            <a:r>
              <a:rPr lang="fr-FR" dirty="0"/>
              <a:t>Sélectionnez l’onglet </a:t>
            </a:r>
            <a:r>
              <a:rPr lang="fr-FR" b="1" dirty="0"/>
              <a:t>Semaines de travai</a:t>
            </a:r>
            <a:r>
              <a:rPr lang="fr-FR" dirty="0"/>
              <a:t>l, puis la ligne </a:t>
            </a:r>
            <a:r>
              <a:rPr lang="fr-FR" b="1" dirty="0"/>
              <a:t>Par défaut</a:t>
            </a:r>
            <a:r>
              <a:rPr lang="fr-FR" dirty="0"/>
              <a:t> ;</a:t>
            </a:r>
          </a:p>
          <a:p>
            <a:r>
              <a:rPr lang="fr-FR" dirty="0"/>
              <a:t>Cliquez sur le bouton </a:t>
            </a:r>
            <a:r>
              <a:rPr lang="fr-FR" b="1" dirty="0"/>
              <a:t>Détails </a:t>
            </a:r>
            <a:r>
              <a:rPr lang="fr-FR" dirty="0"/>
              <a:t>;</a:t>
            </a:r>
          </a:p>
          <a:p>
            <a:r>
              <a:rPr lang="fr-FR" dirty="0"/>
              <a:t>Dans la boîte de dialogue qui s’ouvre :</a:t>
            </a:r>
          </a:p>
          <a:p>
            <a:pPr lvl="1"/>
            <a:r>
              <a:rPr lang="fr-FR" dirty="0"/>
              <a:t>Sélectionnez les jours ouvrés de la semaine (en appuyant en continu sur les touches SHIFT ou CTRL)</a:t>
            </a:r>
          </a:p>
          <a:p>
            <a:pPr lvl="1"/>
            <a:r>
              <a:rPr lang="fr-FR" dirty="0"/>
              <a:t>Choisissez l’option </a:t>
            </a:r>
            <a:r>
              <a:rPr lang="fr-FR" b="1" dirty="0"/>
              <a:t>Définir le(s) jour(s) comme temps de travail spécifiques </a:t>
            </a:r>
            <a:r>
              <a:rPr lang="fr-FR" dirty="0"/>
              <a:t>;</a:t>
            </a:r>
          </a:p>
          <a:p>
            <a:pPr lvl="1"/>
            <a:r>
              <a:rPr lang="fr-FR" dirty="0"/>
              <a:t>Saisissez les nouvelles heures de début et de fin des plages horaires concernées.</a:t>
            </a:r>
          </a:p>
          <a:p>
            <a:endParaRPr lang="fr-FR" dirty="0"/>
          </a:p>
          <a:p>
            <a:endParaRPr lang="fr-FR" dirty="0"/>
          </a:p>
          <a:p>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49</a:t>
            </a:fld>
            <a:endParaRPr lang="fr-BE"/>
          </a:p>
        </p:txBody>
      </p:sp>
    </p:spTree>
    <p:extLst>
      <p:ext uri="{BB962C8B-B14F-4D97-AF65-F5344CB8AC3E}">
        <p14:creationId xmlns:p14="http://schemas.microsoft.com/office/powerpoint/2010/main" val="9722262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fontScale="85000" lnSpcReduction="10000"/>
          </a:bodyPr>
          <a:lstStyle/>
          <a:p>
            <a:pPr marL="0" indent="0">
              <a:buNone/>
            </a:pPr>
            <a:r>
              <a:rPr lang="fr-FR" b="1" dirty="0"/>
              <a:t>Cohérence entre les plages horaires et les options de calendrier</a:t>
            </a:r>
          </a:p>
          <a:p>
            <a:pPr marL="0" indent="0">
              <a:buNone/>
            </a:pPr>
            <a:endParaRPr lang="fr-FR" dirty="0"/>
          </a:p>
          <a:p>
            <a:r>
              <a:rPr lang="fr-FR" dirty="0"/>
              <a:t>Les horaires de travail de votre calendrier ont été modifiés et il faut vérifier que MS Project utilise bien les mêmes heures pour définir la journée de travail en général. Si cela n’est pas le cas, les tâches de votre projet risquent de commencer ou de se terminer avec un décalage de plus en plus important au fil du projet. Ce genre d’erreur est difficile à déceler.</a:t>
            </a:r>
          </a:p>
          <a:p>
            <a:r>
              <a:rPr lang="fr-FR" dirty="0"/>
              <a:t>Dans la boîte de dialogue </a:t>
            </a:r>
            <a:r>
              <a:rPr lang="fr-FR" b="1" dirty="0"/>
              <a:t>Modifier le temps de travail</a:t>
            </a:r>
            <a:r>
              <a:rPr lang="fr-FR" dirty="0"/>
              <a:t>, cliquez sur le bouton </a:t>
            </a:r>
            <a:r>
              <a:rPr lang="fr-FR" b="1" dirty="0"/>
              <a:t>Options</a:t>
            </a:r>
            <a:r>
              <a:rPr lang="fr-FR" dirty="0"/>
              <a:t>. La boîte de dialogue Options de Project s’affiche.</a:t>
            </a:r>
          </a:p>
          <a:p>
            <a:r>
              <a:rPr lang="fr-FR" dirty="0"/>
              <a:t>Vérifiez que les informations affichées dans les champs </a:t>
            </a:r>
            <a:r>
              <a:rPr lang="fr-FR" b="1" dirty="0"/>
              <a:t>Début par défaut</a:t>
            </a:r>
            <a:r>
              <a:rPr lang="fr-FR" dirty="0"/>
              <a:t> et </a:t>
            </a:r>
            <a:r>
              <a:rPr lang="fr-FR" b="1" dirty="0"/>
              <a:t>Fin par défaut </a:t>
            </a:r>
            <a:r>
              <a:rPr lang="fr-FR" dirty="0"/>
              <a:t>correspondent bien aux heures de début et de fin d’une journée de travail modèle saisie dans le calendrier ; Si nécessaire, faites les modifications qui s’imposent et validez.</a:t>
            </a:r>
          </a:p>
          <a:p>
            <a:endParaRPr lang="fr-FR" dirty="0"/>
          </a:p>
          <a:p>
            <a:endParaRPr lang="fr-FR" dirty="0"/>
          </a:p>
          <a:p>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50</a:t>
            </a:fld>
            <a:endParaRPr lang="fr-BE"/>
          </a:p>
        </p:txBody>
      </p:sp>
    </p:spTree>
    <p:extLst>
      <p:ext uri="{BB962C8B-B14F-4D97-AF65-F5344CB8AC3E}">
        <p14:creationId xmlns:p14="http://schemas.microsoft.com/office/powerpoint/2010/main" val="20970855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a:bodyPr>
          <a:lstStyle/>
          <a:p>
            <a:pPr marL="0" indent="0">
              <a:buNone/>
            </a:pPr>
            <a:r>
              <a:rPr lang="fr-FR" b="1" dirty="0"/>
              <a:t>Affecter le nouveau calendrier Site Web INNOVATION au projet</a:t>
            </a:r>
          </a:p>
          <a:p>
            <a:pPr marL="0" indent="0">
              <a:buNone/>
            </a:pPr>
            <a:endParaRPr lang="fr-FR" dirty="0"/>
          </a:p>
          <a:p>
            <a:r>
              <a:rPr lang="fr-FR" dirty="0"/>
              <a:t>Pour l’instant, le calendrier du projet est toujours le calendrier Standard. Pour affecter le calendrier </a:t>
            </a:r>
            <a:r>
              <a:rPr lang="fr-FR" b="1" dirty="0"/>
              <a:t>Site Web INNOVATION</a:t>
            </a:r>
            <a:r>
              <a:rPr lang="fr-FR" dirty="0"/>
              <a:t> au votre projet :</a:t>
            </a:r>
          </a:p>
          <a:p>
            <a:r>
              <a:rPr lang="fr-FR" dirty="0"/>
              <a:t>Affichez l’onglet </a:t>
            </a:r>
            <a:r>
              <a:rPr lang="fr-FR" b="1" dirty="0"/>
              <a:t>Projet</a:t>
            </a:r>
            <a:r>
              <a:rPr lang="fr-FR" dirty="0"/>
              <a:t> du </a:t>
            </a:r>
            <a:r>
              <a:rPr lang="fr-FR" b="1" dirty="0"/>
              <a:t>Ruban</a:t>
            </a:r>
            <a:r>
              <a:rPr lang="fr-FR" dirty="0"/>
              <a:t> et sélectionnez l’option </a:t>
            </a:r>
            <a:r>
              <a:rPr lang="fr-FR" b="1" dirty="0"/>
              <a:t>Informations sur le projet</a:t>
            </a:r>
            <a:r>
              <a:rPr lang="fr-FR" dirty="0"/>
              <a:t> ;</a:t>
            </a:r>
          </a:p>
          <a:p>
            <a:r>
              <a:rPr lang="fr-FR" dirty="0"/>
              <a:t>Sélectionnez dans la liste déroulante </a:t>
            </a:r>
            <a:r>
              <a:rPr lang="fr-FR" b="1" dirty="0"/>
              <a:t>Calendrier</a:t>
            </a:r>
            <a:r>
              <a:rPr lang="fr-FR" dirty="0"/>
              <a:t> le calendrier </a:t>
            </a:r>
            <a:r>
              <a:rPr lang="fr-FR" b="1" dirty="0"/>
              <a:t>Site Web INNOVATION,</a:t>
            </a:r>
            <a:r>
              <a:rPr lang="fr-FR" dirty="0"/>
              <a:t> puis validez.</a:t>
            </a:r>
          </a:p>
          <a:p>
            <a:pPr marL="0" indent="0">
              <a:buNone/>
            </a:pPr>
            <a:endParaRPr lang="fr-FR" dirty="0"/>
          </a:p>
          <a:p>
            <a:endParaRPr lang="fr-FR" dirty="0"/>
          </a:p>
          <a:p>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51</a:t>
            </a:fld>
            <a:endParaRPr lang="fr-BE"/>
          </a:p>
        </p:txBody>
      </p:sp>
    </p:spTree>
    <p:extLst>
      <p:ext uri="{BB962C8B-B14F-4D97-AF65-F5344CB8AC3E}">
        <p14:creationId xmlns:p14="http://schemas.microsoft.com/office/powerpoint/2010/main" val="761632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fontScale="92500"/>
          </a:bodyPr>
          <a:lstStyle/>
          <a:p>
            <a:pPr marL="0" indent="0">
              <a:buNone/>
            </a:pPr>
            <a:r>
              <a:rPr lang="fr-FR" b="1" u="sng" dirty="0"/>
              <a:t>Exercice</a:t>
            </a:r>
            <a:r>
              <a:rPr lang="fr-FR" b="1" dirty="0"/>
              <a:t> - Semaine de travail exceptionnelle :</a:t>
            </a:r>
          </a:p>
          <a:p>
            <a:pPr marL="0" indent="0">
              <a:buNone/>
            </a:pPr>
            <a:endParaRPr lang="fr-FR" dirty="0"/>
          </a:p>
          <a:p>
            <a:r>
              <a:rPr lang="fr-FR" dirty="0"/>
              <a:t>Dans l’éventualité où le projet aurait du retard, la convention collective de l’organisation prévoie la possibilité de demander aux salariés de travailler exceptionnellement le samedi de 9h00 à 12h30. Vous allez donc créer un nouveau calendrier que vous appellerez </a:t>
            </a:r>
            <a:r>
              <a:rPr lang="fr-FR" b="1" dirty="0"/>
              <a:t>Semaine de 6 jours </a:t>
            </a:r>
            <a:r>
              <a:rPr lang="fr-FR" dirty="0"/>
              <a:t>et qui est une copie / reprend le calendrier du projet (</a:t>
            </a:r>
            <a:r>
              <a:rPr lang="fr-FR" b="1" dirty="0"/>
              <a:t>Site Web INNOVATION) mais ajoutez la matinée du samedi.</a:t>
            </a:r>
            <a:endParaRPr lang="fr-FR" dirty="0"/>
          </a:p>
          <a:p>
            <a:r>
              <a:rPr lang="fr-FR" b="1" dirty="0"/>
              <a:t>Attention : </a:t>
            </a:r>
            <a:r>
              <a:rPr lang="fr-FR" dirty="0"/>
              <a:t>Le travail du samedi devant rester une exception sur votre chantier, ne modifiez pas les </a:t>
            </a:r>
            <a:r>
              <a:rPr lang="fr-FR" b="1" dirty="0"/>
              <a:t>Options de calendrier</a:t>
            </a:r>
            <a:r>
              <a:rPr lang="fr-FR" dirty="0"/>
              <a:t> ; la semaine par défaut dans votre projet est bien toujours de 5 jours et 35 heures.</a:t>
            </a:r>
          </a:p>
          <a:p>
            <a:endParaRPr lang="fr-FR" dirty="0"/>
          </a:p>
          <a:p>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52</a:t>
            </a:fld>
            <a:endParaRPr lang="fr-BE"/>
          </a:p>
        </p:txBody>
      </p:sp>
    </p:spTree>
    <p:extLst>
      <p:ext uri="{BB962C8B-B14F-4D97-AF65-F5344CB8AC3E}">
        <p14:creationId xmlns:p14="http://schemas.microsoft.com/office/powerpoint/2010/main" val="15774092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lnSpcReduction="10000"/>
          </a:bodyPr>
          <a:lstStyle/>
          <a:p>
            <a:pPr marL="0" indent="0">
              <a:buNone/>
            </a:pPr>
            <a:r>
              <a:rPr lang="fr-FR" b="1" dirty="0">
                <a:solidFill>
                  <a:schemeClr val="accent1"/>
                </a:solidFill>
              </a:rPr>
              <a:t>B. </a:t>
            </a:r>
            <a:r>
              <a:rPr lang="fr-FR" b="1" dirty="0"/>
              <a:t>Calendriers de ressources</a:t>
            </a:r>
          </a:p>
          <a:p>
            <a:pPr marL="0" indent="0">
              <a:buNone/>
            </a:pPr>
            <a:endParaRPr lang="fr-FR" dirty="0"/>
          </a:p>
          <a:p>
            <a:r>
              <a:rPr lang="fr-FR" dirty="0"/>
              <a:t>A chaque ressource que vous avez créée dans le </a:t>
            </a:r>
            <a:r>
              <a:rPr lang="fr-FR" b="1" dirty="0"/>
              <a:t>Tableau des ressources</a:t>
            </a:r>
            <a:r>
              <a:rPr lang="fr-FR" dirty="0"/>
              <a:t>, MS Project lui a associé le calendrier du projet dans la colonne </a:t>
            </a:r>
            <a:r>
              <a:rPr lang="fr-FR" b="1" dirty="0"/>
              <a:t>Calendrier de base</a:t>
            </a:r>
            <a:r>
              <a:rPr lang="fr-FR" dirty="0"/>
              <a:t>.</a:t>
            </a:r>
          </a:p>
          <a:p>
            <a:r>
              <a:rPr lang="fr-FR" dirty="0"/>
              <a:t> Quand vous avez complété le </a:t>
            </a:r>
            <a:r>
              <a:rPr lang="fr-FR" b="1" dirty="0"/>
              <a:t>Tableau des ressources</a:t>
            </a:r>
            <a:r>
              <a:rPr lang="fr-FR" dirty="0"/>
              <a:t> il s’agissait du </a:t>
            </a:r>
            <a:r>
              <a:rPr lang="fr-FR" b="1" dirty="0"/>
              <a:t>Calendrier standard</a:t>
            </a:r>
            <a:r>
              <a:rPr lang="fr-FR" dirty="0"/>
              <a:t>. Puis vous avez créé un nouveau calendrier </a:t>
            </a:r>
            <a:r>
              <a:rPr lang="fr-FR" b="1" dirty="0"/>
              <a:t>Site Web INNOVATION</a:t>
            </a:r>
            <a:r>
              <a:rPr lang="fr-FR" dirty="0"/>
              <a:t> que vous avez ensuite défini comme calendrier par défaut. Maintenant, à chaque nouvelle ressource créée, ce nouveau calendrier sera affecté à la ressource. Pour les ressources déjà créées il va falloir apporter des modifications qui s’imposent.</a:t>
            </a:r>
          </a:p>
          <a:p>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53</a:t>
            </a:fld>
            <a:endParaRPr lang="fr-BE"/>
          </a:p>
        </p:txBody>
      </p:sp>
    </p:spTree>
    <p:extLst>
      <p:ext uri="{BB962C8B-B14F-4D97-AF65-F5344CB8AC3E}">
        <p14:creationId xmlns:p14="http://schemas.microsoft.com/office/powerpoint/2010/main" val="32591264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a:bodyPr>
          <a:lstStyle/>
          <a:p>
            <a:pPr marL="0" indent="0">
              <a:buNone/>
            </a:pPr>
            <a:r>
              <a:rPr lang="fr-FR" b="1" u="sng" dirty="0"/>
              <a:t>Exercice</a:t>
            </a:r>
            <a:r>
              <a:rPr lang="fr-FR" b="1" dirty="0"/>
              <a:t> - Mise à jour du Tableau des ressources :</a:t>
            </a:r>
            <a:endParaRPr lang="fr-FR" dirty="0"/>
          </a:p>
          <a:p>
            <a:pPr marL="0" indent="0">
              <a:buNone/>
            </a:pPr>
            <a:endParaRPr lang="fr-FR" sz="1600" dirty="0"/>
          </a:p>
          <a:p>
            <a:pPr marL="0" indent="0">
              <a:buNone/>
            </a:pPr>
            <a:r>
              <a:rPr lang="fr-FR" dirty="0"/>
              <a:t>Affectez les calendriers suivants aux ressources en tenant compte des contraintes suivantes :</a:t>
            </a:r>
          </a:p>
          <a:p>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54</a:t>
            </a:fld>
            <a:endParaRPr lang="fr-BE"/>
          </a:p>
        </p:txBody>
      </p:sp>
      <p:graphicFrame>
        <p:nvGraphicFramePr>
          <p:cNvPr id="6" name="Tableau 5"/>
          <p:cNvGraphicFramePr>
            <a:graphicFrameLocks noGrp="1"/>
          </p:cNvGraphicFramePr>
          <p:nvPr/>
        </p:nvGraphicFramePr>
        <p:xfrm>
          <a:off x="457200" y="3410712"/>
          <a:ext cx="8229600" cy="2984058"/>
        </p:xfrm>
        <a:graphic>
          <a:graphicData uri="http://schemas.openxmlformats.org/drawingml/2006/table">
            <a:tbl>
              <a:tblPr firstRow="1" firstCol="1" bandRow="1">
                <a:tableStyleId>{5C22544A-7EE6-4342-B048-85BDC9FD1C3A}</a:tableStyleId>
              </a:tblPr>
              <a:tblGrid>
                <a:gridCol w="2962672">
                  <a:extLst>
                    <a:ext uri="{9D8B030D-6E8A-4147-A177-3AD203B41FA5}">
                      <a16:colId xmlns:a16="http://schemas.microsoft.com/office/drawing/2014/main" val="20000"/>
                    </a:ext>
                  </a:extLst>
                </a:gridCol>
                <a:gridCol w="5266928">
                  <a:extLst>
                    <a:ext uri="{9D8B030D-6E8A-4147-A177-3AD203B41FA5}">
                      <a16:colId xmlns:a16="http://schemas.microsoft.com/office/drawing/2014/main" val="20001"/>
                    </a:ext>
                  </a:extLst>
                </a:gridCol>
              </a:tblGrid>
              <a:tr h="0">
                <a:tc>
                  <a:txBody>
                    <a:bodyPr/>
                    <a:lstStyle/>
                    <a:p>
                      <a:pPr>
                        <a:lnSpc>
                          <a:spcPct val="107000"/>
                        </a:lnSpc>
                        <a:spcAft>
                          <a:spcPts val="0"/>
                        </a:spcAft>
                      </a:pPr>
                      <a:r>
                        <a:rPr lang="fr-FR" sz="2000">
                          <a:effectLst/>
                        </a:rPr>
                        <a:t>Nom de la ressource</a:t>
                      </a:r>
                      <a:endParaRPr lang="fr-FR" sz="20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2000">
                          <a:effectLst/>
                        </a:rPr>
                        <a:t>Commentaires</a:t>
                      </a:r>
                      <a:endParaRPr lang="fr-FR" sz="20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extLst>
                  <a:ext uri="{0D108BD9-81ED-4DB2-BD59-A6C34878D82A}">
                    <a16:rowId xmlns:a16="http://schemas.microsoft.com/office/drawing/2014/main" val="10000"/>
                  </a:ext>
                </a:extLst>
              </a:tr>
              <a:tr h="0">
                <a:tc>
                  <a:txBody>
                    <a:bodyPr/>
                    <a:lstStyle/>
                    <a:p>
                      <a:pPr>
                        <a:lnSpc>
                          <a:spcPct val="107000"/>
                        </a:lnSpc>
                        <a:spcAft>
                          <a:spcPts val="0"/>
                        </a:spcAft>
                      </a:pPr>
                      <a:r>
                        <a:rPr lang="fr-FR" sz="2000">
                          <a:effectLst/>
                        </a:rPr>
                        <a:t>Chef de projet</a:t>
                      </a:r>
                      <a:endParaRPr lang="fr-FR" sz="20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2000">
                          <a:effectLst/>
                        </a:rPr>
                        <a:t>Calendrier du projet</a:t>
                      </a:r>
                      <a:endParaRPr lang="fr-FR" sz="20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extLst>
                  <a:ext uri="{0D108BD9-81ED-4DB2-BD59-A6C34878D82A}">
                    <a16:rowId xmlns:a16="http://schemas.microsoft.com/office/drawing/2014/main" val="10001"/>
                  </a:ext>
                </a:extLst>
              </a:tr>
              <a:tr h="0">
                <a:tc>
                  <a:txBody>
                    <a:bodyPr/>
                    <a:lstStyle/>
                    <a:p>
                      <a:pPr>
                        <a:lnSpc>
                          <a:spcPct val="107000"/>
                        </a:lnSpc>
                        <a:spcAft>
                          <a:spcPts val="0"/>
                        </a:spcAft>
                      </a:pPr>
                      <a:r>
                        <a:rPr lang="fr-FR" sz="2000">
                          <a:effectLst/>
                        </a:rPr>
                        <a:t>Architecte</a:t>
                      </a:r>
                      <a:endParaRPr lang="fr-FR" sz="20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2000">
                          <a:effectLst/>
                        </a:rPr>
                        <a:t>Les architectes vont devoir participer à un autre projet en cours d’année. Il a donc été décidé de les faire travailler 6 jours par semaine</a:t>
                      </a:r>
                      <a:endParaRPr lang="fr-FR" sz="20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extLst>
                  <a:ext uri="{0D108BD9-81ED-4DB2-BD59-A6C34878D82A}">
                    <a16:rowId xmlns:a16="http://schemas.microsoft.com/office/drawing/2014/main" val="10002"/>
                  </a:ext>
                </a:extLst>
              </a:tr>
              <a:tr h="0">
                <a:tc>
                  <a:txBody>
                    <a:bodyPr/>
                    <a:lstStyle/>
                    <a:p>
                      <a:pPr>
                        <a:lnSpc>
                          <a:spcPct val="107000"/>
                        </a:lnSpc>
                        <a:spcAft>
                          <a:spcPts val="0"/>
                        </a:spcAft>
                      </a:pPr>
                      <a:r>
                        <a:rPr lang="fr-FR" sz="2000">
                          <a:effectLst/>
                        </a:rPr>
                        <a:t>Maquettiste</a:t>
                      </a:r>
                      <a:endParaRPr lang="fr-FR" sz="20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2000">
                          <a:effectLst/>
                        </a:rPr>
                        <a:t>Calendrier du projet</a:t>
                      </a:r>
                      <a:endParaRPr lang="fr-FR" sz="20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extLst>
                  <a:ext uri="{0D108BD9-81ED-4DB2-BD59-A6C34878D82A}">
                    <a16:rowId xmlns:a16="http://schemas.microsoft.com/office/drawing/2014/main" val="10003"/>
                  </a:ext>
                </a:extLst>
              </a:tr>
              <a:tr h="0">
                <a:tc>
                  <a:txBody>
                    <a:bodyPr/>
                    <a:lstStyle/>
                    <a:p>
                      <a:pPr>
                        <a:lnSpc>
                          <a:spcPct val="107000"/>
                        </a:lnSpc>
                        <a:spcAft>
                          <a:spcPts val="0"/>
                        </a:spcAft>
                      </a:pPr>
                      <a:r>
                        <a:rPr lang="fr-FR" sz="2000">
                          <a:effectLst/>
                        </a:rPr>
                        <a:t>Développeur</a:t>
                      </a:r>
                      <a:endParaRPr lang="fr-FR" sz="20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tc>
                  <a:txBody>
                    <a:bodyPr/>
                    <a:lstStyle/>
                    <a:p>
                      <a:pPr>
                        <a:lnSpc>
                          <a:spcPct val="107000"/>
                        </a:lnSpc>
                        <a:spcAft>
                          <a:spcPts val="0"/>
                        </a:spcAft>
                      </a:pPr>
                      <a:r>
                        <a:rPr lang="fr-FR" sz="2000" dirty="0">
                          <a:effectLst/>
                        </a:rPr>
                        <a:t>Calendrier du projet</a:t>
                      </a:r>
                      <a:endParaRPr lang="fr-FR"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901366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a:bodyPr>
          <a:lstStyle/>
          <a:p>
            <a:pPr marL="0" indent="0">
              <a:buNone/>
            </a:pPr>
            <a:r>
              <a:rPr lang="fr-FR" b="1" dirty="0"/>
              <a:t>La modification du calendrier pour une ressource</a:t>
            </a:r>
          </a:p>
          <a:p>
            <a:pPr marL="0" indent="0">
              <a:buNone/>
            </a:pPr>
            <a:endParaRPr lang="fr-FR" dirty="0"/>
          </a:p>
          <a:p>
            <a:r>
              <a:rPr lang="fr-FR" dirty="0"/>
              <a:t>Vous apprenez que du 10 au 16 février </a:t>
            </a:r>
            <a:r>
              <a:rPr lang="fr-FR" dirty="0">
                <a:solidFill>
                  <a:srgbClr val="FF0000"/>
                </a:solidFill>
              </a:rPr>
              <a:t>2026</a:t>
            </a:r>
            <a:r>
              <a:rPr lang="fr-FR" dirty="0"/>
              <a:t>, vous (Chef de projet) allez vous absenter pour un congé. Dans votre calendrier personnel, il convient de créer des jours de repos supplémentaires.</a:t>
            </a:r>
          </a:p>
          <a:p>
            <a:r>
              <a:rPr lang="fr-FR" dirty="0"/>
              <a:t>Dans le </a:t>
            </a:r>
            <a:r>
              <a:rPr lang="fr-FR" b="1" dirty="0"/>
              <a:t>Tableau des ressources</a:t>
            </a:r>
            <a:r>
              <a:rPr lang="fr-FR" dirty="0"/>
              <a:t>, sélectionnez la ressource à modifier : </a:t>
            </a:r>
            <a:r>
              <a:rPr lang="fr-FR" b="1" dirty="0"/>
              <a:t>Chef de projet</a:t>
            </a:r>
            <a:r>
              <a:rPr lang="fr-FR" dirty="0"/>
              <a:t> ;</a:t>
            </a:r>
          </a:p>
          <a:p>
            <a:r>
              <a:rPr lang="fr-FR" dirty="0"/>
              <a:t>Affichez l’onglet </a:t>
            </a:r>
            <a:r>
              <a:rPr lang="fr-FR" b="1" dirty="0"/>
              <a:t>Ressource</a:t>
            </a:r>
            <a:r>
              <a:rPr lang="fr-FR" dirty="0"/>
              <a:t> et cliquez sur </a:t>
            </a:r>
            <a:r>
              <a:rPr lang="fr-FR" b="1" dirty="0"/>
              <a:t>Informations</a:t>
            </a:r>
            <a:r>
              <a:rPr lang="fr-FR" dirty="0"/>
              <a:t> pour ouvrir la boîte de dialogue </a:t>
            </a:r>
            <a:r>
              <a:rPr lang="fr-FR" b="1" dirty="0"/>
              <a:t>Informations sur la ressource</a:t>
            </a:r>
            <a:r>
              <a:rPr lang="fr-FR" dirty="0"/>
              <a:t> ;</a:t>
            </a:r>
          </a:p>
          <a:p>
            <a:r>
              <a:rPr lang="fr-FR" dirty="0"/>
              <a:t>Cliquez sur le bouton </a:t>
            </a:r>
            <a:r>
              <a:rPr lang="fr-FR" b="1" dirty="0"/>
              <a:t>Modifier le temps de travail</a:t>
            </a:r>
            <a:r>
              <a:rPr lang="fr-FR" dirty="0"/>
              <a:t>.</a:t>
            </a:r>
          </a:p>
          <a:p>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55</a:t>
            </a:fld>
            <a:endParaRPr lang="fr-BE"/>
          </a:p>
        </p:txBody>
      </p:sp>
    </p:spTree>
    <p:extLst>
      <p:ext uri="{BB962C8B-B14F-4D97-AF65-F5344CB8AC3E}">
        <p14:creationId xmlns:p14="http://schemas.microsoft.com/office/powerpoint/2010/main" val="29811637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2. Gestion des calendriers	</a:t>
            </a:r>
          </a:p>
        </p:txBody>
      </p:sp>
      <p:sp>
        <p:nvSpPr>
          <p:cNvPr id="3" name="Espace réservé du contenu 2"/>
          <p:cNvSpPr>
            <a:spLocks noGrp="1"/>
          </p:cNvSpPr>
          <p:nvPr>
            <p:ph idx="1"/>
          </p:nvPr>
        </p:nvSpPr>
        <p:spPr/>
        <p:txBody>
          <a:bodyPr>
            <a:normAutofit fontScale="85000" lnSpcReduction="10000"/>
          </a:bodyPr>
          <a:lstStyle/>
          <a:p>
            <a:pPr marL="0" indent="0">
              <a:buNone/>
            </a:pPr>
            <a:r>
              <a:rPr lang="fr-FR" b="1" u="sng" dirty="0"/>
              <a:t>Exercice</a:t>
            </a:r>
            <a:r>
              <a:rPr lang="fr-FR" b="1" dirty="0"/>
              <a:t> - Modifier calendrier pour une ressource (chef de projet) :</a:t>
            </a:r>
            <a:endParaRPr lang="fr-FR" dirty="0"/>
          </a:p>
          <a:p>
            <a:pPr marL="0" indent="0">
              <a:buNone/>
            </a:pPr>
            <a:endParaRPr lang="fr-FR" sz="1600" dirty="0"/>
          </a:p>
          <a:p>
            <a:pPr marL="0" indent="0">
              <a:buNone/>
            </a:pPr>
            <a:r>
              <a:rPr lang="fr-FR" dirty="0"/>
              <a:t>Sélectionnez la période du 10 au 16 février </a:t>
            </a:r>
            <a:r>
              <a:rPr lang="fr-FR" dirty="0">
                <a:solidFill>
                  <a:srgbClr val="FF0000"/>
                </a:solidFill>
              </a:rPr>
              <a:t>2026</a:t>
            </a:r>
            <a:r>
              <a:rPr lang="fr-FR" dirty="0"/>
              <a:t> et définissez-la comme une période chômée, en la nommant « Congés hiver </a:t>
            </a:r>
            <a:r>
              <a:rPr lang="fr-FR" dirty="0">
                <a:solidFill>
                  <a:srgbClr val="FF0000"/>
                </a:solidFill>
              </a:rPr>
              <a:t>2026</a:t>
            </a:r>
            <a:r>
              <a:rPr lang="fr-FR" dirty="0"/>
              <a:t> ». </a:t>
            </a:r>
            <a:r>
              <a:rPr lang="fr-FR" b="1" dirty="0"/>
              <a:t>Pour rappel</a:t>
            </a:r>
            <a:r>
              <a:rPr lang="fr-FR" dirty="0"/>
              <a:t> : créez une exception et dans le détail définissez qu’il s’agit d’un jour chômé.</a:t>
            </a:r>
          </a:p>
          <a:p>
            <a:pPr marL="0" indent="0">
              <a:buNone/>
            </a:pPr>
            <a:endParaRPr lang="fr-FR" dirty="0"/>
          </a:p>
          <a:p>
            <a:pPr marL="0" indent="0">
              <a:buNone/>
            </a:pPr>
            <a:r>
              <a:rPr lang="fr-FR" b="1" dirty="0"/>
              <a:t>Nota bene </a:t>
            </a:r>
            <a:r>
              <a:rPr lang="fr-FR" dirty="0"/>
              <a:t>: Les jours de repos que vous avez créés dans le calendrier de base se retrouvent dans le calendrier de la ressource. Tous les jours chômés qui étaient des exceptions dans le calendrier du projet sont devenus la règle dans le calendrier de la ressource </a:t>
            </a:r>
            <a:r>
              <a:rPr lang="fr-FR" b="1" dirty="0"/>
              <a:t>Chef de projet</a:t>
            </a:r>
            <a:r>
              <a:rPr lang="fr-FR" dirty="0"/>
              <a:t>. Ces jours apparaissent dans la grille des calendriers mais pas dans la liste des exceptions. Il n’est donc pas nécessaire de ressaisir tous les jours fériés de l’année dans les calendriers de toutes les ressources. De cette manière, vous pourrez indiquez les jours de repos, les vacances personnelles de chaque ressource.</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56</a:t>
            </a:fld>
            <a:endParaRPr lang="fr-BE"/>
          </a:p>
        </p:txBody>
      </p:sp>
    </p:spTree>
    <p:extLst>
      <p:ext uri="{BB962C8B-B14F-4D97-AF65-F5344CB8AC3E}">
        <p14:creationId xmlns:p14="http://schemas.microsoft.com/office/powerpoint/2010/main" val="8181189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611560" y="1371600"/>
            <a:ext cx="8206680" cy="1927225"/>
          </a:xfrm>
        </p:spPr>
        <p:txBody>
          <a:bodyPr/>
          <a:lstStyle/>
          <a:p>
            <a:pPr algn="r"/>
            <a:r>
              <a:rPr lang="fr-FR" dirty="0"/>
              <a:t>3. Ordonnancement du projet</a:t>
            </a:r>
          </a:p>
        </p:txBody>
      </p:sp>
      <p:sp>
        <p:nvSpPr>
          <p:cNvPr id="2" name="Espace réservé du numéro de diapositive 1"/>
          <p:cNvSpPr>
            <a:spLocks noGrp="1"/>
          </p:cNvSpPr>
          <p:nvPr>
            <p:ph type="sldNum" sz="quarter" idx="12"/>
          </p:nvPr>
        </p:nvSpPr>
        <p:spPr/>
        <p:txBody>
          <a:bodyPr/>
          <a:lstStyle/>
          <a:p>
            <a:fld id="{CF4668DC-857F-487D-BFFA-8C0CA5037977}" type="slidenum">
              <a:rPr lang="fr-BE" smtClean="0"/>
              <a:pPr/>
              <a:t>57</a:t>
            </a:fld>
            <a:endParaRPr lang="fr-BE"/>
          </a:p>
        </p:txBody>
      </p:sp>
      <p:sp>
        <p:nvSpPr>
          <p:cNvPr id="3" name="Rectangle 2"/>
          <p:cNvSpPr/>
          <p:nvPr/>
        </p:nvSpPr>
        <p:spPr>
          <a:xfrm>
            <a:off x="611560" y="3676622"/>
            <a:ext cx="8075240" cy="830997"/>
          </a:xfrm>
          <a:prstGeom prst="rect">
            <a:avLst/>
          </a:prstGeom>
        </p:spPr>
        <p:txBody>
          <a:bodyPr wrap="square">
            <a:spAutoFit/>
          </a:bodyPr>
          <a:lstStyle/>
          <a:p>
            <a:pPr algn="just"/>
            <a:r>
              <a:rPr lang="fr-FR" sz="2400" dirty="0">
                <a:solidFill>
                  <a:srgbClr val="C00000"/>
                </a:solidFill>
                <a:latin typeface="Arial" panose="020B0604020202020204" pitchFamily="34" charset="0"/>
              </a:rPr>
              <a:t>Indiquer dans quel ordre chronologique les tâches du projet doivent être exécutées.</a:t>
            </a:r>
            <a:endParaRPr lang="fr-FR" sz="2400" dirty="0">
              <a:solidFill>
                <a:srgbClr val="C00000"/>
              </a:solidFill>
            </a:endParaRPr>
          </a:p>
        </p:txBody>
      </p:sp>
    </p:spTree>
    <p:extLst>
      <p:ext uri="{BB962C8B-B14F-4D97-AF65-F5344CB8AC3E}">
        <p14:creationId xmlns:p14="http://schemas.microsoft.com/office/powerpoint/2010/main" val="30881697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F4668DC-857F-487D-BFFA-8C0CA5037977}" type="slidenum">
              <a:rPr lang="fr-BE" smtClean="0"/>
              <a:pPr/>
              <a:t>58</a:t>
            </a:fld>
            <a:endParaRPr lang="fr-BE"/>
          </a:p>
        </p:txBody>
      </p:sp>
      <p:graphicFrame>
        <p:nvGraphicFramePr>
          <p:cNvPr id="7" name="Tableau 6"/>
          <p:cNvGraphicFramePr>
            <a:graphicFrameLocks noGrp="1"/>
          </p:cNvGraphicFramePr>
          <p:nvPr/>
        </p:nvGraphicFramePr>
        <p:xfrm>
          <a:off x="1115616" y="-27384"/>
          <a:ext cx="7632848" cy="6903548"/>
        </p:xfrm>
        <a:graphic>
          <a:graphicData uri="http://schemas.openxmlformats.org/drawingml/2006/table">
            <a:tbl>
              <a:tblPr firstRow="1" firstCol="1" bandRow="1">
                <a:tableStyleId>{BC89EF96-8CEA-46FF-86C4-4CE0E7609802}</a:tableStyleId>
              </a:tblPr>
              <a:tblGrid>
                <a:gridCol w="662473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tblGrid>
              <a:tr h="154890">
                <a:tc>
                  <a:txBody>
                    <a:bodyPr/>
                    <a:lstStyle/>
                    <a:p>
                      <a:pPr>
                        <a:lnSpc>
                          <a:spcPct val="107000"/>
                        </a:lnSpc>
                        <a:spcAft>
                          <a:spcPts val="0"/>
                        </a:spcAft>
                      </a:pPr>
                      <a:r>
                        <a:rPr lang="fr-FR" sz="1600" dirty="0">
                          <a:solidFill>
                            <a:schemeClr val="bg1"/>
                          </a:solidFill>
                          <a:effectLst/>
                        </a:rPr>
                        <a:t>Nom de la tâche</a:t>
                      </a:r>
                      <a:endParaRPr lang="fr-FR"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solidFill>
                            <a:schemeClr val="bg1"/>
                          </a:solidFill>
                          <a:effectLst/>
                        </a:rPr>
                        <a:t>Durée</a:t>
                      </a:r>
                      <a:endParaRPr lang="fr-FR"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0"/>
                  </a:ext>
                </a:extLst>
              </a:tr>
              <a:tr h="257529">
                <a:tc>
                  <a:txBody>
                    <a:bodyPr/>
                    <a:lstStyle/>
                    <a:p>
                      <a:pPr>
                        <a:lnSpc>
                          <a:spcPct val="107000"/>
                        </a:lnSpc>
                        <a:spcAft>
                          <a:spcPts val="0"/>
                        </a:spcAft>
                      </a:pPr>
                      <a:r>
                        <a:rPr lang="fr-FR" sz="1600">
                          <a:effectLst/>
                        </a:rPr>
                        <a:t>Lancement du projet</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effectLst/>
                        </a:rPr>
                        <a:t>0</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1"/>
                  </a:ext>
                </a:extLst>
              </a:tr>
              <a:tr h="257529">
                <a:tc>
                  <a:txBody>
                    <a:bodyPr/>
                    <a:lstStyle/>
                    <a:p>
                      <a:pPr>
                        <a:lnSpc>
                          <a:spcPct val="107000"/>
                        </a:lnSpc>
                        <a:spcAft>
                          <a:spcPts val="0"/>
                        </a:spcAft>
                      </a:pPr>
                      <a:r>
                        <a:rPr lang="fr-FR" sz="1600">
                          <a:effectLst/>
                        </a:rPr>
                        <a:t>Conception / Maquettage</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30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2"/>
                  </a:ext>
                </a:extLst>
              </a:tr>
              <a:tr h="257529">
                <a:tc>
                  <a:txBody>
                    <a:bodyPr/>
                    <a:lstStyle/>
                    <a:p>
                      <a:pPr>
                        <a:lnSpc>
                          <a:spcPct val="107000"/>
                        </a:lnSpc>
                        <a:spcAft>
                          <a:spcPts val="0"/>
                        </a:spcAft>
                      </a:pPr>
                      <a:r>
                        <a:rPr lang="fr-FR" sz="1600">
                          <a:effectLst/>
                        </a:rPr>
                        <a:t>Documentation</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20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3"/>
                  </a:ext>
                </a:extLst>
              </a:tr>
              <a:tr h="257529">
                <a:tc>
                  <a:txBody>
                    <a:bodyPr/>
                    <a:lstStyle/>
                    <a:p>
                      <a:pPr>
                        <a:lnSpc>
                          <a:spcPct val="107000"/>
                        </a:lnSpc>
                        <a:spcAft>
                          <a:spcPts val="0"/>
                        </a:spcAft>
                      </a:pPr>
                      <a:r>
                        <a:rPr lang="fr-FR" sz="1600">
                          <a:effectLst/>
                        </a:rPr>
                        <a:t>Validation des charges</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10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4"/>
                  </a:ext>
                </a:extLst>
              </a:tr>
              <a:tr h="257529">
                <a:tc>
                  <a:txBody>
                    <a:bodyPr/>
                    <a:lstStyle/>
                    <a:p>
                      <a:pPr>
                        <a:lnSpc>
                          <a:spcPct val="107000"/>
                        </a:lnSpc>
                        <a:spcAft>
                          <a:spcPts val="0"/>
                        </a:spcAft>
                      </a:pPr>
                      <a:r>
                        <a:rPr lang="fr-FR" sz="1600">
                          <a:effectLst/>
                        </a:rPr>
                        <a:t>Validation de la solution</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5"/>
                  </a:ext>
                </a:extLst>
              </a:tr>
              <a:tr h="257529">
                <a:tc>
                  <a:txBody>
                    <a:bodyPr/>
                    <a:lstStyle/>
                    <a:p>
                      <a:pPr>
                        <a:lnSpc>
                          <a:spcPct val="107000"/>
                        </a:lnSpc>
                        <a:spcAft>
                          <a:spcPts val="0"/>
                        </a:spcAft>
                      </a:pPr>
                      <a:r>
                        <a:rPr lang="fr-FR" sz="1600">
                          <a:effectLst/>
                        </a:rPr>
                        <a:t>Conception de l’architecture technique</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70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6"/>
                  </a:ext>
                </a:extLst>
              </a:tr>
              <a:tr h="257529">
                <a:tc>
                  <a:txBody>
                    <a:bodyPr/>
                    <a:lstStyle/>
                    <a:p>
                      <a:pPr>
                        <a:lnSpc>
                          <a:spcPct val="107000"/>
                        </a:lnSpc>
                        <a:spcAft>
                          <a:spcPts val="0"/>
                        </a:spcAft>
                      </a:pPr>
                      <a:r>
                        <a:rPr lang="fr-FR" sz="1600" dirty="0">
                          <a:effectLst/>
                        </a:rPr>
                        <a:t>Conception des écrans</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20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7"/>
                  </a:ext>
                </a:extLst>
              </a:tr>
              <a:tr h="257529">
                <a:tc>
                  <a:txBody>
                    <a:bodyPr/>
                    <a:lstStyle/>
                    <a:p>
                      <a:pPr>
                        <a:lnSpc>
                          <a:spcPct val="107000"/>
                        </a:lnSpc>
                        <a:spcAft>
                          <a:spcPts val="0"/>
                        </a:spcAft>
                      </a:pPr>
                      <a:r>
                        <a:rPr lang="fr-FR" sz="1600">
                          <a:effectLst/>
                        </a:rPr>
                        <a:t>Conception des Contrôles</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10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8"/>
                  </a:ext>
                </a:extLst>
              </a:tr>
              <a:tr h="257529">
                <a:tc>
                  <a:txBody>
                    <a:bodyPr/>
                    <a:lstStyle/>
                    <a:p>
                      <a:pPr>
                        <a:lnSpc>
                          <a:spcPct val="107000"/>
                        </a:lnSpc>
                        <a:spcAft>
                          <a:spcPts val="0"/>
                        </a:spcAft>
                      </a:pPr>
                      <a:r>
                        <a:rPr lang="fr-FR" sz="1600">
                          <a:effectLst/>
                        </a:rPr>
                        <a:t>Conception Sécurité</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20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09"/>
                  </a:ext>
                </a:extLst>
              </a:tr>
              <a:tr h="418044">
                <a:tc>
                  <a:txBody>
                    <a:bodyPr/>
                    <a:lstStyle/>
                    <a:p>
                      <a:pPr>
                        <a:lnSpc>
                          <a:spcPct val="107000"/>
                        </a:lnSpc>
                        <a:spcAft>
                          <a:spcPts val="0"/>
                        </a:spcAft>
                      </a:pPr>
                      <a:r>
                        <a:rPr lang="fr-FR" sz="1600">
                          <a:effectLst/>
                        </a:rPr>
                        <a:t>Simulations de la conception (Tests techniques)</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40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0"/>
                  </a:ext>
                </a:extLst>
              </a:tr>
              <a:tr h="257529">
                <a:tc>
                  <a:txBody>
                    <a:bodyPr/>
                    <a:lstStyle/>
                    <a:p>
                      <a:pPr>
                        <a:lnSpc>
                          <a:spcPct val="107000"/>
                        </a:lnSpc>
                        <a:spcAft>
                          <a:spcPts val="0"/>
                        </a:spcAft>
                      </a:pPr>
                      <a:r>
                        <a:rPr lang="fr-FR" sz="1600">
                          <a:effectLst/>
                        </a:rPr>
                        <a:t>Développement des écrans</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10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1"/>
                  </a:ext>
                </a:extLst>
              </a:tr>
              <a:tr h="257529">
                <a:tc>
                  <a:txBody>
                    <a:bodyPr/>
                    <a:lstStyle/>
                    <a:p>
                      <a:pPr>
                        <a:lnSpc>
                          <a:spcPct val="107000"/>
                        </a:lnSpc>
                        <a:spcAft>
                          <a:spcPts val="0"/>
                        </a:spcAft>
                      </a:pPr>
                      <a:r>
                        <a:rPr lang="fr-FR" sz="1600">
                          <a:effectLst/>
                        </a:rPr>
                        <a:t>Développement des contrôles</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10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2"/>
                  </a:ext>
                </a:extLst>
              </a:tr>
              <a:tr h="257529">
                <a:tc>
                  <a:txBody>
                    <a:bodyPr/>
                    <a:lstStyle/>
                    <a:p>
                      <a:pPr>
                        <a:lnSpc>
                          <a:spcPct val="107000"/>
                        </a:lnSpc>
                        <a:spcAft>
                          <a:spcPts val="0"/>
                        </a:spcAft>
                      </a:pPr>
                      <a:r>
                        <a:rPr lang="fr-FR" sz="1600">
                          <a:effectLst/>
                        </a:rPr>
                        <a:t>Développement sécurité</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10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3"/>
                  </a:ext>
                </a:extLst>
              </a:tr>
              <a:tr h="418044">
                <a:tc>
                  <a:txBody>
                    <a:bodyPr/>
                    <a:lstStyle/>
                    <a:p>
                      <a:pPr>
                        <a:lnSpc>
                          <a:spcPct val="107000"/>
                        </a:lnSpc>
                        <a:spcAft>
                          <a:spcPts val="0"/>
                        </a:spcAft>
                      </a:pPr>
                      <a:r>
                        <a:rPr lang="fr-FR" sz="1600">
                          <a:effectLst/>
                        </a:rPr>
                        <a:t>Simulations des développements (Tests techniques)</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30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4"/>
                  </a:ext>
                </a:extLst>
              </a:tr>
              <a:tr h="257529">
                <a:tc>
                  <a:txBody>
                    <a:bodyPr/>
                    <a:lstStyle/>
                    <a:p>
                      <a:pPr>
                        <a:lnSpc>
                          <a:spcPct val="107000"/>
                        </a:lnSpc>
                        <a:spcAft>
                          <a:spcPts val="0"/>
                        </a:spcAft>
                      </a:pPr>
                      <a:r>
                        <a:rPr lang="fr-FR" sz="1600">
                          <a:effectLst/>
                        </a:rPr>
                        <a:t>Recette fonctionnelle</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20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5"/>
                  </a:ext>
                </a:extLst>
              </a:tr>
              <a:tr h="257529">
                <a:tc>
                  <a:txBody>
                    <a:bodyPr/>
                    <a:lstStyle/>
                    <a:p>
                      <a:pPr>
                        <a:lnSpc>
                          <a:spcPct val="107000"/>
                        </a:lnSpc>
                        <a:spcAft>
                          <a:spcPts val="0"/>
                        </a:spcAft>
                      </a:pPr>
                      <a:r>
                        <a:rPr lang="fr-FR" sz="1600">
                          <a:effectLst/>
                        </a:rPr>
                        <a:t>Livraison</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6"/>
                  </a:ext>
                </a:extLst>
              </a:tr>
              <a:tr h="257529">
                <a:tc>
                  <a:txBody>
                    <a:bodyPr/>
                    <a:lstStyle/>
                    <a:p>
                      <a:pPr>
                        <a:lnSpc>
                          <a:spcPct val="107000"/>
                        </a:lnSpc>
                        <a:spcAft>
                          <a:spcPts val="0"/>
                        </a:spcAft>
                      </a:pPr>
                      <a:r>
                        <a:rPr lang="fr-FR" sz="1600">
                          <a:effectLst/>
                        </a:rPr>
                        <a:t>Formation utilisateurs</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10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7"/>
                  </a:ext>
                </a:extLst>
              </a:tr>
              <a:tr h="257529">
                <a:tc>
                  <a:txBody>
                    <a:bodyPr/>
                    <a:lstStyle/>
                    <a:p>
                      <a:pPr>
                        <a:lnSpc>
                          <a:spcPct val="107000"/>
                        </a:lnSpc>
                        <a:spcAft>
                          <a:spcPts val="0"/>
                        </a:spcAft>
                      </a:pPr>
                      <a:r>
                        <a:rPr lang="fr-FR" sz="1600">
                          <a:effectLst/>
                        </a:rPr>
                        <a:t>Déploiement</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10</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8"/>
                  </a:ext>
                </a:extLst>
              </a:tr>
              <a:tr h="257529">
                <a:tc>
                  <a:txBody>
                    <a:bodyPr/>
                    <a:lstStyle/>
                    <a:p>
                      <a:pPr>
                        <a:lnSpc>
                          <a:spcPct val="107000"/>
                        </a:lnSpc>
                        <a:spcAft>
                          <a:spcPts val="0"/>
                        </a:spcAft>
                      </a:pPr>
                      <a:r>
                        <a:rPr lang="fr-FR" sz="1600" dirty="0">
                          <a:effectLst/>
                        </a:rPr>
                        <a:t>Pilotage</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a:effectLst/>
                        </a:rPr>
                        <a:t>25</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19"/>
                  </a:ext>
                </a:extLst>
              </a:tr>
              <a:tr h="257529">
                <a:tc>
                  <a:txBody>
                    <a:bodyPr/>
                    <a:lstStyle/>
                    <a:p>
                      <a:pPr>
                        <a:lnSpc>
                          <a:spcPct val="107000"/>
                        </a:lnSpc>
                        <a:spcAft>
                          <a:spcPts val="0"/>
                        </a:spcAft>
                      </a:pPr>
                      <a:r>
                        <a:rPr lang="fr-FR" sz="1600">
                          <a:effectLst/>
                        </a:rPr>
                        <a:t>Fin du projet</a:t>
                      </a:r>
                      <a:endParaRPr lang="fr-FR" sz="160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tc>
                  <a:txBody>
                    <a:bodyPr/>
                    <a:lstStyle/>
                    <a:p>
                      <a:pPr>
                        <a:lnSpc>
                          <a:spcPct val="107000"/>
                        </a:lnSpc>
                        <a:spcAft>
                          <a:spcPts val="0"/>
                        </a:spcAft>
                      </a:pPr>
                      <a:r>
                        <a:rPr lang="fr-FR" sz="1600" dirty="0">
                          <a:effectLst/>
                        </a:rPr>
                        <a:t>0</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9689" marR="59689" marT="35813" marB="35813"/>
                </a:tc>
                <a:extLst>
                  <a:ext uri="{0D108BD9-81ED-4DB2-BD59-A6C34878D82A}">
                    <a16:rowId xmlns:a16="http://schemas.microsoft.com/office/drawing/2014/main" val="10020"/>
                  </a:ext>
                </a:extLst>
              </a:tr>
            </a:tbl>
          </a:graphicData>
        </a:graphic>
      </p:graphicFrame>
      <p:sp>
        <p:nvSpPr>
          <p:cNvPr id="5" name="Rectangle 4"/>
          <p:cNvSpPr/>
          <p:nvPr/>
        </p:nvSpPr>
        <p:spPr>
          <a:xfrm rot="16200000">
            <a:off x="-2520787" y="3320988"/>
            <a:ext cx="6120680" cy="576064"/>
          </a:xfrm>
          <a:prstGeom prst="rect">
            <a:avLst/>
          </a:prstGeom>
          <a:solidFill>
            <a:schemeClr val="tx2"/>
          </a:solidFill>
          <a:ln>
            <a:solidFill>
              <a:schemeClr val="tx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1400" b="1" u="sng" dirty="0"/>
              <a:t>Astuce</a:t>
            </a:r>
            <a:r>
              <a:rPr lang="fr-FR" sz="1400" b="1" dirty="0"/>
              <a:t> : copier-coller les données dans Excel d’abord</a:t>
            </a:r>
          </a:p>
        </p:txBody>
      </p:sp>
    </p:spTree>
    <p:extLst>
      <p:ext uri="{BB962C8B-B14F-4D97-AF65-F5344CB8AC3E}">
        <p14:creationId xmlns:p14="http://schemas.microsoft.com/office/powerpoint/2010/main" val="8491137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p:txBody>
          <a:bodyPr>
            <a:normAutofit fontScale="85000" lnSpcReduction="10000"/>
          </a:bodyPr>
          <a:lstStyle/>
          <a:p>
            <a:pPr marL="457200" indent="-457200" algn="just">
              <a:buAutoNum type="alphaUcPeriod"/>
            </a:pPr>
            <a:r>
              <a:rPr lang="fr-FR" b="1" dirty="0">
                <a:solidFill>
                  <a:schemeClr val="accent1"/>
                </a:solidFill>
              </a:rPr>
              <a:t>Saisir la durée des tâches</a:t>
            </a:r>
          </a:p>
          <a:p>
            <a:pPr marL="0" indent="0" algn="just">
              <a:buNone/>
            </a:pPr>
            <a:endParaRPr lang="fr-FR" b="1" dirty="0"/>
          </a:p>
          <a:p>
            <a:pPr algn="just"/>
            <a:r>
              <a:rPr lang="fr-FR" dirty="0"/>
              <a:t>A partir des données indiquées </a:t>
            </a:r>
            <a:r>
              <a:rPr lang="fr-FR" u="sng" dirty="0"/>
              <a:t>dans le tableau de la liste des tâches</a:t>
            </a:r>
            <a:r>
              <a:rPr lang="fr-FR" dirty="0"/>
              <a:t>, saisir la durée de chaque tâche directement dans la colonne </a:t>
            </a:r>
            <a:r>
              <a:rPr lang="fr-FR" b="1" dirty="0"/>
              <a:t>Durée.</a:t>
            </a:r>
          </a:p>
          <a:p>
            <a:pPr marL="0" indent="0" algn="just">
              <a:buNone/>
            </a:pPr>
            <a:endParaRPr lang="fr-FR" b="1" dirty="0"/>
          </a:p>
          <a:p>
            <a:pPr marL="0" indent="0" algn="just">
              <a:buNone/>
            </a:pPr>
            <a:r>
              <a:rPr lang="fr-FR" b="1" dirty="0"/>
              <a:t>Durée en jours ouvrés</a:t>
            </a:r>
          </a:p>
          <a:p>
            <a:pPr marL="0" indent="0" algn="just">
              <a:buNone/>
            </a:pPr>
            <a:endParaRPr lang="fr-FR" b="1" dirty="0"/>
          </a:p>
          <a:p>
            <a:pPr algn="just"/>
            <a:r>
              <a:rPr lang="fr-FR" dirty="0"/>
              <a:t>Dans MS Project, le calendrier du projet permet de distinguer les jours de travail et les jours de repos du projet. En sachant que les tâches se déroulent normalement pendant les périodes de travail du projet, on exprime la durée de la quasi-totalité des tâches en durée ouvrée.</a:t>
            </a:r>
          </a:p>
          <a:p>
            <a:pPr marL="0" indent="0" algn="just">
              <a:buNone/>
            </a:pPr>
            <a:endParaRPr lang="fr-FR" dirty="0"/>
          </a:p>
          <a:p>
            <a:pPr marL="0" indent="0" algn="just">
              <a:buNone/>
            </a:pPr>
            <a:r>
              <a:rPr lang="fr-FR" b="1" i="1" dirty="0"/>
              <a:t>Observez et comparez les données des colonnes Durée / Date début / Date de fin </a:t>
            </a:r>
            <a:r>
              <a:rPr lang="fr-FR" b="1" i="1" dirty="0">
                <a:sym typeface="Wingdings" panose="05000000000000000000" pitchFamily="2" charset="2"/>
              </a:rPr>
              <a:t> Jours ouvrés</a:t>
            </a:r>
            <a:endParaRPr lang="fr-FR" b="1" i="1"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59</a:t>
            </a:fld>
            <a:endParaRPr lang="fr-BE"/>
          </a:p>
        </p:txBody>
      </p:sp>
    </p:spTree>
    <p:extLst>
      <p:ext uri="{BB962C8B-B14F-4D97-AF65-F5344CB8AC3E}">
        <p14:creationId xmlns:p14="http://schemas.microsoft.com/office/powerpoint/2010/main" val="799326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p:txBody>
          <a:bodyPr>
            <a:normAutofit fontScale="85000" lnSpcReduction="10000"/>
          </a:bodyPr>
          <a:lstStyle/>
          <a:p>
            <a:pPr marL="0" indent="0" algn="just">
              <a:buNone/>
            </a:pPr>
            <a:r>
              <a:rPr lang="fr-FR" b="1" dirty="0"/>
              <a:t>Les jalons</a:t>
            </a:r>
          </a:p>
          <a:p>
            <a:pPr marL="0" indent="0" algn="just">
              <a:buNone/>
            </a:pPr>
            <a:endParaRPr lang="fr-FR" dirty="0"/>
          </a:p>
          <a:p>
            <a:pPr algn="just"/>
            <a:r>
              <a:rPr lang="fr-FR" dirty="0"/>
              <a:t>Les jalons sont des événements qui marquent la progression du projet d’un lot (ou phase) à l’autre. Ils peuvent représenter la </a:t>
            </a:r>
            <a:r>
              <a:rPr lang="fr-FR" b="1" dirty="0"/>
              <a:t>fin</a:t>
            </a:r>
            <a:r>
              <a:rPr lang="fr-FR" dirty="0"/>
              <a:t> d’un lot du projet ou du projet lui-même.</a:t>
            </a:r>
          </a:p>
          <a:p>
            <a:pPr marL="0" indent="0" algn="just">
              <a:buNone/>
            </a:pPr>
            <a:r>
              <a:rPr lang="fr-FR" dirty="0"/>
              <a:t>Les activités qui ont une durée de 0 jour correspondent à des jalons.</a:t>
            </a:r>
          </a:p>
          <a:p>
            <a:pPr marL="0" indent="0" algn="just">
              <a:buNone/>
            </a:pPr>
            <a:endParaRPr lang="fr-FR" dirty="0"/>
          </a:p>
          <a:p>
            <a:pPr algn="just"/>
            <a:r>
              <a:rPr lang="fr-FR" i="1" dirty="0"/>
              <a:t>Exemples de jalons dans les tâches du projet « Site web INNOVATION » : </a:t>
            </a:r>
          </a:p>
          <a:p>
            <a:pPr algn="just">
              <a:buFontTx/>
              <a:buChar char="-"/>
            </a:pPr>
            <a:r>
              <a:rPr lang="fr-FR" i="1" dirty="0"/>
              <a:t>La tâche </a:t>
            </a:r>
            <a:r>
              <a:rPr lang="fr-FR" b="1" i="1" dirty="0"/>
              <a:t>Validation de la solution</a:t>
            </a:r>
            <a:r>
              <a:rPr lang="fr-FR" i="1" dirty="0"/>
              <a:t> = marque la fin d’un lot</a:t>
            </a:r>
          </a:p>
          <a:p>
            <a:pPr algn="just">
              <a:buFontTx/>
              <a:buChar char="-"/>
            </a:pPr>
            <a:r>
              <a:rPr lang="fr-FR" i="1" dirty="0"/>
              <a:t>La tâche </a:t>
            </a:r>
            <a:r>
              <a:rPr lang="fr-FR" b="1" i="1" dirty="0"/>
              <a:t>Lancement du projet </a:t>
            </a:r>
            <a:r>
              <a:rPr lang="fr-FR" i="1" dirty="0"/>
              <a:t>= marque le </a:t>
            </a:r>
            <a:r>
              <a:rPr lang="fr-FR" b="1" i="1" dirty="0"/>
              <a:t>début</a:t>
            </a:r>
            <a:r>
              <a:rPr lang="fr-FR" i="1" dirty="0"/>
              <a:t> d’un lot du projet</a:t>
            </a:r>
          </a:p>
          <a:p>
            <a:pPr algn="just">
              <a:buFontTx/>
              <a:buChar char="-"/>
            </a:pPr>
            <a:endParaRPr lang="fr-FR" i="1" dirty="0"/>
          </a:p>
          <a:p>
            <a:pPr algn="just"/>
            <a:r>
              <a:rPr lang="fr-FR" dirty="0"/>
              <a:t>Sur le diagramme GANTT, les jalons sont faciles à identifier et significatifs. MS Project les représente différemment des autres tâches, sous la </a:t>
            </a:r>
            <a:r>
              <a:rPr lang="fr-FR" b="1" dirty="0"/>
              <a:t>forme d’un losange noir.</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60</a:t>
            </a:fld>
            <a:endParaRPr lang="fr-BE"/>
          </a:p>
        </p:txBody>
      </p:sp>
    </p:spTree>
    <p:extLst>
      <p:ext uri="{BB962C8B-B14F-4D97-AF65-F5344CB8AC3E}">
        <p14:creationId xmlns:p14="http://schemas.microsoft.com/office/powerpoint/2010/main" val="14551187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p:txBody>
          <a:bodyPr>
            <a:normAutofit fontScale="92500"/>
          </a:bodyPr>
          <a:lstStyle/>
          <a:p>
            <a:pPr marL="0" indent="0" algn="just">
              <a:buNone/>
            </a:pPr>
            <a:r>
              <a:rPr lang="en-US" b="1" dirty="0">
                <a:solidFill>
                  <a:schemeClr val="accent1"/>
                </a:solidFill>
              </a:rPr>
              <a:t>B. La "Work Breakdown Structure" (WBS)</a:t>
            </a:r>
          </a:p>
          <a:p>
            <a:pPr marL="0" indent="0" algn="just">
              <a:buNone/>
            </a:pPr>
            <a:endParaRPr lang="fr-FR" b="1" dirty="0"/>
          </a:p>
          <a:p>
            <a:pPr algn="just"/>
            <a:r>
              <a:rPr lang="fr-FR" dirty="0"/>
              <a:t>Un projet est composé de tâches, organisées en phases ou en lots. Chaque lot peut être divisé en d’autres lots pour donner une structure arborescente. </a:t>
            </a:r>
          </a:p>
          <a:p>
            <a:pPr marL="0" indent="0" algn="just">
              <a:buNone/>
            </a:pPr>
            <a:endParaRPr lang="fr-FR" dirty="0"/>
          </a:p>
          <a:p>
            <a:pPr algn="just"/>
            <a:r>
              <a:rPr lang="fr-FR" dirty="0"/>
              <a:t>C’est ce qu’on appelle la “</a:t>
            </a:r>
            <a:r>
              <a:rPr lang="fr-FR" b="1" dirty="0" err="1"/>
              <a:t>Work</a:t>
            </a:r>
            <a:r>
              <a:rPr lang="fr-FR" b="1" dirty="0"/>
              <a:t> Breakdown Structure</a:t>
            </a:r>
            <a:r>
              <a:rPr lang="fr-FR" dirty="0"/>
              <a:t>”. Dans MS Project, cela s’appelle  </a:t>
            </a:r>
            <a:r>
              <a:rPr lang="fr-FR" b="1" dirty="0"/>
              <a:t>“Mode Plan</a:t>
            </a:r>
            <a:r>
              <a:rPr lang="fr-FR" dirty="0"/>
              <a:t>”.</a:t>
            </a:r>
          </a:p>
          <a:p>
            <a:pPr marL="0" indent="0" algn="just">
              <a:buNone/>
            </a:pPr>
            <a:endParaRPr lang="fr-FR" dirty="0"/>
          </a:p>
          <a:p>
            <a:pPr algn="just"/>
            <a:r>
              <a:rPr lang="fr-FR" b="1" dirty="0"/>
              <a:t>Tâches subordonnées </a:t>
            </a:r>
            <a:r>
              <a:rPr lang="fr-FR" dirty="0"/>
              <a:t>=</a:t>
            </a:r>
            <a:r>
              <a:rPr lang="fr-FR" b="1" dirty="0"/>
              <a:t> </a:t>
            </a:r>
            <a:r>
              <a:rPr lang="fr-FR" dirty="0"/>
              <a:t>Les activités de niveau le plus bas</a:t>
            </a:r>
          </a:p>
          <a:p>
            <a:pPr algn="just"/>
            <a:r>
              <a:rPr lang="fr-FR" b="1" dirty="0"/>
              <a:t>Tâches récapitulatives </a:t>
            </a:r>
            <a:r>
              <a:rPr lang="fr-FR" dirty="0"/>
              <a:t>=</a:t>
            </a:r>
            <a:r>
              <a:rPr lang="fr-FR" b="1" dirty="0"/>
              <a:t> </a:t>
            </a:r>
            <a:r>
              <a:rPr lang="fr-FR" dirty="0"/>
              <a:t>Les activités de niveau supérieur</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61</a:t>
            </a:fld>
            <a:endParaRPr lang="fr-BE"/>
          </a:p>
        </p:txBody>
      </p:sp>
    </p:spTree>
    <p:extLst>
      <p:ext uri="{BB962C8B-B14F-4D97-AF65-F5344CB8AC3E}">
        <p14:creationId xmlns:p14="http://schemas.microsoft.com/office/powerpoint/2010/main" val="38885570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548680"/>
            <a:ext cx="8229600" cy="4876800"/>
          </a:xfrm>
        </p:spPr>
        <p:txBody>
          <a:bodyPr>
            <a:normAutofit/>
          </a:bodyPr>
          <a:lstStyle/>
          <a:p>
            <a:pPr marL="0" indent="0" algn="just">
              <a:buNone/>
            </a:pPr>
            <a:r>
              <a:rPr lang="fr-FR" sz="2000" b="1" u="sng" dirty="0"/>
              <a:t>Exercice</a:t>
            </a:r>
            <a:r>
              <a:rPr lang="fr-FR" sz="2000" b="1" dirty="0"/>
              <a:t> : Créez des tâches récapitulatives pour regrouper certaines tâches du projet, qui deviendront donc des tâches subordonnées. </a:t>
            </a:r>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62</a:t>
            </a:fld>
            <a:endParaRPr lang="fr-BE"/>
          </a:p>
        </p:txBody>
      </p:sp>
      <p:graphicFrame>
        <p:nvGraphicFramePr>
          <p:cNvPr id="7" name="Tableau 6"/>
          <p:cNvGraphicFramePr>
            <a:graphicFrameLocks noGrp="1"/>
          </p:cNvGraphicFramePr>
          <p:nvPr/>
        </p:nvGraphicFramePr>
        <p:xfrm>
          <a:off x="457200" y="1700808"/>
          <a:ext cx="8229600" cy="4968240"/>
        </p:xfrm>
        <a:graphic>
          <a:graphicData uri="http://schemas.openxmlformats.org/drawingml/2006/table">
            <a:tbl>
              <a:tblPr>
                <a:tableStyleId>{69CF1AB2-1976-4502-BF36-3FF5EA218861}</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algn="l" fontAlgn="t"/>
                      <a:r>
                        <a:rPr lang="fr-FR" sz="2000" b="1" dirty="0">
                          <a:solidFill>
                            <a:schemeClr val="bg1"/>
                          </a:solidFill>
                          <a:effectLst/>
                        </a:rPr>
                        <a:t>Tâches récapitulatives</a:t>
                      </a:r>
                    </a:p>
                  </a:txBody>
                  <a:tcPr>
                    <a:solidFill>
                      <a:schemeClr val="accent1"/>
                    </a:solidFill>
                  </a:tcPr>
                </a:tc>
                <a:tc>
                  <a:txBody>
                    <a:bodyPr/>
                    <a:lstStyle/>
                    <a:p>
                      <a:pPr algn="l" fontAlgn="t"/>
                      <a:r>
                        <a:rPr lang="fr-FR" sz="2000" b="1" dirty="0">
                          <a:solidFill>
                            <a:schemeClr val="bg1"/>
                          </a:solidFill>
                          <a:effectLst/>
                        </a:rPr>
                        <a:t>Tâches subordonnées</a:t>
                      </a:r>
                    </a:p>
                  </a:txBody>
                  <a:tcPr>
                    <a:solidFill>
                      <a:schemeClr val="accent1"/>
                    </a:solidFill>
                  </a:tcPr>
                </a:tc>
                <a:extLst>
                  <a:ext uri="{0D108BD9-81ED-4DB2-BD59-A6C34878D82A}">
                    <a16:rowId xmlns:a16="http://schemas.microsoft.com/office/drawing/2014/main" val="10000"/>
                  </a:ext>
                </a:extLst>
              </a:tr>
              <a:tr h="0">
                <a:tc rowSpan="2">
                  <a:txBody>
                    <a:bodyPr/>
                    <a:lstStyle/>
                    <a:p>
                      <a:pPr fontAlgn="t"/>
                      <a:r>
                        <a:rPr lang="fr-FR" sz="2000">
                          <a:effectLst/>
                        </a:rPr>
                        <a:t>Conception / Maquettage</a:t>
                      </a:r>
                    </a:p>
                  </a:txBody>
                  <a:tcPr/>
                </a:tc>
                <a:tc>
                  <a:txBody>
                    <a:bodyPr/>
                    <a:lstStyle/>
                    <a:p>
                      <a:pPr fontAlgn="t"/>
                      <a:r>
                        <a:rPr lang="fr-FR" sz="2000">
                          <a:effectLst/>
                        </a:rPr>
                        <a:t>Conception / Maquettage</a:t>
                      </a:r>
                    </a:p>
                  </a:txBody>
                  <a:tcPr/>
                </a:tc>
                <a:extLst>
                  <a:ext uri="{0D108BD9-81ED-4DB2-BD59-A6C34878D82A}">
                    <a16:rowId xmlns:a16="http://schemas.microsoft.com/office/drawing/2014/main" val="10001"/>
                  </a:ext>
                </a:extLst>
              </a:tr>
              <a:tr h="0">
                <a:tc vMerge="1">
                  <a:txBody>
                    <a:bodyPr/>
                    <a:lstStyle/>
                    <a:p>
                      <a:endParaRPr lang="fr-FR"/>
                    </a:p>
                  </a:txBody>
                  <a:tcPr/>
                </a:tc>
                <a:tc>
                  <a:txBody>
                    <a:bodyPr/>
                    <a:lstStyle/>
                    <a:p>
                      <a:pPr fontAlgn="t"/>
                      <a:r>
                        <a:rPr lang="fr-FR" sz="2000">
                          <a:effectLst/>
                        </a:rPr>
                        <a:t>Documentation</a:t>
                      </a:r>
                    </a:p>
                  </a:txBody>
                  <a:tcPr/>
                </a:tc>
                <a:extLst>
                  <a:ext uri="{0D108BD9-81ED-4DB2-BD59-A6C34878D82A}">
                    <a16:rowId xmlns:a16="http://schemas.microsoft.com/office/drawing/2014/main" val="10002"/>
                  </a:ext>
                </a:extLst>
              </a:tr>
              <a:tr h="0">
                <a:tc rowSpan="4">
                  <a:txBody>
                    <a:bodyPr/>
                    <a:lstStyle/>
                    <a:p>
                      <a:pPr fontAlgn="t"/>
                      <a:r>
                        <a:rPr lang="fr-FR" sz="2000" dirty="0">
                          <a:effectLst/>
                        </a:rPr>
                        <a:t>Conception des développements</a:t>
                      </a:r>
                    </a:p>
                  </a:txBody>
                  <a:tcPr/>
                </a:tc>
                <a:tc>
                  <a:txBody>
                    <a:bodyPr/>
                    <a:lstStyle/>
                    <a:p>
                      <a:pPr fontAlgn="t"/>
                      <a:r>
                        <a:rPr lang="fr-FR" sz="2000" dirty="0">
                          <a:effectLst/>
                        </a:rPr>
                        <a:t>Conception des écrans</a:t>
                      </a:r>
                    </a:p>
                  </a:txBody>
                  <a:tcPr/>
                </a:tc>
                <a:extLst>
                  <a:ext uri="{0D108BD9-81ED-4DB2-BD59-A6C34878D82A}">
                    <a16:rowId xmlns:a16="http://schemas.microsoft.com/office/drawing/2014/main" val="10003"/>
                  </a:ext>
                </a:extLst>
              </a:tr>
              <a:tr h="0">
                <a:tc vMerge="1">
                  <a:txBody>
                    <a:bodyPr/>
                    <a:lstStyle/>
                    <a:p>
                      <a:endParaRPr lang="fr-FR"/>
                    </a:p>
                  </a:txBody>
                  <a:tcPr/>
                </a:tc>
                <a:tc>
                  <a:txBody>
                    <a:bodyPr/>
                    <a:lstStyle/>
                    <a:p>
                      <a:pPr fontAlgn="t"/>
                      <a:r>
                        <a:rPr lang="fr-FR" sz="2000" dirty="0">
                          <a:effectLst/>
                        </a:rPr>
                        <a:t>Conception des Contrôles</a:t>
                      </a:r>
                    </a:p>
                  </a:txBody>
                  <a:tcPr/>
                </a:tc>
                <a:extLst>
                  <a:ext uri="{0D108BD9-81ED-4DB2-BD59-A6C34878D82A}">
                    <a16:rowId xmlns:a16="http://schemas.microsoft.com/office/drawing/2014/main" val="10004"/>
                  </a:ext>
                </a:extLst>
              </a:tr>
              <a:tr h="0">
                <a:tc vMerge="1">
                  <a:txBody>
                    <a:bodyPr/>
                    <a:lstStyle/>
                    <a:p>
                      <a:endParaRPr lang="fr-FR"/>
                    </a:p>
                  </a:txBody>
                  <a:tcPr/>
                </a:tc>
                <a:tc>
                  <a:txBody>
                    <a:bodyPr/>
                    <a:lstStyle/>
                    <a:p>
                      <a:pPr fontAlgn="t"/>
                      <a:r>
                        <a:rPr lang="fr-FR" sz="2000" dirty="0">
                          <a:effectLst/>
                        </a:rPr>
                        <a:t>Conception Sécurité</a:t>
                      </a:r>
                    </a:p>
                  </a:txBody>
                  <a:tcPr/>
                </a:tc>
                <a:extLst>
                  <a:ext uri="{0D108BD9-81ED-4DB2-BD59-A6C34878D82A}">
                    <a16:rowId xmlns:a16="http://schemas.microsoft.com/office/drawing/2014/main" val="10005"/>
                  </a:ext>
                </a:extLst>
              </a:tr>
              <a:tr h="0">
                <a:tc vMerge="1">
                  <a:txBody>
                    <a:bodyPr/>
                    <a:lstStyle/>
                    <a:p>
                      <a:endParaRPr lang="fr-FR"/>
                    </a:p>
                  </a:txBody>
                  <a:tcPr/>
                </a:tc>
                <a:tc>
                  <a:txBody>
                    <a:bodyPr/>
                    <a:lstStyle/>
                    <a:p>
                      <a:pPr fontAlgn="t"/>
                      <a:r>
                        <a:rPr lang="fr-FR" sz="2000" dirty="0">
                          <a:effectLst/>
                        </a:rPr>
                        <a:t>Simulations de la conception (Tests techniques)</a:t>
                      </a:r>
                    </a:p>
                  </a:txBody>
                  <a:tcPr/>
                </a:tc>
                <a:extLst>
                  <a:ext uri="{0D108BD9-81ED-4DB2-BD59-A6C34878D82A}">
                    <a16:rowId xmlns:a16="http://schemas.microsoft.com/office/drawing/2014/main" val="10006"/>
                  </a:ext>
                </a:extLst>
              </a:tr>
              <a:tr h="0">
                <a:tc rowSpan="4">
                  <a:txBody>
                    <a:bodyPr/>
                    <a:lstStyle/>
                    <a:p>
                      <a:pPr fontAlgn="t"/>
                      <a:r>
                        <a:rPr lang="fr-FR" sz="2000" dirty="0">
                          <a:effectLst/>
                        </a:rPr>
                        <a:t>Réalisation des développements</a:t>
                      </a:r>
                    </a:p>
                  </a:txBody>
                  <a:tcPr/>
                </a:tc>
                <a:tc>
                  <a:txBody>
                    <a:bodyPr/>
                    <a:lstStyle/>
                    <a:p>
                      <a:pPr fontAlgn="t"/>
                      <a:r>
                        <a:rPr lang="fr-FR" sz="2000" dirty="0">
                          <a:effectLst/>
                        </a:rPr>
                        <a:t>Développement des écrans</a:t>
                      </a:r>
                    </a:p>
                  </a:txBody>
                  <a:tcPr/>
                </a:tc>
                <a:extLst>
                  <a:ext uri="{0D108BD9-81ED-4DB2-BD59-A6C34878D82A}">
                    <a16:rowId xmlns:a16="http://schemas.microsoft.com/office/drawing/2014/main" val="10007"/>
                  </a:ext>
                </a:extLst>
              </a:tr>
              <a:tr h="0">
                <a:tc vMerge="1">
                  <a:txBody>
                    <a:bodyPr/>
                    <a:lstStyle/>
                    <a:p>
                      <a:endParaRPr lang="fr-FR"/>
                    </a:p>
                  </a:txBody>
                  <a:tcPr/>
                </a:tc>
                <a:tc>
                  <a:txBody>
                    <a:bodyPr/>
                    <a:lstStyle/>
                    <a:p>
                      <a:pPr fontAlgn="t"/>
                      <a:r>
                        <a:rPr lang="fr-FR" sz="2000" dirty="0">
                          <a:effectLst/>
                        </a:rPr>
                        <a:t>Développement des Contrôles</a:t>
                      </a:r>
                    </a:p>
                  </a:txBody>
                  <a:tcPr/>
                </a:tc>
                <a:extLst>
                  <a:ext uri="{0D108BD9-81ED-4DB2-BD59-A6C34878D82A}">
                    <a16:rowId xmlns:a16="http://schemas.microsoft.com/office/drawing/2014/main" val="10008"/>
                  </a:ext>
                </a:extLst>
              </a:tr>
              <a:tr h="0">
                <a:tc vMerge="1">
                  <a:txBody>
                    <a:bodyPr/>
                    <a:lstStyle/>
                    <a:p>
                      <a:endParaRPr lang="fr-FR"/>
                    </a:p>
                  </a:txBody>
                  <a:tcPr/>
                </a:tc>
                <a:tc>
                  <a:txBody>
                    <a:bodyPr/>
                    <a:lstStyle/>
                    <a:p>
                      <a:pPr fontAlgn="t"/>
                      <a:r>
                        <a:rPr lang="fr-FR" sz="2000" dirty="0">
                          <a:effectLst/>
                        </a:rPr>
                        <a:t>Développement Sécurité</a:t>
                      </a:r>
                    </a:p>
                  </a:txBody>
                  <a:tcPr/>
                </a:tc>
                <a:extLst>
                  <a:ext uri="{0D108BD9-81ED-4DB2-BD59-A6C34878D82A}">
                    <a16:rowId xmlns:a16="http://schemas.microsoft.com/office/drawing/2014/main" val="10009"/>
                  </a:ext>
                </a:extLst>
              </a:tr>
              <a:tr h="0">
                <a:tc vMerge="1">
                  <a:txBody>
                    <a:bodyPr/>
                    <a:lstStyle/>
                    <a:p>
                      <a:endParaRPr lang="fr-FR"/>
                    </a:p>
                  </a:txBody>
                  <a:tcPr/>
                </a:tc>
                <a:tc>
                  <a:txBody>
                    <a:bodyPr/>
                    <a:lstStyle/>
                    <a:p>
                      <a:pPr fontAlgn="t"/>
                      <a:r>
                        <a:rPr lang="fr-FR" sz="2000" dirty="0">
                          <a:effectLst/>
                        </a:rPr>
                        <a:t>Simulations des développements (Tests techniques)</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1184182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764704"/>
            <a:ext cx="8229600" cy="4876800"/>
          </a:xfrm>
        </p:spPr>
        <p:txBody>
          <a:bodyPr>
            <a:normAutofit/>
          </a:bodyPr>
          <a:lstStyle/>
          <a:p>
            <a:pPr marL="0" indent="0" algn="just">
              <a:buNone/>
            </a:pPr>
            <a:r>
              <a:rPr lang="fr-FR" b="1" dirty="0"/>
              <a:t>Pour gagner en lisibilité dans MS Project, renommez certaines tâches de la manière suivante :</a:t>
            </a:r>
          </a:p>
          <a:p>
            <a:pPr marL="0" indent="0" algn="just">
              <a:buNone/>
            </a:pPr>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63</a:t>
            </a:fld>
            <a:endParaRPr lang="fr-BE"/>
          </a:p>
        </p:txBody>
      </p:sp>
      <p:graphicFrame>
        <p:nvGraphicFramePr>
          <p:cNvPr id="6" name="Tableau 5"/>
          <p:cNvGraphicFramePr>
            <a:graphicFrameLocks noGrp="1"/>
          </p:cNvGraphicFramePr>
          <p:nvPr/>
        </p:nvGraphicFramePr>
        <p:xfrm>
          <a:off x="457200" y="2000634"/>
          <a:ext cx="8229600" cy="3626993"/>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41249">
                <a:tc>
                  <a:txBody>
                    <a:bodyPr/>
                    <a:lstStyle/>
                    <a:p>
                      <a:pPr algn="l" fontAlgn="b"/>
                      <a:r>
                        <a:rPr lang="fr-FR" sz="2000" b="1" u="none" strike="noStrike" dirty="0">
                          <a:solidFill>
                            <a:schemeClr val="bg1"/>
                          </a:solidFill>
                          <a:effectLst/>
                        </a:rPr>
                        <a:t>Tâches à renommer</a:t>
                      </a:r>
                      <a:endParaRPr lang="fr-FR" sz="20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r>
                        <a:rPr lang="fr-FR" sz="2000" b="1" u="none" strike="noStrike" dirty="0">
                          <a:solidFill>
                            <a:schemeClr val="bg1"/>
                          </a:solidFill>
                          <a:effectLst/>
                        </a:rPr>
                        <a:t>Nouveau nom</a:t>
                      </a:r>
                      <a:endParaRPr lang="fr-FR" sz="20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extLst>
                  <a:ext uri="{0D108BD9-81ED-4DB2-BD59-A6C34878D82A}">
                    <a16:rowId xmlns:a16="http://schemas.microsoft.com/office/drawing/2014/main" val="10000"/>
                  </a:ext>
                </a:extLst>
              </a:tr>
              <a:tr h="341249">
                <a:tc>
                  <a:txBody>
                    <a:bodyPr/>
                    <a:lstStyle/>
                    <a:p>
                      <a:pPr algn="l" fontAlgn="b"/>
                      <a:r>
                        <a:rPr lang="fr-FR" sz="2000" u="none" strike="noStrike">
                          <a:effectLst/>
                        </a:rPr>
                        <a:t>Conception des écrans</a:t>
                      </a:r>
                      <a:endParaRPr lang="fr-FR"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fr-FR" sz="2000" u="none" strike="noStrike">
                          <a:effectLst/>
                        </a:rPr>
                        <a:t>Ecran</a:t>
                      </a:r>
                      <a:endParaRPr lang="fr-FR"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341249">
                <a:tc>
                  <a:txBody>
                    <a:bodyPr/>
                    <a:lstStyle/>
                    <a:p>
                      <a:pPr algn="l" fontAlgn="b"/>
                      <a:r>
                        <a:rPr lang="fr-FR" sz="2000" u="none" strike="noStrike">
                          <a:effectLst/>
                        </a:rPr>
                        <a:t>Conception des Contrôles</a:t>
                      </a:r>
                      <a:endParaRPr lang="fr-FR"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fr-FR" sz="2000" u="none" strike="noStrike">
                          <a:effectLst/>
                        </a:rPr>
                        <a:t>Contrôle</a:t>
                      </a:r>
                      <a:endParaRPr lang="fr-FR"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341249">
                <a:tc>
                  <a:txBody>
                    <a:bodyPr/>
                    <a:lstStyle/>
                    <a:p>
                      <a:pPr algn="l" fontAlgn="b"/>
                      <a:r>
                        <a:rPr lang="fr-FR" sz="2000" u="none" strike="noStrike">
                          <a:effectLst/>
                        </a:rPr>
                        <a:t>Conception Sécurité</a:t>
                      </a:r>
                      <a:endParaRPr lang="fr-FR"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fr-FR" sz="2000" u="none" strike="noStrike">
                          <a:effectLst/>
                        </a:rPr>
                        <a:t>Sécurité</a:t>
                      </a:r>
                      <a:endParaRPr lang="fr-FR"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617660">
                <a:tc>
                  <a:txBody>
                    <a:bodyPr/>
                    <a:lstStyle/>
                    <a:p>
                      <a:pPr algn="l" fontAlgn="b"/>
                      <a:r>
                        <a:rPr lang="fr-FR" sz="2000" u="none" strike="noStrike">
                          <a:effectLst/>
                        </a:rPr>
                        <a:t>Simulations de la conception (Tests techniques)</a:t>
                      </a:r>
                      <a:endParaRPr lang="fr-FR"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fr-FR" sz="2000" u="none" strike="noStrike">
                          <a:effectLst/>
                        </a:rPr>
                        <a:t>Simulations (Tests techniques)</a:t>
                      </a:r>
                      <a:endParaRPr lang="fr-FR"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341249">
                <a:tc>
                  <a:txBody>
                    <a:bodyPr/>
                    <a:lstStyle/>
                    <a:p>
                      <a:pPr algn="l" fontAlgn="b"/>
                      <a:r>
                        <a:rPr lang="fr-FR" sz="2000" u="none" strike="noStrike">
                          <a:effectLst/>
                        </a:rPr>
                        <a:t>Développement des écrans</a:t>
                      </a:r>
                      <a:endParaRPr lang="fr-FR"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fr-FR" sz="2000" u="none" strike="noStrike" dirty="0">
                          <a:effectLst/>
                        </a:rPr>
                        <a:t>Ecran</a:t>
                      </a:r>
                      <a:endParaRPr lang="fr-FR"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341249">
                <a:tc>
                  <a:txBody>
                    <a:bodyPr/>
                    <a:lstStyle/>
                    <a:p>
                      <a:pPr algn="l" fontAlgn="b"/>
                      <a:r>
                        <a:rPr lang="fr-FR" sz="2000" u="none" strike="noStrike">
                          <a:effectLst/>
                        </a:rPr>
                        <a:t>Développement des Contrôles</a:t>
                      </a:r>
                      <a:endParaRPr lang="fr-FR"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fr-FR" sz="2000" u="none" strike="noStrike" dirty="0">
                          <a:effectLst/>
                        </a:rPr>
                        <a:t>Contrôle</a:t>
                      </a:r>
                      <a:endParaRPr lang="fr-FR"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341249">
                <a:tc>
                  <a:txBody>
                    <a:bodyPr/>
                    <a:lstStyle/>
                    <a:p>
                      <a:pPr algn="l" fontAlgn="b"/>
                      <a:r>
                        <a:rPr lang="fr-FR" sz="2000" u="none" strike="noStrike">
                          <a:effectLst/>
                        </a:rPr>
                        <a:t>Développement Sécurité</a:t>
                      </a:r>
                      <a:endParaRPr lang="fr-FR"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fr-FR" sz="2000" u="none" strike="noStrike" dirty="0">
                          <a:effectLst/>
                        </a:rPr>
                        <a:t>Sécurité</a:t>
                      </a:r>
                      <a:endParaRPr lang="fr-FR"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617660">
                <a:tc>
                  <a:txBody>
                    <a:bodyPr/>
                    <a:lstStyle/>
                    <a:p>
                      <a:pPr algn="l" fontAlgn="b"/>
                      <a:r>
                        <a:rPr lang="fr-FR" sz="2000" u="none" strike="noStrike" dirty="0">
                          <a:effectLst/>
                        </a:rPr>
                        <a:t>Simulations des développements (Tests techniques)</a:t>
                      </a:r>
                      <a:endParaRPr lang="fr-FR"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fr-FR" sz="2000" u="none" strike="noStrike" dirty="0">
                          <a:effectLst/>
                        </a:rPr>
                        <a:t>Simulations (Tests techniques)</a:t>
                      </a:r>
                      <a:endParaRPr lang="fr-FR"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207001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6679" y="1703107"/>
            <a:ext cx="8229600" cy="4876800"/>
          </a:xfrm>
        </p:spPr>
        <p:txBody>
          <a:bodyPr>
            <a:normAutofit/>
          </a:bodyPr>
          <a:lstStyle/>
          <a:p>
            <a:pPr marL="0" indent="0">
              <a:buNone/>
            </a:pPr>
            <a:r>
              <a:rPr lang="fr-FR" b="1" dirty="0"/>
              <a:t>Création de la WBS</a:t>
            </a:r>
          </a:p>
          <a:p>
            <a:pPr marL="0" indent="0">
              <a:buNone/>
            </a:pPr>
            <a:endParaRPr lang="fr-FR" b="1" dirty="0"/>
          </a:p>
          <a:p>
            <a:r>
              <a:rPr lang="fr-FR" b="1" dirty="0"/>
              <a:t>Insérer une tâche récapitulative :</a:t>
            </a:r>
          </a:p>
          <a:p>
            <a:pPr marL="0" indent="0">
              <a:buNone/>
            </a:pPr>
            <a:r>
              <a:rPr lang="fr-FR" sz="1200" b="1" dirty="0">
                <a:solidFill>
                  <a:schemeClr val="accent1"/>
                </a:solidFill>
              </a:rPr>
              <a:t> </a:t>
            </a:r>
            <a:endParaRPr lang="fr-FR" sz="800" b="1" dirty="0">
              <a:solidFill>
                <a:schemeClr val="accent1"/>
              </a:solidFill>
            </a:endParaRPr>
          </a:p>
          <a:p>
            <a:pPr lvl="1"/>
            <a:r>
              <a:rPr lang="fr-FR" dirty="0"/>
              <a:t>Cliquez sur la tâche </a:t>
            </a:r>
            <a:r>
              <a:rPr lang="fr-FR" b="1" dirty="0"/>
              <a:t>Ecran</a:t>
            </a:r>
            <a:r>
              <a:rPr lang="fr-FR" dirty="0"/>
              <a:t> (la 1</a:t>
            </a:r>
            <a:r>
              <a:rPr lang="fr-FR" baseline="30000" dirty="0"/>
              <a:t>ère</a:t>
            </a:r>
            <a:r>
              <a:rPr lang="fr-FR" dirty="0"/>
              <a:t> citée) et tapez sur la touche </a:t>
            </a:r>
            <a:r>
              <a:rPr lang="fr-FR" b="1" dirty="0"/>
              <a:t>[</a:t>
            </a:r>
            <a:r>
              <a:rPr lang="fr-FR" b="1" dirty="0" err="1"/>
              <a:t>Inser</a:t>
            </a:r>
            <a:r>
              <a:rPr lang="fr-FR" b="1" dirty="0"/>
              <a:t>] </a:t>
            </a:r>
            <a:r>
              <a:rPr lang="fr-FR" dirty="0"/>
              <a:t>du clavier pour insérer une nouvelle tâche normale, que vous nommerez </a:t>
            </a:r>
            <a:r>
              <a:rPr lang="fr-FR" b="1" dirty="0"/>
              <a:t>Conception des développements.</a:t>
            </a:r>
          </a:p>
          <a:p>
            <a:pPr lvl="1"/>
            <a:r>
              <a:rPr lang="fr-FR" dirty="0"/>
              <a:t>Sélectionnez de nouveau la tâche Ecran</a:t>
            </a:r>
          </a:p>
          <a:p>
            <a:pPr lvl="1"/>
            <a:r>
              <a:rPr lang="fr-FR" dirty="0"/>
              <a:t>Puis, dans la zone Planifier de l’onglet </a:t>
            </a:r>
            <a:r>
              <a:rPr lang="fr-FR" b="1" dirty="0"/>
              <a:t>Tâche</a:t>
            </a:r>
            <a:r>
              <a:rPr lang="fr-FR" dirty="0"/>
              <a:t>, cliquez sur l’icône </a:t>
            </a:r>
            <a:r>
              <a:rPr lang="fr-FR" b="1" dirty="0"/>
              <a:t>Abaisser la tâche.</a:t>
            </a:r>
          </a:p>
          <a:p>
            <a:pPr lvl="1"/>
            <a:r>
              <a:rPr lang="fr-FR" dirty="0"/>
              <a:t>Procédez de la même manière pour créer les autres Tâches subordonnées et les autres tâches récapitulatives.</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64</a:t>
            </a:fld>
            <a:endParaRPr lang="fr-BE"/>
          </a:p>
        </p:txBody>
      </p:sp>
      <p:sp>
        <p:nvSpPr>
          <p:cNvPr id="6" name="Titre 1"/>
          <p:cNvSpPr>
            <a:spLocks noGrp="1"/>
          </p:cNvSpPr>
          <p:nvPr>
            <p:ph type="title"/>
          </p:nvPr>
        </p:nvSpPr>
        <p:spPr>
          <a:xfrm>
            <a:off x="457200" y="533400"/>
            <a:ext cx="8229600" cy="990600"/>
          </a:xfrm>
        </p:spPr>
        <p:txBody>
          <a:bodyPr>
            <a:normAutofit/>
          </a:bodyPr>
          <a:lstStyle/>
          <a:p>
            <a:r>
              <a:rPr lang="fr-FR" dirty="0"/>
              <a:t>3. Ordonnancement du projet</a:t>
            </a:r>
          </a:p>
        </p:txBody>
      </p:sp>
    </p:spTree>
    <p:extLst>
      <p:ext uri="{BB962C8B-B14F-4D97-AF65-F5344CB8AC3E}">
        <p14:creationId xmlns:p14="http://schemas.microsoft.com/office/powerpoint/2010/main" val="32445333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p:txBody>
          <a:bodyPr>
            <a:normAutofit/>
          </a:bodyPr>
          <a:lstStyle/>
          <a:p>
            <a:pPr marL="0" indent="0" algn="just">
              <a:buNone/>
            </a:pPr>
            <a:r>
              <a:rPr lang="fr-FR" b="1" dirty="0"/>
              <a:t>Nota bene</a:t>
            </a:r>
            <a:r>
              <a:rPr lang="fr-FR" dirty="0"/>
              <a:t> : </a:t>
            </a:r>
          </a:p>
          <a:p>
            <a:pPr marL="0" indent="0" algn="just">
              <a:buNone/>
            </a:pPr>
            <a:endParaRPr lang="fr-FR" dirty="0"/>
          </a:p>
          <a:p>
            <a:pPr algn="just"/>
            <a:r>
              <a:rPr lang="fr-FR" dirty="0"/>
              <a:t>Les jalons doivent rester en dehors des tâches récapitulatives.</a:t>
            </a:r>
          </a:p>
          <a:p>
            <a:pPr algn="just"/>
            <a:r>
              <a:rPr lang="fr-FR" dirty="0"/>
              <a:t>La Durée des </a:t>
            </a:r>
            <a:r>
              <a:rPr lang="fr-FR" b="1" dirty="0"/>
              <a:t>Tâches récapitulatives</a:t>
            </a:r>
            <a:r>
              <a:rPr lang="fr-FR" dirty="0"/>
              <a:t> est calculée par MS Project entre le </a:t>
            </a:r>
            <a:r>
              <a:rPr lang="fr-FR" b="1" dirty="0"/>
              <a:t>Début</a:t>
            </a:r>
            <a:r>
              <a:rPr lang="fr-FR" dirty="0"/>
              <a:t> de la première Tâche subordonnée et la </a:t>
            </a:r>
            <a:r>
              <a:rPr lang="fr-FR" b="1" dirty="0"/>
              <a:t>Fin</a:t>
            </a:r>
            <a:r>
              <a:rPr lang="fr-FR" dirty="0"/>
              <a:t> de la dernière Tâche subordonnée (dans l’ordre chronologique) et ne peut être saisie.</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65</a:t>
            </a:fld>
            <a:endParaRPr lang="fr-BE"/>
          </a:p>
        </p:txBody>
      </p:sp>
    </p:spTree>
    <p:extLst>
      <p:ext uri="{BB962C8B-B14F-4D97-AF65-F5344CB8AC3E}">
        <p14:creationId xmlns:p14="http://schemas.microsoft.com/office/powerpoint/2010/main" val="37903501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85762" y="1709928"/>
            <a:ext cx="8229600" cy="4876800"/>
          </a:xfrm>
        </p:spPr>
        <p:txBody>
          <a:bodyPr>
            <a:normAutofit/>
          </a:bodyPr>
          <a:lstStyle/>
          <a:p>
            <a:pPr marL="0" indent="0">
              <a:buNone/>
            </a:pPr>
            <a:r>
              <a:rPr lang="fr-FR" b="1" dirty="0"/>
              <a:t>Création de la WBS</a:t>
            </a:r>
          </a:p>
          <a:p>
            <a:pPr marL="0" indent="0">
              <a:buNone/>
            </a:pPr>
            <a:endParaRPr lang="fr-FR" b="1" dirty="0"/>
          </a:p>
          <a:p>
            <a:r>
              <a:rPr lang="fr-FR" b="1" dirty="0"/>
              <a:t>Insérer une tâche récapitulative pour l’ensemble du projet :</a:t>
            </a:r>
          </a:p>
          <a:p>
            <a:pPr marL="0" indent="0">
              <a:buNone/>
            </a:pPr>
            <a:endParaRPr lang="fr-FR" b="1" dirty="0"/>
          </a:p>
          <a:p>
            <a:pPr lvl="1"/>
            <a:r>
              <a:rPr lang="fr-FR" b="1" dirty="0"/>
              <a:t>Pour afficher par défaut le résumé du projet </a:t>
            </a:r>
            <a:r>
              <a:rPr lang="fr-FR" dirty="0"/>
              <a:t>(la </a:t>
            </a:r>
            <a:r>
              <a:rPr lang="fr-FR" b="1" dirty="0"/>
              <a:t>Tâche récapitulative du projet</a:t>
            </a:r>
            <a:r>
              <a:rPr lang="fr-FR" dirty="0"/>
              <a:t>) sur la première ligne de la liste des tâches : Cliquez sur l’onglet </a:t>
            </a:r>
            <a:r>
              <a:rPr lang="fr-FR" b="1" dirty="0"/>
              <a:t>Format </a:t>
            </a:r>
            <a:r>
              <a:rPr lang="fr-FR" dirty="0"/>
              <a:t>dans le menu, puis cochez l’option </a:t>
            </a:r>
            <a:r>
              <a:rPr lang="fr-FR" b="1" dirty="0"/>
              <a:t>Tâche récapitulative du projet</a:t>
            </a:r>
            <a:r>
              <a:rPr lang="fr-FR" dirty="0"/>
              <a:t>.</a:t>
            </a:r>
            <a:endParaRPr lang="fr-FR" i="1" dirty="0"/>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66</a:t>
            </a:fld>
            <a:endParaRPr lang="fr-BE"/>
          </a:p>
        </p:txBody>
      </p:sp>
      <p:sp>
        <p:nvSpPr>
          <p:cNvPr id="7" name="Titre 1"/>
          <p:cNvSpPr>
            <a:spLocks noGrp="1"/>
          </p:cNvSpPr>
          <p:nvPr>
            <p:ph type="title"/>
          </p:nvPr>
        </p:nvSpPr>
        <p:spPr>
          <a:xfrm>
            <a:off x="457200" y="533400"/>
            <a:ext cx="8229600" cy="990600"/>
          </a:xfrm>
        </p:spPr>
        <p:txBody>
          <a:bodyPr>
            <a:normAutofit/>
          </a:bodyPr>
          <a:lstStyle/>
          <a:p>
            <a:r>
              <a:rPr lang="fr-FR" dirty="0"/>
              <a:t>3. Ordonnancement du projet</a:t>
            </a:r>
          </a:p>
        </p:txBody>
      </p:sp>
    </p:spTree>
    <p:extLst>
      <p:ext uri="{BB962C8B-B14F-4D97-AF65-F5344CB8AC3E}">
        <p14:creationId xmlns:p14="http://schemas.microsoft.com/office/powerpoint/2010/main" val="5886360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p:txBody>
          <a:bodyPr>
            <a:normAutofit/>
          </a:bodyPr>
          <a:lstStyle/>
          <a:p>
            <a:pPr marL="0" indent="0">
              <a:buNone/>
            </a:pPr>
            <a:r>
              <a:rPr lang="fr-FR" b="1" dirty="0"/>
              <a:t>Afficher le code de la WBS</a:t>
            </a:r>
          </a:p>
          <a:p>
            <a:pPr marL="0" indent="0">
              <a:buNone/>
            </a:pPr>
            <a:endParaRPr lang="fr-FR" dirty="0"/>
          </a:p>
          <a:p>
            <a:r>
              <a:rPr lang="fr-FR" dirty="0"/>
              <a:t>Le projet comportant plusieurs tâches avec des niveaux différents, vous pouvez afficher le code de la position des tâches dans l’arborescence de la WBS.</a:t>
            </a:r>
          </a:p>
          <a:p>
            <a:r>
              <a:rPr lang="fr-FR" dirty="0"/>
              <a:t>Pour cela, cliquez sur l’onglet </a:t>
            </a:r>
            <a:r>
              <a:rPr lang="fr-FR" b="1" dirty="0"/>
              <a:t>Format</a:t>
            </a:r>
            <a:r>
              <a:rPr lang="fr-FR" dirty="0"/>
              <a:t>, puis cochez l’option </a:t>
            </a:r>
            <a:r>
              <a:rPr lang="fr-FR" b="1" dirty="0"/>
              <a:t>N° hiérarchique</a:t>
            </a:r>
            <a:r>
              <a:rPr lang="fr-FR" dirty="0"/>
              <a:t> dans la zone </a:t>
            </a:r>
            <a:r>
              <a:rPr lang="fr-FR" b="1" dirty="0"/>
              <a:t>Afficher/Masquer</a:t>
            </a:r>
            <a:r>
              <a:rPr lang="fr-FR" dirty="0"/>
              <a:t>.</a:t>
            </a:r>
          </a:p>
          <a:p>
            <a:r>
              <a:rPr lang="fr-FR" dirty="0"/>
              <a:t>Le code WBS (</a:t>
            </a:r>
            <a:r>
              <a:rPr lang="fr-FR" b="1" dirty="0"/>
              <a:t>Numéro hiérarchique</a:t>
            </a:r>
            <a:r>
              <a:rPr lang="fr-FR" dirty="0"/>
              <a:t>), est affiché en préfixe du nom des tâches.</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67</a:t>
            </a:fld>
            <a:endParaRPr lang="fr-BE"/>
          </a:p>
        </p:txBody>
      </p:sp>
    </p:spTree>
    <p:extLst>
      <p:ext uri="{BB962C8B-B14F-4D97-AF65-F5344CB8AC3E}">
        <p14:creationId xmlns:p14="http://schemas.microsoft.com/office/powerpoint/2010/main" val="21543055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p:txBody>
          <a:bodyPr>
            <a:normAutofit lnSpcReduction="10000"/>
          </a:bodyPr>
          <a:lstStyle/>
          <a:p>
            <a:pPr marL="0" indent="0" algn="just">
              <a:buNone/>
            </a:pPr>
            <a:r>
              <a:rPr lang="en-US" b="1" dirty="0">
                <a:solidFill>
                  <a:schemeClr val="accent1"/>
                </a:solidFill>
              </a:rPr>
              <a:t>C. Ordonnancer le </a:t>
            </a:r>
            <a:r>
              <a:rPr lang="en-US" b="1" dirty="0" err="1">
                <a:solidFill>
                  <a:schemeClr val="accent1"/>
                </a:solidFill>
              </a:rPr>
              <a:t>projet</a:t>
            </a:r>
            <a:endParaRPr lang="en-US" b="1" dirty="0">
              <a:solidFill>
                <a:schemeClr val="accent1"/>
              </a:solidFill>
            </a:endParaRPr>
          </a:p>
          <a:p>
            <a:pPr marL="0" indent="0">
              <a:buNone/>
            </a:pPr>
            <a:endParaRPr lang="fr-FR" b="1" dirty="0"/>
          </a:p>
          <a:p>
            <a:pPr marL="0" indent="0">
              <a:buNone/>
            </a:pPr>
            <a:r>
              <a:rPr lang="fr-FR" b="1" dirty="0"/>
              <a:t>Lier les activités</a:t>
            </a:r>
          </a:p>
          <a:p>
            <a:pPr marL="0" indent="0">
              <a:buNone/>
            </a:pPr>
            <a:endParaRPr lang="fr-FR" b="1" dirty="0"/>
          </a:p>
          <a:p>
            <a:r>
              <a:rPr lang="fr-FR" dirty="0"/>
              <a:t>Afin que MS Project puisse calculer la durée totale du projet, il faut créer des liens entre les tâches.</a:t>
            </a:r>
          </a:p>
          <a:p>
            <a:endParaRPr lang="fr-FR" dirty="0"/>
          </a:p>
          <a:p>
            <a:r>
              <a:rPr lang="fr-FR" dirty="0"/>
              <a:t>Il existe quatre types de liens dans MS Project :</a:t>
            </a:r>
          </a:p>
          <a:p>
            <a:pPr lvl="1">
              <a:buFontTx/>
              <a:buChar char="-"/>
            </a:pPr>
            <a:r>
              <a:rPr lang="fr-FR" b="1" dirty="0"/>
              <a:t>Fin à Début (FD)</a:t>
            </a:r>
            <a:r>
              <a:rPr lang="fr-FR" dirty="0"/>
              <a:t>, lien par défaut</a:t>
            </a:r>
          </a:p>
          <a:p>
            <a:pPr lvl="1">
              <a:buFontTx/>
              <a:buChar char="-"/>
            </a:pPr>
            <a:r>
              <a:rPr lang="fr-FR" b="1" dirty="0"/>
              <a:t>Début à Début (DD)</a:t>
            </a:r>
            <a:endParaRPr lang="fr-FR" dirty="0"/>
          </a:p>
          <a:p>
            <a:pPr lvl="1">
              <a:buFontTx/>
              <a:buChar char="-"/>
            </a:pPr>
            <a:r>
              <a:rPr lang="fr-FR" b="1" dirty="0"/>
              <a:t>Fin à Fin (FF)</a:t>
            </a:r>
            <a:endParaRPr lang="fr-FR" dirty="0"/>
          </a:p>
          <a:p>
            <a:pPr lvl="1">
              <a:buFontTx/>
              <a:buChar char="-"/>
            </a:pPr>
            <a:r>
              <a:rPr lang="fr-FR" b="1" dirty="0"/>
              <a:t>Début à Fin (DF)</a:t>
            </a:r>
            <a:r>
              <a:rPr lang="fr-FR" dirty="0"/>
              <a:t>, peu utilisé</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68</a:t>
            </a:fld>
            <a:endParaRPr lang="fr-BE"/>
          </a:p>
        </p:txBody>
      </p:sp>
    </p:spTree>
    <p:extLst>
      <p:ext uri="{BB962C8B-B14F-4D97-AF65-F5344CB8AC3E}">
        <p14:creationId xmlns:p14="http://schemas.microsoft.com/office/powerpoint/2010/main" val="32221848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p:txBody>
          <a:bodyPr>
            <a:normAutofit fontScale="92500" lnSpcReduction="10000"/>
          </a:bodyPr>
          <a:lstStyle/>
          <a:p>
            <a:pPr marL="0" indent="0">
              <a:buNone/>
            </a:pPr>
            <a:r>
              <a:rPr lang="fr-FR" b="1" dirty="0"/>
              <a:t>Méthode pour lier les activités : </a:t>
            </a:r>
          </a:p>
          <a:p>
            <a:pPr marL="0" indent="0">
              <a:buNone/>
            </a:pPr>
            <a:endParaRPr lang="fr-FR" b="1" dirty="0"/>
          </a:p>
          <a:p>
            <a:r>
              <a:rPr lang="fr-FR" b="1" u="sng" dirty="0"/>
              <a:t>Au choix, depuis la vue « Diagramme de Gantt »</a:t>
            </a:r>
            <a:r>
              <a:rPr lang="fr-FR" b="1" dirty="0"/>
              <a:t> </a:t>
            </a:r>
            <a:br>
              <a:rPr lang="fr-FR" b="1" dirty="0"/>
            </a:br>
            <a:r>
              <a:rPr lang="fr-FR" dirty="0"/>
              <a:t>Déplacez le séparateur entre le </a:t>
            </a:r>
            <a:r>
              <a:rPr lang="fr-FR" b="1" dirty="0"/>
              <a:t>tableau de gauche</a:t>
            </a:r>
            <a:r>
              <a:rPr lang="fr-FR" dirty="0"/>
              <a:t> et le graphique du </a:t>
            </a:r>
            <a:r>
              <a:rPr lang="fr-FR" b="1" dirty="0"/>
              <a:t>Diagramme de Gantt</a:t>
            </a:r>
            <a:r>
              <a:rPr lang="fr-FR" dirty="0"/>
              <a:t> pour pouvoir afficher la colonne </a:t>
            </a:r>
            <a:r>
              <a:rPr lang="fr-FR" b="1" dirty="0"/>
              <a:t>Prédécesseurs</a:t>
            </a:r>
            <a:r>
              <a:rPr lang="fr-FR" dirty="0"/>
              <a:t>.</a:t>
            </a:r>
          </a:p>
          <a:p>
            <a:r>
              <a:rPr lang="fr-FR" b="1" u="sng" dirty="0"/>
              <a:t>Ou directement depuis la vue « Tableau des tâches »</a:t>
            </a:r>
            <a:endParaRPr lang="fr-FR" b="1" dirty="0"/>
          </a:p>
          <a:p>
            <a:endParaRPr lang="fr-FR" b="1" dirty="0"/>
          </a:p>
          <a:p>
            <a:r>
              <a:rPr lang="fr-FR" dirty="0"/>
              <a:t>Cliquez dans la colonne à la ligne de la tâche n°11 (</a:t>
            </a:r>
            <a:r>
              <a:rPr lang="fr-FR" b="1" dirty="0"/>
              <a:t>6.2 Contrôle</a:t>
            </a:r>
            <a:r>
              <a:rPr lang="fr-FR" dirty="0"/>
              <a:t>) et saisissez directement le numéro de son prédécesseur, 10 (</a:t>
            </a:r>
            <a:r>
              <a:rPr lang="fr-FR" b="1" dirty="0"/>
              <a:t>6.1 Écrans</a:t>
            </a:r>
            <a:r>
              <a:rPr lang="fr-FR" dirty="0"/>
              <a:t>). </a:t>
            </a:r>
            <a:br>
              <a:rPr lang="fr-FR" dirty="0"/>
            </a:br>
            <a:br>
              <a:rPr lang="fr-FR" dirty="0"/>
            </a:br>
            <a:r>
              <a:rPr lang="fr-FR" i="1" dirty="0"/>
              <a:t>Faites de même pour tous les prédécesseurs à partir du tableau donné. </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69</a:t>
            </a:fld>
            <a:endParaRPr lang="fr-BE"/>
          </a:p>
        </p:txBody>
      </p:sp>
    </p:spTree>
    <p:extLst>
      <p:ext uri="{BB962C8B-B14F-4D97-AF65-F5344CB8AC3E}">
        <p14:creationId xmlns:p14="http://schemas.microsoft.com/office/powerpoint/2010/main" val="10299866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764704"/>
            <a:ext cx="8229600" cy="4876800"/>
          </a:xfrm>
        </p:spPr>
        <p:txBody>
          <a:bodyPr>
            <a:normAutofit fontScale="85000" lnSpcReduction="20000"/>
          </a:bodyPr>
          <a:lstStyle/>
          <a:p>
            <a:pPr marL="0" indent="0" algn="just">
              <a:buNone/>
            </a:pPr>
            <a:r>
              <a:rPr lang="fr-FR" b="1" u="sng" dirty="0"/>
              <a:t>Exercice</a:t>
            </a:r>
            <a:r>
              <a:rPr lang="fr-FR" b="1" dirty="0"/>
              <a:t> : En utilisant la méthode décrite sur la diapo </a:t>
            </a:r>
            <a:r>
              <a:rPr lang="fr-FR" b="1" dirty="0">
                <a:solidFill>
                  <a:srgbClr val="FF0000"/>
                </a:solidFill>
              </a:rPr>
              <a:t>précédente</a:t>
            </a:r>
            <a:r>
              <a:rPr lang="fr-FR" b="1" dirty="0"/>
              <a:t>, liez entre elles les différentes tâches selon le tableau ci-après. </a:t>
            </a:r>
          </a:p>
          <a:p>
            <a:pPr marL="0" indent="0" algn="just">
              <a:buNone/>
            </a:pPr>
            <a:endParaRPr lang="fr-FR" b="1" dirty="0"/>
          </a:p>
          <a:p>
            <a:pPr marL="0" indent="0" algn="just">
              <a:buNone/>
            </a:pPr>
            <a:r>
              <a:rPr lang="fr-FR" dirty="0"/>
              <a:t>Le tableau est complet et certaines tâches sont déjà liées.</a:t>
            </a:r>
          </a:p>
          <a:p>
            <a:pPr marL="0" indent="0" algn="just">
              <a:buNone/>
            </a:pPr>
            <a:endParaRPr lang="fr-FR" dirty="0"/>
          </a:p>
          <a:p>
            <a:pPr marL="0" indent="0" algn="just">
              <a:buNone/>
            </a:pPr>
            <a:r>
              <a:rPr lang="fr-FR" b="1" dirty="0"/>
              <a:t>Nota bene : </a:t>
            </a:r>
          </a:p>
          <a:p>
            <a:pPr marL="0" indent="0" algn="just">
              <a:buNone/>
            </a:pPr>
            <a:endParaRPr lang="fr-FR" b="1" dirty="0"/>
          </a:p>
          <a:p>
            <a:pPr algn="just"/>
            <a:r>
              <a:rPr lang="fr-FR" dirty="0"/>
              <a:t>Ne pas lier les </a:t>
            </a:r>
            <a:r>
              <a:rPr lang="fr-FR" b="1" dirty="0"/>
              <a:t>tâches récapitulatives</a:t>
            </a:r>
            <a:r>
              <a:rPr lang="fr-FR" dirty="0"/>
              <a:t> entre elles par des liens de </a:t>
            </a:r>
            <a:r>
              <a:rPr lang="fr-FR" b="1" dirty="0"/>
              <a:t>Fin à Début</a:t>
            </a:r>
            <a:r>
              <a:rPr lang="fr-FR" dirty="0"/>
              <a:t>, car ceci peut entraîner des erreurs dans le calcul du Chemin critique du projet.</a:t>
            </a:r>
          </a:p>
          <a:p>
            <a:r>
              <a:rPr lang="fr-FR" dirty="0"/>
              <a:t>Utilisez régulièrement le </a:t>
            </a:r>
            <a:r>
              <a:rPr lang="fr-FR" b="1" dirty="0"/>
              <a:t>zoom</a:t>
            </a:r>
            <a:r>
              <a:rPr lang="fr-FR" dirty="0"/>
              <a:t> de l’</a:t>
            </a:r>
            <a:r>
              <a:rPr lang="fr-FR" b="1" dirty="0"/>
              <a:t>échelle de temps</a:t>
            </a:r>
            <a:r>
              <a:rPr lang="fr-FR" dirty="0"/>
              <a:t> pour afficher / visualiser l’</a:t>
            </a:r>
            <a:r>
              <a:rPr lang="fr-FR" b="1" dirty="0"/>
              <a:t>ensemble du projet</a:t>
            </a:r>
            <a:r>
              <a:rPr lang="fr-FR" dirty="0"/>
              <a:t>. Pour cela &gt;&gt;&gt; Cliquez-droit sur l’échelle de temps et choisissez la commande Zoom ; puis choisissez l’option Ensemble du projet. </a:t>
            </a:r>
          </a:p>
          <a:p>
            <a:pPr algn="just"/>
            <a:endParaRPr lang="fr-FR" dirty="0"/>
          </a:p>
          <a:p>
            <a:pPr algn="just"/>
            <a:r>
              <a:rPr lang="fr-FR" dirty="0">
                <a:solidFill>
                  <a:schemeClr val="tx2"/>
                </a:solidFill>
              </a:rPr>
              <a:t>Vous devriez obtenir le </a:t>
            </a:r>
            <a:r>
              <a:rPr lang="fr-FR" b="1" dirty="0">
                <a:solidFill>
                  <a:schemeClr val="tx2"/>
                </a:solidFill>
              </a:rPr>
              <a:t>Diagramme de Gantt</a:t>
            </a:r>
            <a:r>
              <a:rPr lang="fr-FR" dirty="0">
                <a:solidFill>
                  <a:schemeClr val="tx2"/>
                </a:solidFill>
              </a:rPr>
              <a:t> suivant avec une durée totale du projet de </a:t>
            </a:r>
            <a:r>
              <a:rPr lang="fr-FR" b="1" dirty="0">
                <a:solidFill>
                  <a:schemeClr val="tx2"/>
                </a:solidFill>
              </a:rPr>
              <a:t>210</a:t>
            </a:r>
            <a:r>
              <a:rPr lang="fr-FR" dirty="0">
                <a:solidFill>
                  <a:schemeClr val="tx2"/>
                </a:solidFill>
              </a:rPr>
              <a:t> jours </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70</a:t>
            </a:fld>
            <a:endParaRPr lang="fr-BE"/>
          </a:p>
        </p:txBody>
      </p:sp>
    </p:spTree>
    <p:extLst>
      <p:ext uri="{BB962C8B-B14F-4D97-AF65-F5344CB8AC3E}">
        <p14:creationId xmlns:p14="http://schemas.microsoft.com/office/powerpoint/2010/main" val="11424492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F4668DC-857F-487D-BFFA-8C0CA5037977}" type="slidenum">
              <a:rPr lang="fr-BE" smtClean="0"/>
              <a:pPr/>
              <a:t>71</a:t>
            </a:fld>
            <a:endParaRPr lang="fr-BE"/>
          </a:p>
        </p:txBody>
      </p:sp>
      <p:graphicFrame>
        <p:nvGraphicFramePr>
          <p:cNvPr id="5" name="Tableau 4"/>
          <p:cNvGraphicFramePr>
            <a:graphicFrameLocks noGrp="1"/>
          </p:cNvGraphicFramePr>
          <p:nvPr>
            <p:extLst>
              <p:ext uri="{D42A27DB-BD31-4B8C-83A1-F6EECF244321}">
                <p14:modId xmlns:p14="http://schemas.microsoft.com/office/powerpoint/2010/main" val="2265972912"/>
              </p:ext>
            </p:extLst>
          </p:nvPr>
        </p:nvGraphicFramePr>
        <p:xfrm>
          <a:off x="395536" y="548680"/>
          <a:ext cx="8291264" cy="5999620"/>
        </p:xfrm>
        <a:graphic>
          <a:graphicData uri="http://schemas.openxmlformats.org/drawingml/2006/table">
            <a:tbl>
              <a:tblPr/>
              <a:tblGrid>
                <a:gridCol w="3816424">
                  <a:extLst>
                    <a:ext uri="{9D8B030D-6E8A-4147-A177-3AD203B41FA5}">
                      <a16:colId xmlns:a16="http://schemas.microsoft.com/office/drawing/2014/main" val="20000"/>
                    </a:ext>
                  </a:extLst>
                </a:gridCol>
                <a:gridCol w="648072">
                  <a:extLst>
                    <a:ext uri="{9D8B030D-6E8A-4147-A177-3AD203B41FA5}">
                      <a16:colId xmlns:a16="http://schemas.microsoft.com/office/drawing/2014/main" val="20001"/>
                    </a:ext>
                  </a:extLst>
                </a:gridCol>
                <a:gridCol w="3826768">
                  <a:extLst>
                    <a:ext uri="{9D8B030D-6E8A-4147-A177-3AD203B41FA5}">
                      <a16:colId xmlns:a16="http://schemas.microsoft.com/office/drawing/2014/main" val="20002"/>
                    </a:ext>
                  </a:extLst>
                </a:gridCol>
              </a:tblGrid>
              <a:tr h="182848">
                <a:tc>
                  <a:txBody>
                    <a:bodyPr/>
                    <a:lstStyle/>
                    <a:p>
                      <a:pPr algn="l" fontAlgn="t"/>
                      <a:r>
                        <a:rPr lang="fr-FR" sz="1200" b="1" dirty="0">
                          <a:solidFill>
                            <a:schemeClr val="bg1"/>
                          </a:solidFill>
                          <a:effectLst/>
                        </a:rPr>
                        <a:t>Nom de la tâche</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1"/>
                    </a:solidFill>
                  </a:tcPr>
                </a:tc>
                <a:tc>
                  <a:txBody>
                    <a:bodyPr/>
                    <a:lstStyle/>
                    <a:p>
                      <a:pPr algn="l" fontAlgn="t"/>
                      <a:r>
                        <a:rPr lang="fr-FR" sz="1200" b="1" dirty="0">
                          <a:solidFill>
                            <a:schemeClr val="bg1"/>
                          </a:solidFill>
                          <a:effectLst/>
                        </a:rPr>
                        <a:t>Durée</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1"/>
                    </a:solidFill>
                  </a:tcPr>
                </a:tc>
                <a:tc>
                  <a:txBody>
                    <a:bodyPr/>
                    <a:lstStyle/>
                    <a:p>
                      <a:pPr algn="l" fontAlgn="t"/>
                      <a:r>
                        <a:rPr lang="fr-FR" sz="1200" b="1" dirty="0">
                          <a:solidFill>
                            <a:schemeClr val="bg1"/>
                          </a:solidFill>
                          <a:effectLst/>
                        </a:rPr>
                        <a:t>Antériorité</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212035">
                <a:tc>
                  <a:txBody>
                    <a:bodyPr/>
                    <a:lstStyle/>
                    <a:p>
                      <a:pPr fontAlgn="t"/>
                      <a:r>
                        <a:rPr lang="fr-FR" sz="1200">
                          <a:effectLst/>
                        </a:rPr>
                        <a:t>Lancement du projet (jalon)</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gridSpan="2">
                  <a:txBody>
                    <a:bodyPr/>
                    <a:lstStyle/>
                    <a:p>
                      <a:pPr fontAlgn="t"/>
                      <a:r>
                        <a:rPr lang="fr-FR" sz="1200">
                          <a:effectLst/>
                        </a:rPr>
                        <a:t>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hMerge="1">
                  <a:txBody>
                    <a:bodyPr/>
                    <a:lstStyle/>
                    <a:p>
                      <a:endParaRPr lang="fr-FR"/>
                    </a:p>
                  </a:txBody>
                  <a:tcPr/>
                </a:tc>
                <a:extLst>
                  <a:ext uri="{0D108BD9-81ED-4DB2-BD59-A6C34878D82A}">
                    <a16:rowId xmlns:a16="http://schemas.microsoft.com/office/drawing/2014/main" val="10001"/>
                  </a:ext>
                </a:extLst>
              </a:tr>
              <a:tr h="121163">
                <a:tc>
                  <a:txBody>
                    <a:bodyPr/>
                    <a:lstStyle/>
                    <a:p>
                      <a:pPr fontAlgn="t"/>
                      <a:r>
                        <a:rPr lang="fr-FR" sz="1200">
                          <a:effectLst/>
                        </a:rPr>
                        <a:t>Conception / Maquettage</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dirty="0">
                          <a:effectLst/>
                        </a:rPr>
                        <a:t>30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Lancement du projet</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21163">
                <a:tc>
                  <a:txBody>
                    <a:bodyPr/>
                    <a:lstStyle/>
                    <a:p>
                      <a:pPr fontAlgn="t"/>
                      <a:r>
                        <a:rPr lang="fr-FR" sz="1200">
                          <a:effectLst/>
                        </a:rPr>
                        <a:t>Documentation</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20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Conception / Maquettage</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21163">
                <a:tc>
                  <a:txBody>
                    <a:bodyPr/>
                    <a:lstStyle/>
                    <a:p>
                      <a:pPr fontAlgn="t"/>
                      <a:r>
                        <a:rPr lang="fr-FR" sz="1200">
                          <a:effectLst/>
                        </a:rPr>
                        <a:t>Validation des charges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10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Documentation</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2035">
                <a:tc>
                  <a:txBody>
                    <a:bodyPr/>
                    <a:lstStyle/>
                    <a:p>
                      <a:pPr fontAlgn="t"/>
                      <a:r>
                        <a:rPr lang="fr-FR" sz="1200">
                          <a:effectLst/>
                        </a:rPr>
                        <a:t>Validation de la solution (jalon)</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Validation des charges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12035">
                <a:tc>
                  <a:txBody>
                    <a:bodyPr/>
                    <a:lstStyle/>
                    <a:p>
                      <a:pPr fontAlgn="t"/>
                      <a:r>
                        <a:rPr lang="fr-FR" sz="1200">
                          <a:effectLst/>
                        </a:rPr>
                        <a:t>Conception de l’architecture technique</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70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Lancement du projet (jalon)</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12035">
                <a:tc gridSpan="2">
                  <a:txBody>
                    <a:bodyPr/>
                    <a:lstStyle/>
                    <a:p>
                      <a:pPr fontAlgn="t"/>
                      <a:r>
                        <a:rPr lang="fr-FR" sz="1200" dirty="0">
                          <a:effectLst/>
                        </a:rPr>
                        <a:t>Conception des développements (Tâche récapitulative)</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hMerge="1">
                  <a:txBody>
                    <a:bodyPr/>
                    <a:lstStyle/>
                    <a:p>
                      <a:endParaRPr lang="fr-FR"/>
                    </a:p>
                  </a:txBody>
                  <a:tcPr/>
                </a:tc>
                <a:tc>
                  <a:txBody>
                    <a:bodyPr/>
                    <a:lstStyle/>
                    <a:p>
                      <a:endParaRPr lang="fr-FR" dirty="0"/>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12035">
                <a:tc>
                  <a:txBody>
                    <a:bodyPr/>
                    <a:lstStyle/>
                    <a:p>
                      <a:pPr fontAlgn="t"/>
                      <a:r>
                        <a:rPr lang="fr-FR" sz="1200">
                          <a:effectLst/>
                        </a:rPr>
                        <a:t>Écrans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20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Validation de la solution (jalon)</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21163">
                <a:tc>
                  <a:txBody>
                    <a:bodyPr/>
                    <a:lstStyle/>
                    <a:p>
                      <a:pPr fontAlgn="t"/>
                      <a:r>
                        <a:rPr lang="fr-FR" sz="1200">
                          <a:effectLst/>
                        </a:rPr>
                        <a:t>Contrôles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10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Écrans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21163">
                <a:tc>
                  <a:txBody>
                    <a:bodyPr/>
                    <a:lstStyle/>
                    <a:p>
                      <a:pPr fontAlgn="t"/>
                      <a:r>
                        <a:rPr lang="fr-FR" sz="1200">
                          <a:effectLst/>
                        </a:rPr>
                        <a:t>Sécurité</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20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Contrôles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12035">
                <a:tc>
                  <a:txBody>
                    <a:bodyPr/>
                    <a:lstStyle/>
                    <a:p>
                      <a:pPr fontAlgn="t"/>
                      <a:r>
                        <a:rPr lang="fr-FR" sz="1200">
                          <a:effectLst/>
                        </a:rPr>
                        <a:t>Simulations (Tests techniques)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40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Sécurité</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21163">
                <a:tc gridSpan="3">
                  <a:txBody>
                    <a:bodyPr/>
                    <a:lstStyle/>
                    <a:p>
                      <a:pPr fontAlgn="t"/>
                      <a:r>
                        <a:rPr lang="fr-FR" sz="1200">
                          <a:effectLst/>
                        </a:rPr>
                        <a:t>Réalisation des développements (Tâche récapitulative)</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12"/>
                  </a:ext>
                </a:extLst>
              </a:tr>
              <a:tr h="212035">
                <a:tc>
                  <a:txBody>
                    <a:bodyPr/>
                    <a:lstStyle/>
                    <a:p>
                      <a:pPr fontAlgn="t"/>
                      <a:r>
                        <a:rPr lang="fr-FR" sz="1200">
                          <a:effectLst/>
                        </a:rPr>
                        <a:t>Écrans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10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Écrans de Conception des développements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12035">
                <a:tc rowSpan="2">
                  <a:txBody>
                    <a:bodyPr/>
                    <a:lstStyle/>
                    <a:p>
                      <a:pPr fontAlgn="t"/>
                      <a:r>
                        <a:rPr lang="fr-FR" sz="1200" dirty="0">
                          <a:effectLst/>
                        </a:rPr>
                        <a:t>Contrôles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00"/>
                    </a:solidFill>
                  </a:tcPr>
                </a:tc>
                <a:tc rowSpan="2">
                  <a:txBody>
                    <a:bodyPr/>
                    <a:lstStyle/>
                    <a:p>
                      <a:pPr fontAlgn="t"/>
                      <a:r>
                        <a:rPr lang="fr-FR" sz="1200">
                          <a:effectLst/>
                        </a:rPr>
                        <a:t>10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00"/>
                    </a:solidFill>
                  </a:tcPr>
                </a:tc>
                <a:tc>
                  <a:txBody>
                    <a:bodyPr/>
                    <a:lstStyle/>
                    <a:p>
                      <a:pPr fontAlgn="t"/>
                      <a:r>
                        <a:rPr lang="fr-FR" sz="1200" dirty="0">
                          <a:effectLst/>
                        </a:rPr>
                        <a:t>Contrôles de Conception des développements,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00"/>
                    </a:solidFill>
                  </a:tcPr>
                </a:tc>
                <a:extLst>
                  <a:ext uri="{0D108BD9-81ED-4DB2-BD59-A6C34878D82A}">
                    <a16:rowId xmlns:a16="http://schemas.microsoft.com/office/drawing/2014/main" val="10014"/>
                  </a:ext>
                </a:extLst>
              </a:tr>
              <a:tr h="212035">
                <a:tc vMerge="1">
                  <a:txBody>
                    <a:bodyPr/>
                    <a:lstStyle/>
                    <a:p>
                      <a:endParaRPr lang="fr-FR"/>
                    </a:p>
                  </a:txBody>
                  <a:tcPr/>
                </a:tc>
                <a:tc vMerge="1">
                  <a:txBody>
                    <a:bodyPr/>
                    <a:lstStyle/>
                    <a:p>
                      <a:endParaRPr lang="fr-FR"/>
                    </a:p>
                  </a:txBody>
                  <a:tcPr/>
                </a:tc>
                <a:tc>
                  <a:txBody>
                    <a:bodyPr/>
                    <a:lstStyle/>
                    <a:p>
                      <a:pPr fontAlgn="t"/>
                      <a:r>
                        <a:rPr lang="fr-FR" sz="1200" dirty="0">
                          <a:effectLst/>
                        </a:rPr>
                        <a:t>Écrans de Réalisation des développements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00"/>
                    </a:solidFill>
                  </a:tcPr>
                </a:tc>
                <a:extLst>
                  <a:ext uri="{0D108BD9-81ED-4DB2-BD59-A6C34878D82A}">
                    <a16:rowId xmlns:a16="http://schemas.microsoft.com/office/drawing/2014/main" val="10015"/>
                  </a:ext>
                </a:extLst>
              </a:tr>
              <a:tr h="212035">
                <a:tc rowSpan="2">
                  <a:txBody>
                    <a:bodyPr/>
                    <a:lstStyle/>
                    <a:p>
                      <a:pPr fontAlgn="t"/>
                      <a:r>
                        <a:rPr lang="fr-FR" sz="1200" dirty="0">
                          <a:effectLst/>
                        </a:rPr>
                        <a:t>Sécurité</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C000"/>
                    </a:solidFill>
                  </a:tcPr>
                </a:tc>
                <a:tc rowSpan="2">
                  <a:txBody>
                    <a:bodyPr/>
                    <a:lstStyle/>
                    <a:p>
                      <a:pPr fontAlgn="t"/>
                      <a:r>
                        <a:rPr lang="fr-FR" sz="1200" dirty="0">
                          <a:effectLst/>
                        </a:rPr>
                        <a:t>10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C000"/>
                    </a:solidFill>
                  </a:tcPr>
                </a:tc>
                <a:tc>
                  <a:txBody>
                    <a:bodyPr/>
                    <a:lstStyle/>
                    <a:p>
                      <a:pPr fontAlgn="t"/>
                      <a:r>
                        <a:rPr lang="fr-FR" sz="1200" dirty="0">
                          <a:effectLst/>
                        </a:rPr>
                        <a:t>Sécurité de Conception des développements,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C000"/>
                    </a:solidFill>
                  </a:tcPr>
                </a:tc>
                <a:extLst>
                  <a:ext uri="{0D108BD9-81ED-4DB2-BD59-A6C34878D82A}">
                    <a16:rowId xmlns:a16="http://schemas.microsoft.com/office/drawing/2014/main" val="10016"/>
                  </a:ext>
                </a:extLst>
              </a:tr>
              <a:tr h="212035">
                <a:tc vMerge="1">
                  <a:txBody>
                    <a:bodyPr/>
                    <a:lstStyle/>
                    <a:p>
                      <a:endParaRPr lang="fr-FR"/>
                    </a:p>
                  </a:txBody>
                  <a:tcPr/>
                </a:tc>
                <a:tc vMerge="1">
                  <a:txBody>
                    <a:bodyPr/>
                    <a:lstStyle/>
                    <a:p>
                      <a:endParaRPr lang="fr-FR"/>
                    </a:p>
                  </a:txBody>
                  <a:tcPr/>
                </a:tc>
                <a:tc>
                  <a:txBody>
                    <a:bodyPr/>
                    <a:lstStyle/>
                    <a:p>
                      <a:pPr fontAlgn="t"/>
                      <a:r>
                        <a:rPr lang="fr-FR" sz="1200" dirty="0">
                          <a:effectLst/>
                        </a:rPr>
                        <a:t>Contrôles de Réalisation des développements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C000"/>
                    </a:solidFill>
                  </a:tcPr>
                </a:tc>
                <a:extLst>
                  <a:ext uri="{0D108BD9-81ED-4DB2-BD59-A6C34878D82A}">
                    <a16:rowId xmlns:a16="http://schemas.microsoft.com/office/drawing/2014/main" val="10017"/>
                  </a:ext>
                </a:extLst>
              </a:tr>
              <a:tr h="393779">
                <a:tc rowSpan="2">
                  <a:txBody>
                    <a:bodyPr/>
                    <a:lstStyle/>
                    <a:p>
                      <a:pPr fontAlgn="t"/>
                      <a:r>
                        <a:rPr lang="fr-FR" sz="1200" dirty="0">
                          <a:effectLst/>
                        </a:rPr>
                        <a:t>Simulations (Tests techniques)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92D050"/>
                    </a:solidFill>
                  </a:tcPr>
                </a:tc>
                <a:tc rowSpan="2">
                  <a:txBody>
                    <a:bodyPr/>
                    <a:lstStyle/>
                    <a:p>
                      <a:pPr fontAlgn="t"/>
                      <a:r>
                        <a:rPr lang="fr-FR" sz="1200" dirty="0">
                          <a:effectLst/>
                        </a:rPr>
                        <a:t>30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92D050"/>
                    </a:solidFill>
                  </a:tcPr>
                </a:tc>
                <a:tc>
                  <a:txBody>
                    <a:bodyPr/>
                    <a:lstStyle/>
                    <a:p>
                      <a:pPr fontAlgn="t"/>
                      <a:r>
                        <a:rPr lang="fr-FR" sz="1200" dirty="0">
                          <a:effectLst/>
                        </a:rPr>
                        <a:t>Simulations (Tests techniques) de Conception des développements,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92D050"/>
                    </a:solidFill>
                  </a:tcPr>
                </a:tc>
                <a:extLst>
                  <a:ext uri="{0D108BD9-81ED-4DB2-BD59-A6C34878D82A}">
                    <a16:rowId xmlns:a16="http://schemas.microsoft.com/office/drawing/2014/main" val="10018"/>
                  </a:ext>
                </a:extLst>
              </a:tr>
              <a:tr h="212035">
                <a:tc vMerge="1">
                  <a:txBody>
                    <a:bodyPr/>
                    <a:lstStyle/>
                    <a:p>
                      <a:endParaRPr lang="fr-FR"/>
                    </a:p>
                  </a:txBody>
                  <a:tcPr/>
                </a:tc>
                <a:tc vMerge="1">
                  <a:txBody>
                    <a:bodyPr/>
                    <a:lstStyle/>
                    <a:p>
                      <a:endParaRPr lang="fr-FR"/>
                    </a:p>
                  </a:txBody>
                  <a:tcPr/>
                </a:tc>
                <a:tc>
                  <a:txBody>
                    <a:bodyPr/>
                    <a:lstStyle/>
                    <a:p>
                      <a:pPr fontAlgn="t"/>
                      <a:r>
                        <a:rPr lang="fr-FR" sz="1200" dirty="0">
                          <a:effectLst/>
                        </a:rPr>
                        <a:t>Sécurité de Réalisation des développements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92D050"/>
                    </a:solidFill>
                  </a:tcPr>
                </a:tc>
                <a:extLst>
                  <a:ext uri="{0D108BD9-81ED-4DB2-BD59-A6C34878D82A}">
                    <a16:rowId xmlns:a16="http://schemas.microsoft.com/office/drawing/2014/main" val="10019"/>
                  </a:ext>
                </a:extLst>
              </a:tr>
              <a:tr h="393779">
                <a:tc>
                  <a:txBody>
                    <a:bodyPr/>
                    <a:lstStyle/>
                    <a:p>
                      <a:pPr fontAlgn="t"/>
                      <a:r>
                        <a:rPr lang="fr-FR" sz="1200">
                          <a:effectLst/>
                        </a:rPr>
                        <a:t>Recette fonctionnelle</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20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Simulations (Tests techniques) de Réalisation des développements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20"/>
                  </a:ext>
                </a:extLst>
              </a:tr>
              <a:tr h="121163">
                <a:tc>
                  <a:txBody>
                    <a:bodyPr/>
                    <a:lstStyle/>
                    <a:p>
                      <a:pPr fontAlgn="t"/>
                      <a:r>
                        <a:rPr lang="fr-FR" sz="1200">
                          <a:effectLst/>
                        </a:rPr>
                        <a:t>Livraison (jalon)</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Recette fonctionnelle</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21"/>
                  </a:ext>
                </a:extLst>
              </a:tr>
              <a:tr h="121163">
                <a:tc>
                  <a:txBody>
                    <a:bodyPr/>
                    <a:lstStyle/>
                    <a:p>
                      <a:pPr fontAlgn="t"/>
                      <a:r>
                        <a:rPr lang="fr-FR" sz="1200">
                          <a:effectLst/>
                        </a:rPr>
                        <a:t>Formation utilisateurs</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10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Livraison (jalon)</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22"/>
                  </a:ext>
                </a:extLst>
              </a:tr>
              <a:tr h="121163">
                <a:tc>
                  <a:txBody>
                    <a:bodyPr/>
                    <a:lstStyle/>
                    <a:p>
                      <a:pPr fontAlgn="t"/>
                      <a:r>
                        <a:rPr lang="fr-FR" sz="1200">
                          <a:effectLst/>
                        </a:rPr>
                        <a:t>Déploiement</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10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Livraison (jalon)</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23"/>
                  </a:ext>
                </a:extLst>
              </a:tr>
              <a:tr h="212035">
                <a:tc>
                  <a:txBody>
                    <a:bodyPr/>
                    <a:lstStyle/>
                    <a:p>
                      <a:pPr fontAlgn="t"/>
                      <a:r>
                        <a:rPr lang="fr-FR" sz="1200">
                          <a:effectLst/>
                        </a:rPr>
                        <a:t>Pilotage</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dirty="0">
                          <a:effectLst/>
                        </a:rPr>
                        <a:t>25</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Lancement du projet (jalon)</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24"/>
                  </a:ext>
                </a:extLst>
              </a:tr>
              <a:tr h="121163">
                <a:tc>
                  <a:txBody>
                    <a:bodyPr/>
                    <a:lstStyle/>
                    <a:p>
                      <a:pPr fontAlgn="t"/>
                      <a:r>
                        <a:rPr lang="fr-FR" sz="1200">
                          <a:effectLst/>
                        </a:rPr>
                        <a:t>Fin du projet</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a:effectLst/>
                        </a:rPr>
                        <a:t>0</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fr-FR" sz="1200" dirty="0">
                          <a:effectLst/>
                        </a:rPr>
                        <a:t>Déploiement</a:t>
                      </a:r>
                    </a:p>
                  </a:txBody>
                  <a:tcPr marL="30291" marR="30291" marT="15145" marB="1514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9975758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p:txBody>
          <a:bodyPr>
            <a:normAutofit fontScale="92500" lnSpcReduction="10000"/>
          </a:bodyPr>
          <a:lstStyle/>
          <a:p>
            <a:pPr marL="0" indent="0">
              <a:buNone/>
            </a:pPr>
            <a:r>
              <a:rPr lang="fr-FR" b="1" dirty="0"/>
              <a:t>Chevauchement des tâches / Commencer des tâches en même temps :</a:t>
            </a:r>
          </a:p>
          <a:p>
            <a:pPr marL="0" indent="0">
              <a:buNone/>
            </a:pPr>
            <a:endParaRPr lang="fr-FR" dirty="0"/>
          </a:p>
          <a:p>
            <a:r>
              <a:rPr lang="fr-FR" dirty="0"/>
              <a:t>Le jalon </a:t>
            </a:r>
            <a:r>
              <a:rPr lang="fr-FR" b="1" dirty="0"/>
              <a:t>Lancement du projet</a:t>
            </a:r>
            <a:r>
              <a:rPr lang="fr-FR" dirty="0"/>
              <a:t> marque le début du projet. Il est plus logique de le lier à la tâche </a:t>
            </a:r>
            <a:r>
              <a:rPr lang="fr-FR" b="1" dirty="0"/>
              <a:t>Conception / Maquettage</a:t>
            </a:r>
            <a:r>
              <a:rPr lang="fr-FR" dirty="0"/>
              <a:t> ainsi qu’à la tâche </a:t>
            </a:r>
            <a:r>
              <a:rPr lang="fr-FR" b="1" dirty="0"/>
              <a:t>Conception de l’architecture technique</a:t>
            </a:r>
            <a:r>
              <a:rPr lang="fr-FR" dirty="0"/>
              <a:t> par un lien de </a:t>
            </a:r>
            <a:r>
              <a:rPr lang="fr-FR" b="1" dirty="0"/>
              <a:t>Début à Début</a:t>
            </a:r>
            <a:r>
              <a:rPr lang="fr-FR" dirty="0"/>
              <a:t>.</a:t>
            </a:r>
          </a:p>
          <a:p>
            <a:r>
              <a:rPr lang="fr-FR" dirty="0"/>
              <a:t>Double-cliquez sur la tâche </a:t>
            </a:r>
            <a:r>
              <a:rPr lang="fr-FR" b="1" dirty="0"/>
              <a:t>2.1 Conception / Maquettage</a:t>
            </a:r>
            <a:r>
              <a:rPr lang="fr-FR" dirty="0"/>
              <a:t> et affichez l’onglet </a:t>
            </a:r>
            <a:r>
              <a:rPr lang="fr-FR" b="1" dirty="0"/>
              <a:t>Prédécesseurs </a:t>
            </a:r>
            <a:r>
              <a:rPr lang="fr-FR" dirty="0"/>
              <a:t>(dans la boîte de dialogue Informations sur la tâche) ;</a:t>
            </a:r>
          </a:p>
          <a:p>
            <a:r>
              <a:rPr lang="fr-FR" dirty="0"/>
              <a:t>Changer la valeur du champ Type par </a:t>
            </a:r>
            <a:r>
              <a:rPr lang="fr-FR" b="1" dirty="0"/>
              <a:t>Début à Début (DD)</a:t>
            </a:r>
            <a:r>
              <a:rPr lang="fr-FR" dirty="0"/>
              <a:t> puis valider ;</a:t>
            </a:r>
          </a:p>
          <a:p>
            <a:r>
              <a:rPr lang="fr-FR" dirty="0"/>
              <a:t>Faîtes de même pour la tâche </a:t>
            </a:r>
            <a:r>
              <a:rPr lang="fr-FR" b="1" dirty="0"/>
              <a:t>Conception de l’architecture technique</a:t>
            </a:r>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72</a:t>
            </a:fld>
            <a:endParaRPr lang="fr-BE"/>
          </a:p>
        </p:txBody>
      </p:sp>
    </p:spTree>
    <p:extLst>
      <p:ext uri="{BB962C8B-B14F-4D97-AF65-F5344CB8AC3E}">
        <p14:creationId xmlns:p14="http://schemas.microsoft.com/office/powerpoint/2010/main" val="31067363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a:xfrm>
            <a:off x="457200" y="1600200"/>
            <a:ext cx="8301608" cy="4876800"/>
          </a:xfrm>
        </p:spPr>
        <p:txBody>
          <a:bodyPr>
            <a:normAutofit/>
          </a:bodyPr>
          <a:lstStyle/>
          <a:p>
            <a:pPr marL="0" indent="0">
              <a:buNone/>
            </a:pPr>
            <a:r>
              <a:rPr lang="fr-FR" b="1" u="sng" dirty="0"/>
              <a:t>Exercice</a:t>
            </a:r>
            <a:r>
              <a:rPr lang="fr-FR" b="1" dirty="0"/>
              <a:t> - Lien Début à Début (DD) </a:t>
            </a:r>
          </a:p>
          <a:p>
            <a:pPr marL="0" indent="0">
              <a:buNone/>
            </a:pPr>
            <a:endParaRPr lang="fr-FR" b="1" dirty="0"/>
          </a:p>
          <a:p>
            <a:r>
              <a:rPr lang="fr-FR" dirty="0"/>
              <a:t>Les tâches </a:t>
            </a:r>
            <a:r>
              <a:rPr lang="fr-FR" b="1" dirty="0"/>
              <a:t>Formation utilisateurs</a:t>
            </a:r>
            <a:r>
              <a:rPr lang="fr-FR" dirty="0"/>
              <a:t> et </a:t>
            </a:r>
            <a:r>
              <a:rPr lang="fr-FR" b="1" dirty="0"/>
              <a:t>Déploiement</a:t>
            </a:r>
            <a:r>
              <a:rPr lang="fr-FR" dirty="0"/>
              <a:t> seront menées en même temps, dès que la livraison de l’application sera faite.</a:t>
            </a:r>
          </a:p>
          <a:p>
            <a:pPr marL="0" indent="0">
              <a:buNone/>
            </a:pPr>
            <a:endParaRPr lang="fr-FR" dirty="0"/>
          </a:p>
          <a:p>
            <a:r>
              <a:rPr lang="fr-FR" dirty="0"/>
              <a:t>Procédez de la même manière pour définir sur la tâche </a:t>
            </a:r>
            <a:r>
              <a:rPr lang="fr-FR" b="1" dirty="0"/>
              <a:t>Déploiement</a:t>
            </a:r>
            <a:r>
              <a:rPr lang="fr-FR" dirty="0"/>
              <a:t> un lien </a:t>
            </a:r>
            <a:r>
              <a:rPr lang="fr-FR" b="1" dirty="0"/>
              <a:t>Début à Début (DD)</a:t>
            </a:r>
            <a:r>
              <a:rPr lang="fr-FR" dirty="0"/>
              <a:t> avec la tâche </a:t>
            </a:r>
            <a:r>
              <a:rPr lang="fr-FR" b="1" dirty="0"/>
              <a:t>Formation utilisateurs</a:t>
            </a:r>
            <a:r>
              <a:rPr lang="fr-FR" dirty="0"/>
              <a:t> au lieu du lien </a:t>
            </a:r>
            <a:r>
              <a:rPr lang="fr-FR" b="1" dirty="0"/>
              <a:t>Fin à Début (FD)</a:t>
            </a:r>
            <a:r>
              <a:rPr lang="fr-FR" dirty="0"/>
              <a:t> avec la tâche </a:t>
            </a:r>
            <a:r>
              <a:rPr lang="fr-FR" b="1" dirty="0"/>
              <a:t>Livraison</a:t>
            </a:r>
            <a:r>
              <a:rPr lang="fr-FR" dirty="0"/>
              <a:t>.</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73</a:t>
            </a:fld>
            <a:endParaRPr lang="fr-BE"/>
          </a:p>
        </p:txBody>
      </p:sp>
    </p:spTree>
    <p:extLst>
      <p:ext uri="{BB962C8B-B14F-4D97-AF65-F5344CB8AC3E}">
        <p14:creationId xmlns:p14="http://schemas.microsoft.com/office/powerpoint/2010/main" val="23530484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p:txBody>
          <a:bodyPr>
            <a:normAutofit fontScale="70000" lnSpcReduction="20000"/>
          </a:bodyPr>
          <a:lstStyle/>
          <a:p>
            <a:pPr marL="0" indent="0">
              <a:buNone/>
            </a:pPr>
            <a:r>
              <a:rPr lang="fr-FR" b="1" dirty="0"/>
              <a:t>Ajouter un retard :</a:t>
            </a:r>
          </a:p>
          <a:p>
            <a:pPr marL="0" indent="0">
              <a:buNone/>
            </a:pPr>
            <a:endParaRPr lang="fr-FR" dirty="0"/>
          </a:p>
          <a:p>
            <a:r>
              <a:rPr lang="fr-FR" dirty="0"/>
              <a:t>La réalisation des développements ne s’effectuent pas à la fin de la période de conception correspondante mais dès que 50% de la tâche de conception est achevée.</a:t>
            </a:r>
          </a:p>
          <a:p>
            <a:endParaRPr lang="fr-FR" dirty="0"/>
          </a:p>
          <a:p>
            <a:r>
              <a:rPr lang="fr-FR" b="1" dirty="0"/>
              <a:t>Par exemple</a:t>
            </a:r>
            <a:r>
              <a:rPr lang="fr-FR" dirty="0"/>
              <a:t>, le développement des écrans commence dès que la tâche de conception des écrans est achevée de 50 %</a:t>
            </a:r>
          </a:p>
          <a:p>
            <a:pPr marL="0" indent="0">
              <a:buNone/>
            </a:pPr>
            <a:endParaRPr lang="fr-FR" dirty="0"/>
          </a:p>
          <a:p>
            <a:r>
              <a:rPr lang="fr-FR" dirty="0"/>
              <a:t>Vous aller ajouter un </a:t>
            </a:r>
            <a:r>
              <a:rPr lang="fr-FR" b="1" dirty="0"/>
              <a:t>retard négatif</a:t>
            </a:r>
            <a:r>
              <a:rPr lang="fr-FR" dirty="0"/>
              <a:t> sur la tâche </a:t>
            </a:r>
            <a:r>
              <a:rPr lang="fr-FR" b="1" dirty="0"/>
              <a:t>Écrans</a:t>
            </a:r>
            <a:r>
              <a:rPr lang="fr-FR" dirty="0"/>
              <a:t> de </a:t>
            </a:r>
            <a:r>
              <a:rPr lang="fr-FR" b="1" dirty="0"/>
              <a:t>Réalisation des développements</a:t>
            </a:r>
            <a:r>
              <a:rPr lang="fr-FR" dirty="0"/>
              <a:t> pour que cette tâche commence dès que la moitié de la durée de son prédécesseur (</a:t>
            </a:r>
            <a:r>
              <a:rPr lang="fr-FR" b="1" dirty="0"/>
              <a:t>Écrans</a:t>
            </a:r>
            <a:r>
              <a:rPr lang="fr-FR" dirty="0"/>
              <a:t> de </a:t>
            </a:r>
            <a:r>
              <a:rPr lang="fr-FR" b="1" dirty="0"/>
              <a:t>Conception des développements</a:t>
            </a:r>
            <a:r>
              <a:rPr lang="fr-FR" dirty="0"/>
              <a:t>) sera écoulée. Les barres des deux tâches vont se recouvrir ; il s’agit d’un chevauchement de tâches.</a:t>
            </a:r>
          </a:p>
          <a:p>
            <a:endParaRPr lang="fr-FR" dirty="0"/>
          </a:p>
          <a:p>
            <a:pPr marL="0" indent="0">
              <a:buNone/>
            </a:pPr>
            <a:r>
              <a:rPr lang="fr-FR" b="1" u="sng" dirty="0"/>
              <a:t>Application</a:t>
            </a:r>
            <a:r>
              <a:rPr lang="fr-FR" b="1" dirty="0"/>
              <a:t> :</a:t>
            </a:r>
          </a:p>
          <a:p>
            <a:r>
              <a:rPr lang="fr-FR" dirty="0"/>
              <a:t>Sélectionnez la tâche </a:t>
            </a:r>
            <a:r>
              <a:rPr lang="fr-FR" b="1" dirty="0"/>
              <a:t>Écrans</a:t>
            </a:r>
            <a:r>
              <a:rPr lang="fr-FR" dirty="0"/>
              <a:t> (</a:t>
            </a:r>
            <a:r>
              <a:rPr lang="fr-FR" b="1" dirty="0"/>
              <a:t>de Réalisation des développements</a:t>
            </a:r>
            <a:r>
              <a:rPr lang="fr-FR" dirty="0"/>
              <a:t>) ;</a:t>
            </a:r>
          </a:p>
          <a:p>
            <a:r>
              <a:rPr lang="fr-FR" dirty="0"/>
              <a:t>Dans l’onglet </a:t>
            </a:r>
            <a:r>
              <a:rPr lang="fr-FR" b="1" dirty="0"/>
              <a:t>Tâche</a:t>
            </a:r>
            <a:r>
              <a:rPr lang="fr-FR" dirty="0"/>
              <a:t>, cliquez sur </a:t>
            </a:r>
            <a:r>
              <a:rPr lang="fr-FR" b="1" dirty="0"/>
              <a:t>Informations</a:t>
            </a:r>
            <a:r>
              <a:rPr lang="fr-FR" dirty="0"/>
              <a:t> dans la zone </a:t>
            </a:r>
            <a:r>
              <a:rPr lang="fr-FR" b="1" dirty="0"/>
              <a:t>Propriétés</a:t>
            </a:r>
            <a:r>
              <a:rPr lang="fr-FR" dirty="0"/>
              <a:t> ;</a:t>
            </a:r>
          </a:p>
          <a:p>
            <a:r>
              <a:rPr lang="fr-FR" dirty="0"/>
              <a:t>Dans l’onglet </a:t>
            </a:r>
            <a:r>
              <a:rPr lang="fr-FR" b="1" dirty="0"/>
              <a:t>Prédécesseurs</a:t>
            </a:r>
            <a:r>
              <a:rPr lang="fr-FR" dirty="0"/>
              <a:t>, saisissez la valeur </a:t>
            </a:r>
            <a:r>
              <a:rPr lang="fr-FR" b="1" dirty="0"/>
              <a:t>-50%</a:t>
            </a:r>
            <a:r>
              <a:rPr lang="fr-FR" dirty="0"/>
              <a:t> dans le champ </a:t>
            </a:r>
            <a:r>
              <a:rPr lang="fr-FR" b="1" dirty="0"/>
              <a:t>Retard (Décalage)</a:t>
            </a:r>
            <a:r>
              <a:rPr lang="fr-FR" dirty="0"/>
              <a:t>.</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74</a:t>
            </a:fld>
            <a:endParaRPr lang="fr-BE"/>
          </a:p>
        </p:txBody>
      </p:sp>
    </p:spTree>
    <p:extLst>
      <p:ext uri="{BB962C8B-B14F-4D97-AF65-F5344CB8AC3E}">
        <p14:creationId xmlns:p14="http://schemas.microsoft.com/office/powerpoint/2010/main" val="22851671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a:xfrm>
            <a:off x="251520" y="1600200"/>
            <a:ext cx="8712968" cy="4876800"/>
          </a:xfrm>
        </p:spPr>
        <p:txBody>
          <a:bodyPr>
            <a:normAutofit fontScale="92500" lnSpcReduction="10000"/>
          </a:bodyPr>
          <a:lstStyle/>
          <a:p>
            <a:pPr marL="0" indent="0">
              <a:buNone/>
            </a:pPr>
            <a:r>
              <a:rPr lang="fr-FR" b="1" u="sng" dirty="0"/>
              <a:t>Exercice </a:t>
            </a:r>
            <a:r>
              <a:rPr lang="fr-FR" b="1" dirty="0"/>
              <a:t>: Chevauchement des tâches – retard négatif </a:t>
            </a:r>
          </a:p>
          <a:p>
            <a:pPr marL="0" indent="0">
              <a:buNone/>
            </a:pPr>
            <a:endParaRPr lang="fr-FR" b="1" dirty="0"/>
          </a:p>
          <a:p>
            <a:r>
              <a:rPr lang="fr-FR" dirty="0"/>
              <a:t>Procédez de la même manière pour définir un retard négatif de 50% pour les tâches </a:t>
            </a:r>
            <a:r>
              <a:rPr lang="fr-FR" b="1" dirty="0"/>
              <a:t>Contrôles</a:t>
            </a:r>
            <a:r>
              <a:rPr lang="fr-FR" dirty="0"/>
              <a:t>, </a:t>
            </a:r>
            <a:r>
              <a:rPr lang="fr-FR" b="1" dirty="0"/>
              <a:t>Sécurité</a:t>
            </a:r>
            <a:r>
              <a:rPr lang="fr-FR" dirty="0"/>
              <a:t> et </a:t>
            </a:r>
            <a:r>
              <a:rPr lang="fr-FR" b="1" dirty="0"/>
              <a:t>Simulation (Tests techniques)</a:t>
            </a:r>
            <a:r>
              <a:rPr lang="fr-FR" dirty="0"/>
              <a:t> de </a:t>
            </a:r>
            <a:r>
              <a:rPr lang="fr-FR" b="1" dirty="0"/>
              <a:t>Réalisation des développements</a:t>
            </a:r>
            <a:r>
              <a:rPr lang="fr-FR" dirty="0"/>
              <a:t>.</a:t>
            </a:r>
            <a:br>
              <a:rPr lang="fr-FR" dirty="0"/>
            </a:br>
            <a:br>
              <a:rPr lang="fr-FR" dirty="0"/>
            </a:br>
            <a:r>
              <a:rPr lang="fr-FR" i="1" dirty="0"/>
              <a:t>Attention, ne l’appliquer que sur les 1ères tâches à chaque fois &gt; Celles qui correspondent bien à la partie Réalisation des développements.</a:t>
            </a:r>
          </a:p>
          <a:p>
            <a:pPr marL="0" indent="0">
              <a:buNone/>
            </a:pPr>
            <a:endParaRPr lang="fr-FR" dirty="0"/>
          </a:p>
          <a:p>
            <a:r>
              <a:rPr lang="fr-FR" dirty="0"/>
              <a:t>Définissez également un retard de 10 jours pour la tâche </a:t>
            </a:r>
            <a:r>
              <a:rPr lang="fr-FR" b="1" dirty="0"/>
              <a:t>Conception de l’architecture technique</a:t>
            </a:r>
            <a:r>
              <a:rPr lang="fr-FR" dirty="0"/>
              <a:t>. </a:t>
            </a:r>
          </a:p>
          <a:p>
            <a:r>
              <a:rPr lang="fr-FR" dirty="0">
                <a:solidFill>
                  <a:schemeClr val="tx2"/>
                </a:solidFill>
              </a:rPr>
              <a:t>Vous devriez obtenir une durée totale du projet diminuée et qui est maintenant de </a:t>
            </a:r>
            <a:r>
              <a:rPr lang="fr-FR" b="1" dirty="0">
                <a:solidFill>
                  <a:schemeClr val="tx2"/>
                </a:solidFill>
              </a:rPr>
              <a:t>190</a:t>
            </a:r>
            <a:r>
              <a:rPr lang="fr-FR" dirty="0">
                <a:solidFill>
                  <a:schemeClr val="tx2"/>
                </a:solidFill>
              </a:rPr>
              <a:t> jours </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75</a:t>
            </a:fld>
            <a:endParaRPr lang="fr-BE"/>
          </a:p>
        </p:txBody>
      </p:sp>
    </p:spTree>
    <p:extLst>
      <p:ext uri="{BB962C8B-B14F-4D97-AF65-F5344CB8AC3E}">
        <p14:creationId xmlns:p14="http://schemas.microsoft.com/office/powerpoint/2010/main" val="30421027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p:txBody>
          <a:bodyPr>
            <a:normAutofit fontScale="92500" lnSpcReduction="20000"/>
          </a:bodyPr>
          <a:lstStyle/>
          <a:p>
            <a:pPr marL="0" indent="0">
              <a:buNone/>
            </a:pPr>
            <a:r>
              <a:rPr lang="fr-FR" b="1" dirty="0"/>
              <a:t>Visualiser les statistiques du projet, pour mettre à jour la tâche « Pilotage »</a:t>
            </a:r>
          </a:p>
          <a:p>
            <a:pPr marL="0" indent="0">
              <a:buNone/>
            </a:pPr>
            <a:endParaRPr lang="fr-FR" dirty="0"/>
          </a:p>
          <a:p>
            <a:r>
              <a:rPr lang="fr-FR" dirty="0"/>
              <a:t>Dans l’onglet </a:t>
            </a:r>
            <a:r>
              <a:rPr lang="fr-FR" b="1" dirty="0"/>
              <a:t>Projet</a:t>
            </a:r>
            <a:r>
              <a:rPr lang="fr-FR" dirty="0"/>
              <a:t>, vous pouvez visualiser les statistiques du projet en cliquant sur </a:t>
            </a:r>
            <a:r>
              <a:rPr lang="fr-FR" b="1" dirty="0"/>
              <a:t>Informations, </a:t>
            </a:r>
            <a:r>
              <a:rPr lang="fr-FR" dirty="0"/>
              <a:t>puis sur le bouton Statistiques (dans la fenêtre en bas, à gauche).</a:t>
            </a:r>
          </a:p>
          <a:p>
            <a:r>
              <a:rPr lang="fr-FR" dirty="0"/>
              <a:t>Cet écran/fenêtre permet de voir la </a:t>
            </a:r>
            <a:r>
              <a:rPr lang="fr-FR" b="1" dirty="0"/>
              <a:t>date à laquelle le projet est prévu de se terminer</a:t>
            </a:r>
            <a:r>
              <a:rPr lang="fr-FR" dirty="0"/>
              <a:t>. </a:t>
            </a:r>
          </a:p>
          <a:p>
            <a:endParaRPr lang="fr-FR" dirty="0"/>
          </a:p>
          <a:p>
            <a:r>
              <a:rPr lang="fr-FR" b="1" dirty="0"/>
              <a:t>Maintenant que vous connaissez la durée du projet, vous pouvez mettre à jour la tâche Pilotage :</a:t>
            </a:r>
          </a:p>
          <a:p>
            <a:pPr lvl="1">
              <a:buFontTx/>
              <a:buChar char="-"/>
            </a:pPr>
            <a:r>
              <a:rPr lang="fr-FR" dirty="0"/>
              <a:t>Durée : XX jours (voir dans « Statistiques ») </a:t>
            </a:r>
            <a:r>
              <a:rPr lang="fr-FR" sz="1700" dirty="0">
                <a:solidFill>
                  <a:srgbClr val="FF0000"/>
                </a:solidFill>
              </a:rPr>
              <a:t>=&gt; En l’occurrence 190 jours</a:t>
            </a:r>
          </a:p>
          <a:p>
            <a:pPr lvl="1">
              <a:buFontTx/>
              <a:buChar char="-"/>
            </a:pPr>
            <a:r>
              <a:rPr lang="fr-FR" dirty="0"/>
              <a:t>Lien </a:t>
            </a:r>
            <a:r>
              <a:rPr lang="fr-FR" b="1" dirty="0"/>
              <a:t>Début à Début (DD)</a:t>
            </a:r>
            <a:r>
              <a:rPr lang="fr-FR" dirty="0"/>
              <a:t> avec la tâche </a:t>
            </a:r>
            <a:r>
              <a:rPr lang="fr-FR" b="1" dirty="0"/>
              <a:t>Lancement du projet</a:t>
            </a:r>
            <a:endParaRPr lang="fr-FR" dirty="0"/>
          </a:p>
          <a:p>
            <a:pPr lvl="1">
              <a:buFontTx/>
              <a:buChar char="-"/>
            </a:pPr>
            <a:r>
              <a:rPr lang="fr-FR" dirty="0"/>
              <a:t>Lien </a:t>
            </a:r>
            <a:r>
              <a:rPr lang="fr-FR" b="1" dirty="0"/>
              <a:t>Fin à Fin (FF)</a:t>
            </a:r>
            <a:r>
              <a:rPr lang="fr-FR" dirty="0"/>
              <a:t> avec la tâche </a:t>
            </a:r>
            <a:r>
              <a:rPr lang="fr-FR" b="1" dirty="0"/>
              <a:t>Déploiement </a:t>
            </a:r>
            <a:r>
              <a:rPr lang="fr-FR" sz="1700" dirty="0">
                <a:solidFill>
                  <a:srgbClr val="FF0000"/>
                </a:solidFill>
              </a:rPr>
              <a:t>=&gt; Ajouter au préalable la tâche 21. Déploiement en tant que prédécesseur de la tâche 22. Pilotage</a:t>
            </a:r>
          </a:p>
          <a:p>
            <a:pPr lvl="1">
              <a:buFontTx/>
              <a:buChar char="-"/>
            </a:pPr>
            <a:endParaRPr lang="fr-FR" dirty="0"/>
          </a:p>
          <a:p>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76</a:t>
            </a:fld>
            <a:endParaRPr lang="fr-BE"/>
          </a:p>
        </p:txBody>
      </p:sp>
    </p:spTree>
    <p:extLst>
      <p:ext uri="{BB962C8B-B14F-4D97-AF65-F5344CB8AC3E}">
        <p14:creationId xmlns:p14="http://schemas.microsoft.com/office/powerpoint/2010/main" val="25265085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a:xfrm>
            <a:off x="323528" y="1600200"/>
            <a:ext cx="8435280" cy="4876800"/>
          </a:xfrm>
        </p:spPr>
        <p:txBody>
          <a:bodyPr>
            <a:normAutofit/>
          </a:bodyPr>
          <a:lstStyle/>
          <a:p>
            <a:pPr marL="0" indent="0" algn="just">
              <a:buNone/>
            </a:pPr>
            <a:r>
              <a:rPr lang="en-US" b="1" dirty="0">
                <a:solidFill>
                  <a:schemeClr val="accent5"/>
                </a:solidFill>
              </a:rPr>
              <a:t>D. </a:t>
            </a:r>
            <a:r>
              <a:rPr lang="fr-FR" b="1" dirty="0">
                <a:solidFill>
                  <a:schemeClr val="accent5"/>
                </a:solidFill>
              </a:rPr>
              <a:t>Marge et Chemin critique</a:t>
            </a:r>
          </a:p>
          <a:p>
            <a:pPr marL="0" indent="0" algn="just">
              <a:buNone/>
            </a:pPr>
            <a:endParaRPr lang="fr-FR" b="1" dirty="0"/>
          </a:p>
          <a:p>
            <a:pPr algn="just"/>
            <a:r>
              <a:rPr lang="fr-FR" dirty="0"/>
              <a:t>MS Project a utilisé les durées des tâches et les liens pour calculer la durée du projet. </a:t>
            </a:r>
          </a:p>
          <a:p>
            <a:pPr algn="just"/>
            <a:r>
              <a:rPr lang="fr-FR" dirty="0"/>
              <a:t>Le logiciel peut également afficher différemment les Tâches critiques et les Tâches non critiques.</a:t>
            </a:r>
          </a:p>
          <a:p>
            <a:pPr algn="just"/>
            <a:r>
              <a:rPr lang="fr-FR" dirty="0"/>
              <a:t>Dans l’onglet </a:t>
            </a:r>
            <a:r>
              <a:rPr lang="fr-FR" b="1" dirty="0"/>
              <a:t>Format</a:t>
            </a:r>
            <a:r>
              <a:rPr lang="fr-FR" dirty="0"/>
              <a:t>, cochez l’option </a:t>
            </a:r>
            <a:r>
              <a:rPr lang="fr-FR" b="1" dirty="0"/>
              <a:t>Tâches critiques</a:t>
            </a:r>
            <a:r>
              <a:rPr lang="fr-FR" dirty="0"/>
              <a:t>, dans la zone Styles des barres ;</a:t>
            </a:r>
          </a:p>
          <a:p>
            <a:pPr algn="just"/>
            <a:r>
              <a:rPr lang="fr-FR" dirty="0"/>
              <a:t>Le chemin critique s’affiche maintenant en rouge alors que les Tâches non critiques restent en bleu.</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77</a:t>
            </a:fld>
            <a:endParaRPr lang="fr-BE"/>
          </a:p>
        </p:txBody>
      </p:sp>
    </p:spTree>
    <p:extLst>
      <p:ext uri="{BB962C8B-B14F-4D97-AF65-F5344CB8AC3E}">
        <p14:creationId xmlns:p14="http://schemas.microsoft.com/office/powerpoint/2010/main" val="496035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a:xfrm>
            <a:off x="323528" y="1600200"/>
            <a:ext cx="8435280" cy="4876800"/>
          </a:xfrm>
        </p:spPr>
        <p:txBody>
          <a:bodyPr>
            <a:normAutofit/>
          </a:bodyPr>
          <a:lstStyle/>
          <a:p>
            <a:r>
              <a:rPr lang="fr-FR" dirty="0"/>
              <a:t>La marge des tâches est calculée comme la différence entre la date de fin prévue (ou Fin au plus tôt) et la date de fin au plus tard d’une tâche.</a:t>
            </a:r>
          </a:p>
          <a:p>
            <a:pPr marL="0" indent="0">
              <a:buNone/>
            </a:pPr>
            <a:endParaRPr lang="fr-FR" b="1" dirty="0"/>
          </a:p>
          <a:p>
            <a:r>
              <a:rPr lang="fr-FR" b="1" dirty="0"/>
              <a:t>Pour faire afficher les marges des tâches non critiques du projet :</a:t>
            </a:r>
          </a:p>
          <a:p>
            <a:endParaRPr lang="fr-FR" dirty="0"/>
          </a:p>
          <a:p>
            <a:pPr lvl="1">
              <a:buFontTx/>
              <a:buChar char="-"/>
            </a:pPr>
            <a:r>
              <a:rPr lang="fr-FR" dirty="0"/>
              <a:t>Dans l’onglet </a:t>
            </a:r>
            <a:r>
              <a:rPr lang="fr-FR" b="1" dirty="0"/>
              <a:t>Format</a:t>
            </a:r>
            <a:r>
              <a:rPr lang="fr-FR" dirty="0"/>
              <a:t>, cochez l’option </a:t>
            </a:r>
            <a:r>
              <a:rPr lang="fr-FR" b="1" dirty="0"/>
              <a:t>Marge</a:t>
            </a:r>
            <a:r>
              <a:rPr lang="fr-FR" dirty="0"/>
              <a:t> de la zone </a:t>
            </a:r>
            <a:r>
              <a:rPr lang="fr-FR" b="1" dirty="0"/>
              <a:t>Styles des barres</a:t>
            </a:r>
            <a:endParaRPr lang="fr-FR" dirty="0"/>
          </a:p>
          <a:p>
            <a:pPr lvl="1">
              <a:buFontTx/>
              <a:buChar char="-"/>
            </a:pPr>
            <a:r>
              <a:rPr lang="fr-FR" dirty="0"/>
              <a:t>Chaque marge est représentée par un trait qui se rajoute à droite de la barre de la tâche dans le </a:t>
            </a:r>
            <a:r>
              <a:rPr lang="fr-FR" b="1" dirty="0"/>
              <a:t>Diagramme de Gantt</a:t>
            </a:r>
            <a:r>
              <a:rPr lang="fr-FR" dirty="0"/>
              <a:t>.</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78</a:t>
            </a:fld>
            <a:endParaRPr lang="fr-BE"/>
          </a:p>
        </p:txBody>
      </p:sp>
    </p:spTree>
    <p:extLst>
      <p:ext uri="{BB962C8B-B14F-4D97-AF65-F5344CB8AC3E}">
        <p14:creationId xmlns:p14="http://schemas.microsoft.com/office/powerpoint/2010/main" val="38234709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3. Ordonnancement du projet</a:t>
            </a:r>
          </a:p>
        </p:txBody>
      </p:sp>
      <p:sp>
        <p:nvSpPr>
          <p:cNvPr id="3" name="Espace réservé du contenu 2"/>
          <p:cNvSpPr>
            <a:spLocks noGrp="1"/>
          </p:cNvSpPr>
          <p:nvPr>
            <p:ph idx="1"/>
          </p:nvPr>
        </p:nvSpPr>
        <p:spPr>
          <a:xfrm>
            <a:off x="323528" y="1600200"/>
            <a:ext cx="8435280" cy="4876800"/>
          </a:xfrm>
        </p:spPr>
        <p:txBody>
          <a:bodyPr>
            <a:normAutofit lnSpcReduction="10000"/>
          </a:bodyPr>
          <a:lstStyle/>
          <a:p>
            <a:r>
              <a:rPr lang="fr-FR" b="1" u="sng" dirty="0"/>
              <a:t>Pour faire afficher en jour</a:t>
            </a:r>
            <a:r>
              <a:rPr lang="fr-FR" b="1" dirty="0"/>
              <a:t> les marges des tâches non critiques du projet : </a:t>
            </a:r>
          </a:p>
          <a:p>
            <a:pPr>
              <a:buFontTx/>
              <a:buChar char="-"/>
            </a:pPr>
            <a:r>
              <a:rPr lang="fr-FR" dirty="0"/>
              <a:t>Dans l’onglet </a:t>
            </a:r>
            <a:r>
              <a:rPr lang="fr-FR" b="1" dirty="0"/>
              <a:t>Tâche</a:t>
            </a:r>
            <a:r>
              <a:rPr lang="fr-FR" dirty="0"/>
              <a:t>, cliquez sur la flèche de liste du bouton </a:t>
            </a:r>
            <a:r>
              <a:rPr lang="fr-FR" b="1" dirty="0"/>
              <a:t>Diagramme de Gantt</a:t>
            </a:r>
            <a:r>
              <a:rPr lang="fr-FR" dirty="0"/>
              <a:t>, puis sur l’option </a:t>
            </a:r>
            <a:r>
              <a:rPr lang="fr-FR" b="1" dirty="0"/>
              <a:t>Plus d’affichages</a:t>
            </a:r>
            <a:r>
              <a:rPr lang="fr-FR" dirty="0"/>
              <a:t> du menu déroulant.</a:t>
            </a:r>
          </a:p>
          <a:p>
            <a:pPr>
              <a:buFontTx/>
              <a:buChar char="-"/>
            </a:pPr>
            <a:r>
              <a:rPr lang="fr-FR" dirty="0"/>
              <a:t>Dans la boîte de dialogue </a:t>
            </a:r>
            <a:r>
              <a:rPr lang="fr-FR" b="1" dirty="0"/>
              <a:t>Plus d’affichages</a:t>
            </a:r>
            <a:r>
              <a:rPr lang="fr-FR" dirty="0"/>
              <a:t>, sélectionnez </a:t>
            </a:r>
            <a:r>
              <a:rPr lang="fr-FR" b="1" dirty="0"/>
              <a:t>Gantt relatif aux marges</a:t>
            </a:r>
            <a:r>
              <a:rPr lang="fr-FR" dirty="0"/>
              <a:t> et cliquez sur le bouton </a:t>
            </a:r>
            <a:r>
              <a:rPr lang="fr-FR" b="1" dirty="0"/>
              <a:t>Appliquer</a:t>
            </a:r>
            <a:r>
              <a:rPr lang="fr-FR" dirty="0"/>
              <a:t> pour afficher ce nouveau </a:t>
            </a:r>
            <a:r>
              <a:rPr lang="fr-FR" b="1" dirty="0"/>
              <a:t>diagramme de Gantt</a:t>
            </a:r>
            <a:r>
              <a:rPr lang="fr-FR" dirty="0"/>
              <a:t>.</a:t>
            </a:r>
          </a:p>
          <a:p>
            <a:pPr marL="0" indent="0">
              <a:buNone/>
            </a:pPr>
            <a:endParaRPr lang="fr-FR" dirty="0"/>
          </a:p>
          <a:p>
            <a:r>
              <a:rPr lang="fr-FR" dirty="0"/>
              <a:t>La marge affichée est la </a:t>
            </a:r>
            <a:r>
              <a:rPr lang="fr-FR" b="1" dirty="0"/>
              <a:t>marge libre</a:t>
            </a:r>
            <a:r>
              <a:rPr lang="fr-FR" dirty="0"/>
              <a:t>, c’est à dire la marge dont dispose une tâche sans modifier le début d’une autre tâche.</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79</a:t>
            </a:fld>
            <a:endParaRPr lang="fr-BE"/>
          </a:p>
        </p:txBody>
      </p:sp>
    </p:spTree>
    <p:extLst>
      <p:ext uri="{BB962C8B-B14F-4D97-AF65-F5344CB8AC3E}">
        <p14:creationId xmlns:p14="http://schemas.microsoft.com/office/powerpoint/2010/main" val="41524408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611560" y="1371600"/>
            <a:ext cx="8206680" cy="1927225"/>
          </a:xfrm>
        </p:spPr>
        <p:txBody>
          <a:bodyPr/>
          <a:lstStyle/>
          <a:p>
            <a:pPr algn="r"/>
            <a:r>
              <a:rPr lang="fr-FR" dirty="0"/>
              <a:t>4. Gérer LES RESSOURCES</a:t>
            </a:r>
          </a:p>
        </p:txBody>
      </p:sp>
      <p:sp>
        <p:nvSpPr>
          <p:cNvPr id="2" name="Espace réservé du numéro de diapositive 1"/>
          <p:cNvSpPr>
            <a:spLocks noGrp="1"/>
          </p:cNvSpPr>
          <p:nvPr>
            <p:ph type="sldNum" sz="quarter" idx="12"/>
          </p:nvPr>
        </p:nvSpPr>
        <p:spPr/>
        <p:txBody>
          <a:bodyPr/>
          <a:lstStyle/>
          <a:p>
            <a:fld id="{CF4668DC-857F-487D-BFFA-8C0CA5037977}" type="slidenum">
              <a:rPr lang="fr-BE" smtClean="0"/>
              <a:pPr/>
              <a:t>80</a:t>
            </a:fld>
            <a:endParaRPr lang="fr-BE"/>
          </a:p>
        </p:txBody>
      </p:sp>
      <p:sp>
        <p:nvSpPr>
          <p:cNvPr id="3" name="Rectangle 2"/>
          <p:cNvSpPr/>
          <p:nvPr/>
        </p:nvSpPr>
        <p:spPr>
          <a:xfrm>
            <a:off x="611560" y="3676622"/>
            <a:ext cx="8075240" cy="1200329"/>
          </a:xfrm>
          <a:prstGeom prst="rect">
            <a:avLst/>
          </a:prstGeom>
        </p:spPr>
        <p:txBody>
          <a:bodyPr wrap="square">
            <a:spAutoFit/>
          </a:bodyPr>
          <a:lstStyle/>
          <a:p>
            <a:pPr algn="just"/>
            <a:r>
              <a:rPr lang="fr-FR" sz="2400" dirty="0">
                <a:solidFill>
                  <a:srgbClr val="C00000"/>
                </a:solidFill>
                <a:latin typeface="Arial" panose="020B0604020202020204" pitchFamily="34" charset="0"/>
              </a:rPr>
              <a:t>Affecter les ressources aux tâches du projet, en indiquant qui va travailler, combien de temps, à quel taux (à temps plein ou à temps partiel).</a:t>
            </a:r>
            <a:endParaRPr lang="fr-FR" sz="2400" dirty="0">
              <a:solidFill>
                <a:srgbClr val="C00000"/>
              </a:solidFill>
            </a:endParaRPr>
          </a:p>
        </p:txBody>
      </p:sp>
    </p:spTree>
    <p:extLst>
      <p:ext uri="{BB962C8B-B14F-4D97-AF65-F5344CB8AC3E}">
        <p14:creationId xmlns:p14="http://schemas.microsoft.com/office/powerpoint/2010/main" val="7366321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4. Gérer les ressources</a:t>
            </a:r>
          </a:p>
        </p:txBody>
      </p:sp>
      <p:sp>
        <p:nvSpPr>
          <p:cNvPr id="3" name="Espace réservé du contenu 2"/>
          <p:cNvSpPr>
            <a:spLocks noGrp="1"/>
          </p:cNvSpPr>
          <p:nvPr>
            <p:ph idx="1"/>
          </p:nvPr>
        </p:nvSpPr>
        <p:spPr>
          <a:xfrm>
            <a:off x="323528" y="1600200"/>
            <a:ext cx="8435280" cy="4876800"/>
          </a:xfrm>
        </p:spPr>
        <p:txBody>
          <a:bodyPr>
            <a:normAutofit fontScale="85000" lnSpcReduction="20000"/>
          </a:bodyPr>
          <a:lstStyle/>
          <a:p>
            <a:pPr marL="0" indent="0" algn="just">
              <a:buNone/>
            </a:pPr>
            <a:r>
              <a:rPr lang="en-US" b="1" dirty="0">
                <a:solidFill>
                  <a:schemeClr val="accent5"/>
                </a:solidFill>
              </a:rPr>
              <a:t>A. </a:t>
            </a:r>
            <a:r>
              <a:rPr lang="fr-FR" b="1" dirty="0">
                <a:solidFill>
                  <a:schemeClr val="accent5"/>
                </a:solidFill>
              </a:rPr>
              <a:t>Affecter une ressource à une tâche</a:t>
            </a:r>
          </a:p>
          <a:p>
            <a:pPr marL="0" indent="0" algn="just">
              <a:buNone/>
            </a:pPr>
            <a:endParaRPr lang="fr-FR" b="1" dirty="0"/>
          </a:p>
          <a:p>
            <a:r>
              <a:rPr lang="fr-FR" b="1" dirty="0"/>
              <a:t>Nota bene : </a:t>
            </a:r>
            <a:r>
              <a:rPr lang="fr-FR" dirty="0"/>
              <a:t>N’affectez pas de ressources aux jalons ou aux tâches récapitulatives.</a:t>
            </a:r>
          </a:p>
          <a:p>
            <a:pPr marL="0" indent="0">
              <a:buNone/>
            </a:pPr>
            <a:endParaRPr lang="fr-FR" dirty="0"/>
          </a:p>
          <a:p>
            <a:pPr marL="0" indent="0">
              <a:buNone/>
            </a:pPr>
            <a:r>
              <a:rPr lang="fr-FR" b="1" u="sng" dirty="0"/>
              <a:t>Application</a:t>
            </a:r>
            <a:r>
              <a:rPr lang="fr-FR" b="1" dirty="0"/>
              <a:t> : </a:t>
            </a:r>
          </a:p>
          <a:p>
            <a:r>
              <a:rPr lang="fr-FR" dirty="0"/>
              <a:t>Sélectionnez la tâche </a:t>
            </a:r>
            <a:r>
              <a:rPr lang="fr-FR" b="1" dirty="0"/>
              <a:t>2.1 Conception / Maquettage</a:t>
            </a:r>
            <a:r>
              <a:rPr lang="fr-FR" dirty="0"/>
              <a:t> dans le </a:t>
            </a:r>
            <a:r>
              <a:rPr lang="fr-FR" b="1" dirty="0"/>
              <a:t>Diagramme de Gantt</a:t>
            </a:r>
            <a:r>
              <a:rPr lang="fr-FR" dirty="0"/>
              <a:t> ;</a:t>
            </a:r>
          </a:p>
          <a:p>
            <a:r>
              <a:rPr lang="fr-FR" dirty="0"/>
              <a:t>Affichez l’onglet </a:t>
            </a:r>
            <a:r>
              <a:rPr lang="fr-FR" b="1" dirty="0"/>
              <a:t>Ressource</a:t>
            </a:r>
            <a:r>
              <a:rPr lang="fr-FR" dirty="0"/>
              <a:t>, puis cliquez sur le bouton </a:t>
            </a:r>
            <a:r>
              <a:rPr lang="fr-FR" b="1" dirty="0"/>
              <a:t>Affecter les ressources</a:t>
            </a:r>
            <a:r>
              <a:rPr lang="fr-FR" dirty="0"/>
              <a:t> de la zone </a:t>
            </a:r>
            <a:r>
              <a:rPr lang="fr-FR" b="1" dirty="0"/>
              <a:t>Affectations</a:t>
            </a:r>
            <a:r>
              <a:rPr lang="fr-FR" dirty="0"/>
              <a:t>. </a:t>
            </a:r>
          </a:p>
          <a:p>
            <a:r>
              <a:rPr lang="fr-FR" b="1" u="sng" dirty="0"/>
              <a:t>Autre méthode</a:t>
            </a:r>
            <a:r>
              <a:rPr lang="fr-FR" dirty="0"/>
              <a:t>, cliquez-droit sur le nom de la tâche et sélectionnez l’option </a:t>
            </a:r>
            <a:r>
              <a:rPr lang="fr-FR" b="1" dirty="0"/>
              <a:t>Affecter les ressources</a:t>
            </a:r>
            <a:r>
              <a:rPr lang="fr-FR" dirty="0"/>
              <a:t> dans le menu contextuel ;</a:t>
            </a:r>
          </a:p>
          <a:p>
            <a:r>
              <a:rPr lang="fr-FR" dirty="0"/>
              <a:t>Sélectionnez la ressource </a:t>
            </a:r>
            <a:r>
              <a:rPr lang="fr-FR" b="1" dirty="0"/>
              <a:t>Maquettiste</a:t>
            </a:r>
            <a:r>
              <a:rPr lang="fr-FR" dirty="0"/>
              <a:t> et saisissez la valeur </a:t>
            </a:r>
            <a:r>
              <a:rPr lang="fr-FR" b="1" dirty="0"/>
              <a:t>2</a:t>
            </a:r>
            <a:r>
              <a:rPr lang="fr-FR" dirty="0"/>
              <a:t> dans la colonne </a:t>
            </a:r>
            <a:r>
              <a:rPr lang="fr-FR" b="1" dirty="0"/>
              <a:t>Unités</a:t>
            </a:r>
            <a:r>
              <a:rPr lang="fr-FR" dirty="0"/>
              <a:t> puis validez. </a:t>
            </a:r>
          </a:p>
          <a:p>
            <a:r>
              <a:rPr lang="fr-FR" dirty="0"/>
              <a:t>La ressource est maintenant affectée à la tâche.</a:t>
            </a:r>
          </a:p>
          <a:p>
            <a:r>
              <a:rPr lang="fr-FR" dirty="0">
                <a:solidFill>
                  <a:schemeClr val="tx2"/>
                </a:solidFill>
              </a:rPr>
              <a:t>Dans le tableau, vous pouvez ajouter une nouvelle </a:t>
            </a:r>
            <a:r>
              <a:rPr lang="fr-FR" b="1" dirty="0">
                <a:solidFill>
                  <a:schemeClr val="tx2"/>
                </a:solidFill>
              </a:rPr>
              <a:t>colonne « Coût » </a:t>
            </a:r>
            <a:r>
              <a:rPr lang="fr-FR" dirty="0">
                <a:solidFill>
                  <a:schemeClr val="tx2"/>
                </a:solidFill>
              </a:rPr>
              <a:t>pour visualiser le coût de chaque tâche et le coût global du projet.</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81</a:t>
            </a:fld>
            <a:endParaRPr lang="fr-BE"/>
          </a:p>
        </p:txBody>
      </p:sp>
      <p:sp>
        <p:nvSpPr>
          <p:cNvPr id="9" name="Rectangle 8"/>
          <p:cNvSpPr/>
          <p:nvPr/>
        </p:nvSpPr>
        <p:spPr>
          <a:xfrm>
            <a:off x="6251848" y="649052"/>
            <a:ext cx="2736304" cy="7592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Utiliser la vue </a:t>
            </a:r>
          </a:p>
          <a:p>
            <a:pPr algn="ctr"/>
            <a:r>
              <a:rPr lang="fr-FR" dirty="0"/>
              <a:t>« Tableau des tâches »</a:t>
            </a:r>
          </a:p>
        </p:txBody>
      </p:sp>
    </p:spTree>
    <p:extLst>
      <p:ext uri="{BB962C8B-B14F-4D97-AF65-F5344CB8AC3E}">
        <p14:creationId xmlns:p14="http://schemas.microsoft.com/office/powerpoint/2010/main" val="21125289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4. Gérer les ressources</a:t>
            </a:r>
          </a:p>
        </p:txBody>
      </p:sp>
      <p:sp>
        <p:nvSpPr>
          <p:cNvPr id="3" name="Espace réservé du contenu 2"/>
          <p:cNvSpPr>
            <a:spLocks noGrp="1"/>
          </p:cNvSpPr>
          <p:nvPr>
            <p:ph idx="1"/>
          </p:nvPr>
        </p:nvSpPr>
        <p:spPr>
          <a:xfrm>
            <a:off x="323528" y="1600200"/>
            <a:ext cx="8435280" cy="4876800"/>
          </a:xfrm>
        </p:spPr>
        <p:txBody>
          <a:bodyPr>
            <a:normAutofit/>
          </a:bodyPr>
          <a:lstStyle/>
          <a:p>
            <a:pPr marL="0" indent="0" algn="just">
              <a:buNone/>
            </a:pPr>
            <a:r>
              <a:rPr lang="fr-FR" dirty="0"/>
              <a:t>Le coût affiché tient compte de :</a:t>
            </a:r>
          </a:p>
          <a:p>
            <a:pPr lvl="1" algn="just">
              <a:buFontTx/>
              <a:buChar char="-"/>
            </a:pPr>
            <a:r>
              <a:rPr lang="fr-FR" dirty="0"/>
              <a:t>La durée de la tâche (30 jours)</a:t>
            </a:r>
          </a:p>
          <a:p>
            <a:pPr lvl="1" algn="just">
              <a:buFontTx/>
              <a:buChar char="-"/>
            </a:pPr>
            <a:r>
              <a:rPr lang="fr-FR" dirty="0"/>
              <a:t>Le coût ou Taux standard de 500 € / jour </a:t>
            </a:r>
          </a:p>
          <a:p>
            <a:pPr lvl="1" algn="just">
              <a:buFontTx/>
              <a:buChar char="-"/>
            </a:pPr>
            <a:r>
              <a:rPr lang="fr-FR" dirty="0"/>
              <a:t>Le nombre de maquettistes c'est-à-dire 2. </a:t>
            </a:r>
          </a:p>
          <a:p>
            <a:pPr marL="0" indent="0" algn="just">
              <a:buNone/>
            </a:pPr>
            <a:endParaRPr lang="fr-FR" dirty="0"/>
          </a:p>
          <a:p>
            <a:pPr marL="0" indent="0" algn="ctr">
              <a:buNone/>
            </a:pPr>
            <a:r>
              <a:rPr lang="fr-FR" b="1" dirty="0"/>
              <a:t>Coût de la tâche « Conception/Maquettage » :</a:t>
            </a:r>
          </a:p>
          <a:p>
            <a:pPr marL="0" indent="0" algn="ctr">
              <a:buNone/>
            </a:pPr>
            <a:r>
              <a:rPr lang="fr-FR" b="1" dirty="0"/>
              <a:t>30 000 € = 30 x 500 x 2</a:t>
            </a:r>
            <a:endParaRPr lang="fr-FR" b="1" dirty="0">
              <a:solidFill>
                <a:schemeClr val="tx2"/>
              </a:solidFill>
            </a:endParaRP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82</a:t>
            </a:fld>
            <a:endParaRPr lang="fr-BE"/>
          </a:p>
        </p:txBody>
      </p:sp>
    </p:spTree>
    <p:extLst>
      <p:ext uri="{BB962C8B-B14F-4D97-AF65-F5344CB8AC3E}">
        <p14:creationId xmlns:p14="http://schemas.microsoft.com/office/powerpoint/2010/main" val="20567737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4. Gérer les ressources</a:t>
            </a:r>
          </a:p>
        </p:txBody>
      </p:sp>
      <p:sp>
        <p:nvSpPr>
          <p:cNvPr id="3" name="Espace réservé du contenu 2"/>
          <p:cNvSpPr>
            <a:spLocks noGrp="1"/>
          </p:cNvSpPr>
          <p:nvPr>
            <p:ph idx="1"/>
          </p:nvPr>
        </p:nvSpPr>
        <p:spPr>
          <a:xfrm>
            <a:off x="323528" y="1600200"/>
            <a:ext cx="8435280" cy="4876800"/>
          </a:xfrm>
        </p:spPr>
        <p:txBody>
          <a:bodyPr>
            <a:normAutofit lnSpcReduction="10000"/>
          </a:bodyPr>
          <a:lstStyle/>
          <a:p>
            <a:pPr marL="0" indent="0">
              <a:buNone/>
            </a:pPr>
            <a:r>
              <a:rPr lang="fr-FR" b="1" dirty="0"/>
              <a:t>Cas particulier du pilotage du projet </a:t>
            </a:r>
          </a:p>
          <a:p>
            <a:pPr marL="0" indent="0">
              <a:buNone/>
            </a:pPr>
            <a:endParaRPr lang="fr-FR" dirty="0"/>
          </a:p>
          <a:p>
            <a:r>
              <a:rPr lang="fr-FR" dirty="0"/>
              <a:t>Le pilotage du projet est une charge particulière :</a:t>
            </a:r>
          </a:p>
          <a:p>
            <a:pPr lvl="1">
              <a:buFontTx/>
              <a:buChar char="-"/>
            </a:pPr>
            <a:r>
              <a:rPr lang="fr-FR" dirty="0"/>
              <a:t>Elle dure tout le temps du projet</a:t>
            </a:r>
          </a:p>
          <a:p>
            <a:pPr lvl="1">
              <a:buFontTx/>
              <a:buChar char="-"/>
            </a:pPr>
            <a:r>
              <a:rPr lang="fr-FR" dirty="0"/>
              <a:t>Elle ne mobilise le temps de travail d’une personne qu’un moment dans la journée.</a:t>
            </a:r>
          </a:p>
          <a:p>
            <a:pPr lvl="1">
              <a:buFontTx/>
              <a:buChar char="-"/>
            </a:pPr>
            <a:endParaRPr lang="fr-FR" dirty="0"/>
          </a:p>
          <a:p>
            <a:r>
              <a:rPr lang="fr-FR" dirty="0"/>
              <a:t>Vous allez le gérer de la manière suivante :</a:t>
            </a:r>
          </a:p>
          <a:p>
            <a:pPr lvl="1">
              <a:buFontTx/>
              <a:buChar char="-"/>
            </a:pPr>
            <a:r>
              <a:rPr lang="fr-FR" dirty="0"/>
              <a:t>Le </a:t>
            </a:r>
            <a:r>
              <a:rPr lang="fr-FR" b="1" dirty="0"/>
              <a:t>Chef de projet</a:t>
            </a:r>
            <a:r>
              <a:rPr lang="fr-FR" dirty="0"/>
              <a:t> va utiliser une heure chaque jour sur ses 7 heures de travail pour le suivi du projet </a:t>
            </a:r>
          </a:p>
          <a:p>
            <a:pPr lvl="1">
              <a:buFontTx/>
              <a:buChar char="-"/>
            </a:pPr>
            <a:r>
              <a:rPr lang="fr-FR" dirty="0"/>
              <a:t>Affectez la ressource </a:t>
            </a:r>
            <a:r>
              <a:rPr lang="fr-FR" b="1" dirty="0"/>
              <a:t>Chef de projet</a:t>
            </a:r>
            <a:r>
              <a:rPr lang="fr-FR" dirty="0"/>
              <a:t> à la tâche </a:t>
            </a:r>
            <a:r>
              <a:rPr lang="fr-FR" b="1" dirty="0"/>
              <a:t>12 Pilotage</a:t>
            </a:r>
            <a:r>
              <a:rPr lang="fr-FR" dirty="0"/>
              <a:t> en indiquant comme unité </a:t>
            </a:r>
            <a:r>
              <a:rPr lang="fr-FR" b="1" dirty="0"/>
              <a:t>0,14</a:t>
            </a:r>
            <a:r>
              <a:rPr lang="fr-FR" dirty="0"/>
              <a:t> (ce qui correspond à </a:t>
            </a:r>
            <a:r>
              <a:rPr lang="fr-FR" b="1" dirty="0"/>
              <a:t>1 heure</a:t>
            </a:r>
            <a:r>
              <a:rPr lang="fr-FR" dirty="0"/>
              <a:t>).</a:t>
            </a:r>
          </a:p>
          <a:p>
            <a:pPr lvl="1">
              <a:buFontTx/>
              <a:buChar char="-"/>
            </a:pPr>
            <a:r>
              <a:rPr lang="fr-FR" dirty="0"/>
              <a:t>Coût de la tâche Pilotage sur 190 jours de projet = 21 280€</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83</a:t>
            </a:fld>
            <a:endParaRPr lang="fr-BE"/>
          </a:p>
        </p:txBody>
      </p:sp>
    </p:spTree>
    <p:extLst>
      <p:ext uri="{BB962C8B-B14F-4D97-AF65-F5344CB8AC3E}">
        <p14:creationId xmlns:p14="http://schemas.microsoft.com/office/powerpoint/2010/main" val="26486975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4. Gérer les ressources</a:t>
            </a:r>
          </a:p>
        </p:txBody>
      </p:sp>
      <p:sp>
        <p:nvSpPr>
          <p:cNvPr id="3" name="Espace réservé du contenu 2"/>
          <p:cNvSpPr>
            <a:spLocks noGrp="1"/>
          </p:cNvSpPr>
          <p:nvPr>
            <p:ph idx="1"/>
          </p:nvPr>
        </p:nvSpPr>
        <p:spPr>
          <a:xfrm>
            <a:off x="323528" y="1600200"/>
            <a:ext cx="8435280" cy="4876800"/>
          </a:xfrm>
        </p:spPr>
        <p:txBody>
          <a:bodyPr>
            <a:normAutofit/>
          </a:bodyPr>
          <a:lstStyle/>
          <a:p>
            <a:pPr marL="0" indent="0">
              <a:buNone/>
            </a:pPr>
            <a:r>
              <a:rPr lang="fr-FR" b="1" dirty="0"/>
              <a:t>Autre méthode pour afficher / saisir les ressources à affecter à une tâche :</a:t>
            </a:r>
          </a:p>
          <a:p>
            <a:pPr marL="0" indent="0">
              <a:buNone/>
            </a:pPr>
            <a:endParaRPr lang="fr-FR" dirty="0"/>
          </a:p>
          <a:p>
            <a:r>
              <a:rPr lang="fr-FR" u="sng" dirty="0"/>
              <a:t>C’est la méthode la plus complète, car la tâche sur laquelle vous allez affecter les ressources est entièrement détaillée dans une fiche</a:t>
            </a:r>
            <a:r>
              <a:rPr lang="fr-FR" dirty="0"/>
              <a:t>.</a:t>
            </a:r>
          </a:p>
          <a:p>
            <a:r>
              <a:rPr lang="fr-FR" dirty="0"/>
              <a:t>Dans l’onglet </a:t>
            </a:r>
            <a:r>
              <a:rPr lang="fr-FR" b="1" dirty="0"/>
              <a:t>Affichage</a:t>
            </a:r>
            <a:r>
              <a:rPr lang="fr-FR" dirty="0"/>
              <a:t>, cochez l’option </a:t>
            </a:r>
            <a:r>
              <a:rPr lang="fr-FR" b="1" dirty="0"/>
              <a:t>Détails</a:t>
            </a:r>
            <a:r>
              <a:rPr lang="fr-FR" dirty="0"/>
              <a:t> de la zone </a:t>
            </a:r>
            <a:r>
              <a:rPr lang="fr-FR" b="1" dirty="0"/>
              <a:t>Fractionner l’affichage </a:t>
            </a:r>
            <a:r>
              <a:rPr lang="fr-FR" dirty="0"/>
              <a:t>et sélectionnez </a:t>
            </a:r>
            <a:r>
              <a:rPr lang="fr-FR" b="1" dirty="0"/>
              <a:t>Formulaire tâche</a:t>
            </a:r>
            <a:r>
              <a:rPr lang="fr-FR" dirty="0"/>
              <a:t> dans la liste déroulante :</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84</a:t>
            </a:fld>
            <a:endParaRPr lang="fr-BE"/>
          </a:p>
        </p:txBody>
      </p:sp>
    </p:spTree>
    <p:extLst>
      <p:ext uri="{BB962C8B-B14F-4D97-AF65-F5344CB8AC3E}">
        <p14:creationId xmlns:p14="http://schemas.microsoft.com/office/powerpoint/2010/main" val="5741409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4. Gérer les ressources</a:t>
            </a:r>
          </a:p>
        </p:txBody>
      </p:sp>
      <p:sp>
        <p:nvSpPr>
          <p:cNvPr id="3" name="Espace réservé du contenu 2"/>
          <p:cNvSpPr>
            <a:spLocks noGrp="1"/>
          </p:cNvSpPr>
          <p:nvPr>
            <p:ph idx="1"/>
          </p:nvPr>
        </p:nvSpPr>
        <p:spPr>
          <a:xfrm>
            <a:off x="251520" y="1600200"/>
            <a:ext cx="8758808" cy="4876800"/>
          </a:xfrm>
        </p:spPr>
        <p:txBody>
          <a:bodyPr>
            <a:normAutofit/>
          </a:bodyPr>
          <a:lstStyle/>
          <a:p>
            <a:pPr marL="0" indent="0">
              <a:buNone/>
            </a:pPr>
            <a:r>
              <a:rPr lang="fr-FR" b="1" dirty="0"/>
              <a:t>Affecter deux ressources différentes à la même tâche :</a:t>
            </a:r>
          </a:p>
          <a:p>
            <a:pPr marL="0" indent="0">
              <a:buNone/>
            </a:pPr>
            <a:endParaRPr lang="fr-FR" dirty="0"/>
          </a:p>
          <a:p>
            <a:r>
              <a:rPr lang="fr-FR" dirty="0"/>
              <a:t>Sélectionnez la tâche </a:t>
            </a:r>
            <a:r>
              <a:rPr lang="fr-FR" b="1" dirty="0"/>
              <a:t>8. Recette fonctionnelle</a:t>
            </a:r>
            <a:r>
              <a:rPr lang="fr-FR" dirty="0"/>
              <a:t> </a:t>
            </a:r>
          </a:p>
          <a:p>
            <a:r>
              <a:rPr lang="fr-FR" dirty="0"/>
              <a:t>Cliquez-droit pour sélectionnez l’option </a:t>
            </a:r>
            <a:r>
              <a:rPr lang="fr-FR" b="1" dirty="0"/>
              <a:t>Affecter les ressources</a:t>
            </a:r>
            <a:r>
              <a:rPr lang="fr-FR" dirty="0"/>
              <a:t> dans le menu contextuel ;</a:t>
            </a:r>
          </a:p>
          <a:p>
            <a:r>
              <a:rPr lang="fr-FR" dirty="0"/>
              <a:t>Sélectionnez les deux ressources </a:t>
            </a:r>
            <a:r>
              <a:rPr lang="fr-FR" b="1" dirty="0"/>
              <a:t>Chef de projet</a:t>
            </a:r>
            <a:r>
              <a:rPr lang="fr-FR" dirty="0"/>
              <a:t> et </a:t>
            </a:r>
            <a:r>
              <a:rPr lang="fr-FR" b="1" dirty="0"/>
              <a:t>Développeur</a:t>
            </a:r>
            <a:r>
              <a:rPr lang="fr-FR" dirty="0"/>
              <a:t> à l’aide de [Ctrl] + clic, puis cliquez sur le bouton </a:t>
            </a:r>
            <a:r>
              <a:rPr lang="fr-FR" b="1" dirty="0"/>
              <a:t>Affecter</a:t>
            </a:r>
            <a:r>
              <a:rPr lang="fr-FR" dirty="0"/>
              <a:t> de la fenêtre </a:t>
            </a:r>
            <a:r>
              <a:rPr lang="fr-FR" b="1" dirty="0"/>
              <a:t>Affecter les ressources</a:t>
            </a:r>
            <a:r>
              <a:rPr lang="fr-FR" dirty="0"/>
              <a:t> ;</a:t>
            </a:r>
          </a:p>
          <a:p>
            <a:r>
              <a:rPr lang="fr-FR" dirty="0"/>
              <a:t>MS Project a affecté les deux ressources à la tâche sélectionnée avec la quantité standard, soit </a:t>
            </a:r>
            <a:r>
              <a:rPr lang="fr-FR" b="1" dirty="0"/>
              <a:t>1</a:t>
            </a:r>
            <a:r>
              <a:rPr lang="fr-FR" dirty="0"/>
              <a:t>.</a:t>
            </a:r>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85</a:t>
            </a:fld>
            <a:endParaRPr lang="fr-BE"/>
          </a:p>
        </p:txBody>
      </p:sp>
    </p:spTree>
    <p:extLst>
      <p:ext uri="{BB962C8B-B14F-4D97-AF65-F5344CB8AC3E}">
        <p14:creationId xmlns:p14="http://schemas.microsoft.com/office/powerpoint/2010/main" val="11141083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4. Gérer les ressources</a:t>
            </a:r>
          </a:p>
        </p:txBody>
      </p:sp>
      <p:sp>
        <p:nvSpPr>
          <p:cNvPr id="3" name="Espace réservé du contenu 2"/>
          <p:cNvSpPr>
            <a:spLocks noGrp="1"/>
          </p:cNvSpPr>
          <p:nvPr>
            <p:ph idx="1"/>
          </p:nvPr>
        </p:nvSpPr>
        <p:spPr>
          <a:xfrm>
            <a:off x="251520" y="1600200"/>
            <a:ext cx="8758808" cy="4876800"/>
          </a:xfrm>
        </p:spPr>
        <p:txBody>
          <a:bodyPr>
            <a:normAutofit fontScale="70000" lnSpcReduction="20000"/>
          </a:bodyPr>
          <a:lstStyle/>
          <a:p>
            <a:pPr marL="0" indent="0">
              <a:buNone/>
            </a:pPr>
            <a:r>
              <a:rPr lang="fr-FR" b="1" dirty="0"/>
              <a:t>MS Project permet de savoir si la ressource que vous allez affecter est disponible pour travailler sur cette tâche ou si elle est en </a:t>
            </a:r>
            <a:r>
              <a:rPr lang="fr-FR" b="1" u="sng" dirty="0"/>
              <a:t>surutilisation </a:t>
            </a:r>
            <a:endParaRPr lang="fr-FR" b="1" dirty="0"/>
          </a:p>
          <a:p>
            <a:pPr marL="0" indent="0">
              <a:buNone/>
            </a:pPr>
            <a:endParaRPr lang="fr-FR" dirty="0"/>
          </a:p>
          <a:p>
            <a:r>
              <a:rPr lang="fr-FR" dirty="0"/>
              <a:t>Sélectionnez la tâche </a:t>
            </a:r>
            <a:r>
              <a:rPr lang="fr-FR" b="1" dirty="0"/>
              <a:t>Recette fonctionnelle</a:t>
            </a:r>
            <a:r>
              <a:rPr lang="fr-FR" dirty="0"/>
              <a:t> dans le </a:t>
            </a:r>
            <a:r>
              <a:rPr lang="fr-FR" b="1" dirty="0"/>
              <a:t>Diagramme de Gantt</a:t>
            </a:r>
            <a:r>
              <a:rPr lang="fr-FR" dirty="0"/>
              <a:t> et la ressource </a:t>
            </a:r>
            <a:r>
              <a:rPr lang="fr-FR" b="1" dirty="0"/>
              <a:t>Chef de projet</a:t>
            </a:r>
            <a:r>
              <a:rPr lang="fr-FR" dirty="0"/>
              <a:t> dans la fenêtre </a:t>
            </a:r>
            <a:r>
              <a:rPr lang="fr-FR" b="1" dirty="0"/>
              <a:t>Affecter les ressources</a:t>
            </a:r>
            <a:r>
              <a:rPr lang="fr-FR" dirty="0"/>
              <a:t>, puis cliquez sur le bouton </a:t>
            </a:r>
            <a:r>
              <a:rPr lang="fr-FR" b="1" dirty="0"/>
              <a:t>Graphique</a:t>
            </a:r>
            <a:r>
              <a:rPr lang="fr-FR" dirty="0"/>
              <a:t> de la fenêtre </a:t>
            </a:r>
            <a:r>
              <a:rPr lang="fr-FR" b="1" dirty="0"/>
              <a:t>Affecter les ressources</a:t>
            </a:r>
            <a:r>
              <a:rPr lang="fr-FR" dirty="0"/>
              <a:t> ;</a:t>
            </a:r>
          </a:p>
          <a:p>
            <a:r>
              <a:rPr lang="fr-FR" dirty="0"/>
              <a:t>MS Project fractionne l’écran et affiche le </a:t>
            </a:r>
            <a:r>
              <a:rPr lang="fr-FR" b="1" dirty="0"/>
              <a:t>Graphe des ressources</a:t>
            </a:r>
            <a:r>
              <a:rPr lang="fr-FR" dirty="0"/>
              <a:t> dans la partie inférieure de l’écran ;</a:t>
            </a:r>
          </a:p>
          <a:p>
            <a:r>
              <a:rPr lang="fr-FR" dirty="0"/>
              <a:t>Cliquez sur le bouton </a:t>
            </a:r>
            <a:r>
              <a:rPr lang="fr-FR" b="1" dirty="0"/>
              <a:t>Fermer</a:t>
            </a:r>
            <a:r>
              <a:rPr lang="fr-FR" dirty="0"/>
              <a:t> pour fermer la fenêtre </a:t>
            </a:r>
            <a:r>
              <a:rPr lang="fr-FR" b="1" dirty="0"/>
              <a:t>Affecter les ressources</a:t>
            </a:r>
            <a:r>
              <a:rPr lang="fr-FR" dirty="0"/>
              <a:t> ;</a:t>
            </a:r>
          </a:p>
          <a:p>
            <a:r>
              <a:rPr lang="fr-FR" dirty="0"/>
              <a:t>Utilisez la barre de défilement horizontal en bas de l’écran pour vous déplacer dans le graphique pendant la durée de la tâche ; les deux parties de l’affichage étant synchronisées, vous voyez toujours les barres de tâches et l’histogramme de charge ensemble.</a:t>
            </a:r>
          </a:p>
          <a:p>
            <a:r>
              <a:rPr lang="fr-FR" dirty="0"/>
              <a:t>Pour la ressource </a:t>
            </a:r>
            <a:r>
              <a:rPr lang="fr-FR" b="1" dirty="0"/>
              <a:t>Chef de projet,</a:t>
            </a:r>
            <a:r>
              <a:rPr lang="fr-FR" dirty="0"/>
              <a:t> il y a </a:t>
            </a:r>
            <a:r>
              <a:rPr lang="fr-FR" b="1" dirty="0"/>
              <a:t>surutilisation</a:t>
            </a:r>
            <a:r>
              <a:rPr lang="fr-FR" dirty="0"/>
              <a:t> (indiqué en rouge) pour la tâche </a:t>
            </a:r>
            <a:r>
              <a:rPr lang="fr-FR" b="1" dirty="0"/>
              <a:t>Recette fonctionnelle</a:t>
            </a:r>
            <a:r>
              <a:rPr lang="fr-FR" dirty="0"/>
              <a:t> car il travaille 7 heures pour la tâche </a:t>
            </a:r>
            <a:r>
              <a:rPr lang="fr-FR" b="1" dirty="0"/>
              <a:t>Recette fonctionnelle</a:t>
            </a:r>
            <a:r>
              <a:rPr lang="fr-FR" dirty="0"/>
              <a:t> et 1 heure pour la tâche </a:t>
            </a:r>
            <a:r>
              <a:rPr lang="fr-FR" b="1" dirty="0"/>
              <a:t>Pilotage</a:t>
            </a:r>
            <a:r>
              <a:rPr lang="fr-FR" dirty="0"/>
              <a:t>.</a:t>
            </a:r>
          </a:p>
          <a:p>
            <a:r>
              <a:rPr lang="fr-FR" dirty="0">
                <a:solidFill>
                  <a:schemeClr val="tx2"/>
                </a:solidFill>
              </a:rPr>
              <a:t>Vous pouvez corriger cela en indiquant – pour la tâche </a:t>
            </a:r>
            <a:r>
              <a:rPr lang="fr-FR" b="1" dirty="0">
                <a:solidFill>
                  <a:schemeClr val="tx2"/>
                </a:solidFill>
              </a:rPr>
              <a:t>Recette fonctionnelle –</a:t>
            </a:r>
            <a:r>
              <a:rPr lang="fr-FR" dirty="0">
                <a:solidFill>
                  <a:schemeClr val="tx2"/>
                </a:solidFill>
              </a:rPr>
              <a:t> une Unité de </a:t>
            </a:r>
            <a:r>
              <a:rPr lang="fr-FR" b="1" dirty="0">
                <a:solidFill>
                  <a:schemeClr val="tx2"/>
                </a:solidFill>
              </a:rPr>
              <a:t>0,86</a:t>
            </a:r>
            <a:r>
              <a:rPr lang="fr-FR" dirty="0">
                <a:solidFill>
                  <a:schemeClr val="tx2"/>
                </a:solidFill>
              </a:rPr>
              <a:t> (6 heures sur 7 heures). </a:t>
            </a:r>
            <a:br>
              <a:rPr lang="fr-FR" dirty="0">
                <a:solidFill>
                  <a:schemeClr val="tx2"/>
                </a:solidFill>
              </a:rPr>
            </a:br>
            <a:r>
              <a:rPr lang="fr-FR" dirty="0">
                <a:solidFill>
                  <a:schemeClr val="tx2"/>
                </a:solidFill>
                <a:sym typeface="Wingdings" panose="05000000000000000000" pitchFamily="2" charset="2"/>
              </a:rPr>
              <a:t> </a:t>
            </a:r>
            <a:r>
              <a:rPr lang="fr-FR" dirty="0">
                <a:solidFill>
                  <a:schemeClr val="tx2"/>
                </a:solidFill>
              </a:rPr>
              <a:t>En conséquence, la durée de la tâche </a:t>
            </a:r>
            <a:r>
              <a:rPr lang="fr-FR" b="1" dirty="0">
                <a:solidFill>
                  <a:schemeClr val="tx2"/>
                </a:solidFill>
              </a:rPr>
              <a:t>Recette fonctionnelle</a:t>
            </a:r>
            <a:r>
              <a:rPr lang="fr-FR" dirty="0">
                <a:solidFill>
                  <a:schemeClr val="tx2"/>
                </a:solidFill>
              </a:rPr>
              <a:t> a été rallongée à plus de </a:t>
            </a:r>
            <a:r>
              <a:rPr lang="fr-FR" b="1" dirty="0">
                <a:solidFill>
                  <a:schemeClr val="tx2"/>
                </a:solidFill>
              </a:rPr>
              <a:t>23</a:t>
            </a:r>
            <a:r>
              <a:rPr lang="fr-FR" dirty="0">
                <a:solidFill>
                  <a:schemeClr val="tx2"/>
                </a:solidFill>
              </a:rPr>
              <a:t> jours. La durée totale du projet est maintenant de </a:t>
            </a:r>
            <a:r>
              <a:rPr lang="fr-FR" b="1" dirty="0">
                <a:solidFill>
                  <a:schemeClr val="tx2"/>
                </a:solidFill>
              </a:rPr>
              <a:t>195,71 jours</a:t>
            </a:r>
            <a:r>
              <a:rPr lang="fr-FR" dirty="0">
                <a:solidFill>
                  <a:schemeClr val="tx2"/>
                </a:solidFill>
              </a:rPr>
              <a:t>.</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86</a:t>
            </a:fld>
            <a:endParaRPr lang="fr-BE"/>
          </a:p>
        </p:txBody>
      </p:sp>
    </p:spTree>
    <p:extLst>
      <p:ext uri="{BB962C8B-B14F-4D97-AF65-F5344CB8AC3E}">
        <p14:creationId xmlns:p14="http://schemas.microsoft.com/office/powerpoint/2010/main" val="34771101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4. Gérer les ressources</a:t>
            </a:r>
          </a:p>
        </p:txBody>
      </p:sp>
      <p:sp>
        <p:nvSpPr>
          <p:cNvPr id="3" name="Espace réservé du contenu 2"/>
          <p:cNvSpPr>
            <a:spLocks noGrp="1"/>
          </p:cNvSpPr>
          <p:nvPr>
            <p:ph idx="1"/>
          </p:nvPr>
        </p:nvSpPr>
        <p:spPr>
          <a:xfrm>
            <a:off x="251520" y="1600200"/>
            <a:ext cx="8758808" cy="4876800"/>
          </a:xfrm>
        </p:spPr>
        <p:txBody>
          <a:bodyPr>
            <a:normAutofit/>
          </a:bodyPr>
          <a:lstStyle/>
          <a:p>
            <a:pPr marL="0" indent="0">
              <a:buNone/>
            </a:pPr>
            <a:r>
              <a:rPr lang="fr-FR" b="1" u="sng" dirty="0"/>
              <a:t>Exercice</a:t>
            </a:r>
            <a:r>
              <a:rPr lang="fr-FR" b="1" dirty="0"/>
              <a:t> - Affectez les ressources à l’aide du tableau ci-après (ne réaffectez pas aux tâches les ressources assignées précédemment) et visualiser le coût par tâche et le coût total du projet.</a:t>
            </a:r>
            <a:endParaRPr lang="fr-FR" b="1" dirty="0">
              <a:solidFill>
                <a:schemeClr val="tx2"/>
              </a:solidFill>
            </a:endParaRP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87</a:t>
            </a:fld>
            <a:endParaRPr lang="fr-BE"/>
          </a:p>
        </p:txBody>
      </p:sp>
    </p:spTree>
    <p:extLst>
      <p:ext uri="{BB962C8B-B14F-4D97-AF65-F5344CB8AC3E}">
        <p14:creationId xmlns:p14="http://schemas.microsoft.com/office/powerpoint/2010/main" val="31148869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F4668DC-857F-487D-BFFA-8C0CA5037977}" type="slidenum">
              <a:rPr lang="fr-BE" smtClean="0"/>
              <a:pPr/>
              <a:t>88</a:t>
            </a:fld>
            <a:endParaRPr lang="fr-BE"/>
          </a:p>
        </p:txBody>
      </p:sp>
      <p:graphicFrame>
        <p:nvGraphicFramePr>
          <p:cNvPr id="6" name="Espace réservé du contenu 5"/>
          <p:cNvGraphicFramePr>
            <a:graphicFrameLocks noGrp="1"/>
          </p:cNvGraphicFramePr>
          <p:nvPr>
            <p:ph idx="1"/>
          </p:nvPr>
        </p:nvGraphicFramePr>
        <p:xfrm>
          <a:off x="601216" y="466938"/>
          <a:ext cx="8075240" cy="6202422"/>
        </p:xfrm>
        <a:graphic>
          <a:graphicData uri="http://schemas.openxmlformats.org/drawingml/2006/table">
            <a:tbl>
              <a:tblPr/>
              <a:tblGrid>
                <a:gridCol w="4037620">
                  <a:extLst>
                    <a:ext uri="{9D8B030D-6E8A-4147-A177-3AD203B41FA5}">
                      <a16:colId xmlns:a16="http://schemas.microsoft.com/office/drawing/2014/main" val="20000"/>
                    </a:ext>
                  </a:extLst>
                </a:gridCol>
                <a:gridCol w="4037620">
                  <a:extLst>
                    <a:ext uri="{9D8B030D-6E8A-4147-A177-3AD203B41FA5}">
                      <a16:colId xmlns:a16="http://schemas.microsoft.com/office/drawing/2014/main" val="20001"/>
                    </a:ext>
                  </a:extLst>
                </a:gridCol>
              </a:tblGrid>
              <a:tr h="275747">
                <a:tc>
                  <a:txBody>
                    <a:bodyPr/>
                    <a:lstStyle/>
                    <a:p>
                      <a:pPr algn="l" fontAlgn="t"/>
                      <a:r>
                        <a:rPr lang="fr-FR" sz="1600" b="1" dirty="0">
                          <a:effectLst/>
                        </a:rPr>
                        <a:t>Nom de la tâche</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EEEEE"/>
                    </a:solidFill>
                  </a:tcPr>
                </a:tc>
                <a:tc>
                  <a:txBody>
                    <a:bodyPr/>
                    <a:lstStyle/>
                    <a:p>
                      <a:pPr algn="l" fontAlgn="t"/>
                      <a:r>
                        <a:rPr lang="fr-FR" sz="1600" b="1">
                          <a:effectLst/>
                        </a:rPr>
                        <a:t>Ressources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275747">
                <a:tc>
                  <a:txBody>
                    <a:bodyPr/>
                    <a:lstStyle/>
                    <a:p>
                      <a:pPr fontAlgn="t"/>
                      <a:r>
                        <a:rPr lang="fr-FR" sz="1600">
                          <a:effectLst/>
                        </a:rPr>
                        <a:t>Conception / Maquettage</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dirty="0">
                          <a:effectLst/>
                        </a:rPr>
                        <a:t>Deux maquettistes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01"/>
                  </a:ext>
                </a:extLst>
              </a:tr>
              <a:tr h="275747">
                <a:tc>
                  <a:txBody>
                    <a:bodyPr/>
                    <a:lstStyle/>
                    <a:p>
                      <a:pPr fontAlgn="t"/>
                      <a:r>
                        <a:rPr lang="fr-FR" sz="1600">
                          <a:effectLst/>
                        </a:rPr>
                        <a:t>Documentation</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a:effectLst/>
                        </a:rPr>
                        <a:t>Un développeur</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02"/>
                  </a:ext>
                </a:extLst>
              </a:tr>
              <a:tr h="513018">
                <a:tc>
                  <a:txBody>
                    <a:bodyPr/>
                    <a:lstStyle/>
                    <a:p>
                      <a:pPr fontAlgn="t"/>
                      <a:r>
                        <a:rPr lang="fr-FR" sz="1600">
                          <a:effectLst/>
                        </a:rPr>
                        <a:t>Validation des charges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a:effectLst/>
                        </a:rPr>
                        <a:t>Le Chef de projet (unité de 0,86 (6 heures sur 7 heures)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03"/>
                  </a:ext>
                </a:extLst>
              </a:tr>
              <a:tr h="359113">
                <a:tc>
                  <a:txBody>
                    <a:bodyPr/>
                    <a:lstStyle/>
                    <a:p>
                      <a:pPr fontAlgn="t"/>
                      <a:r>
                        <a:rPr lang="fr-FR" sz="1600" dirty="0">
                          <a:effectLst/>
                        </a:rPr>
                        <a:t>Conception de l’architecture technique</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a:effectLst/>
                        </a:rPr>
                        <a:t>Deux architectes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04"/>
                  </a:ext>
                </a:extLst>
              </a:tr>
              <a:tr h="359113">
                <a:tc>
                  <a:txBody>
                    <a:bodyPr/>
                    <a:lstStyle/>
                    <a:p>
                      <a:pPr fontAlgn="t"/>
                      <a:r>
                        <a:rPr lang="fr-FR" sz="1600" u="sng" dirty="0">
                          <a:effectLst/>
                        </a:rPr>
                        <a:t>Conceptions des développements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endParaRPr lang="fr-FR" sz="1600">
                        <a:effectLst/>
                      </a:endParaRP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05"/>
                  </a:ext>
                </a:extLst>
              </a:tr>
              <a:tr h="275747">
                <a:tc>
                  <a:txBody>
                    <a:bodyPr/>
                    <a:lstStyle/>
                    <a:p>
                      <a:pPr algn="l" fontAlgn="t"/>
                      <a:r>
                        <a:rPr lang="fr-FR" sz="1600" dirty="0">
                          <a:effectLst/>
                        </a:rPr>
                        <a:t>  Écrans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dirty="0">
                          <a:effectLst/>
                        </a:rPr>
                        <a:t>Deux développeurs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06"/>
                  </a:ext>
                </a:extLst>
              </a:tr>
              <a:tr h="275747">
                <a:tc>
                  <a:txBody>
                    <a:bodyPr/>
                    <a:lstStyle/>
                    <a:p>
                      <a:pPr algn="l" fontAlgn="t"/>
                      <a:r>
                        <a:rPr lang="fr-FR" sz="1600" dirty="0">
                          <a:effectLst/>
                        </a:rPr>
                        <a:t>  Contrôles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dirty="0">
                          <a:effectLst/>
                        </a:rPr>
                        <a:t>Deux développeurs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07"/>
                  </a:ext>
                </a:extLst>
              </a:tr>
              <a:tr h="275747">
                <a:tc>
                  <a:txBody>
                    <a:bodyPr/>
                    <a:lstStyle/>
                    <a:p>
                      <a:pPr algn="l" fontAlgn="t"/>
                      <a:r>
                        <a:rPr lang="fr-FR" sz="1600" dirty="0">
                          <a:effectLst/>
                        </a:rPr>
                        <a:t>  Sécurité</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a:effectLst/>
                        </a:rPr>
                        <a:t>Deux développeurs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08"/>
                  </a:ext>
                </a:extLst>
              </a:tr>
              <a:tr h="359113">
                <a:tc>
                  <a:txBody>
                    <a:bodyPr/>
                    <a:lstStyle/>
                    <a:p>
                      <a:pPr algn="l" fontAlgn="t"/>
                      <a:r>
                        <a:rPr lang="fr-FR" sz="1600" dirty="0">
                          <a:effectLst/>
                        </a:rPr>
                        <a:t>  Simulations (Tests techniques)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a:effectLst/>
                        </a:rPr>
                        <a:t>Un développeur</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09"/>
                  </a:ext>
                </a:extLst>
              </a:tr>
              <a:tr h="359113">
                <a:tc>
                  <a:txBody>
                    <a:bodyPr/>
                    <a:lstStyle/>
                    <a:p>
                      <a:pPr fontAlgn="t"/>
                      <a:r>
                        <a:rPr lang="fr-FR" sz="1600" u="sng" dirty="0">
                          <a:effectLst/>
                        </a:rPr>
                        <a:t>Réalisation des développements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endParaRPr lang="fr-FR" sz="1600">
                        <a:effectLst/>
                      </a:endParaRP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10"/>
                  </a:ext>
                </a:extLst>
              </a:tr>
              <a:tr h="275747">
                <a:tc>
                  <a:txBody>
                    <a:bodyPr/>
                    <a:lstStyle/>
                    <a:p>
                      <a:pPr fontAlgn="t"/>
                      <a:r>
                        <a:rPr lang="fr-FR" sz="1600" dirty="0">
                          <a:effectLst/>
                        </a:rPr>
                        <a:t>  Écrans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a:effectLst/>
                        </a:rPr>
                        <a:t>Un développeur</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11"/>
                  </a:ext>
                </a:extLst>
              </a:tr>
              <a:tr h="275747">
                <a:tc>
                  <a:txBody>
                    <a:bodyPr/>
                    <a:lstStyle/>
                    <a:p>
                      <a:pPr fontAlgn="t"/>
                      <a:r>
                        <a:rPr lang="fr-FR" sz="1600" dirty="0">
                          <a:effectLst/>
                        </a:rPr>
                        <a:t>  Contrôles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a:effectLst/>
                        </a:rPr>
                        <a:t>Deux développeurs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12"/>
                  </a:ext>
                </a:extLst>
              </a:tr>
              <a:tr h="275747">
                <a:tc>
                  <a:txBody>
                    <a:bodyPr/>
                    <a:lstStyle/>
                    <a:p>
                      <a:pPr fontAlgn="t"/>
                      <a:r>
                        <a:rPr lang="fr-FR" sz="1600" dirty="0">
                          <a:effectLst/>
                        </a:rPr>
                        <a:t>  Sécurité</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a:effectLst/>
                        </a:rPr>
                        <a:t>Deux développeurs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13"/>
                  </a:ext>
                </a:extLst>
              </a:tr>
              <a:tr h="359113">
                <a:tc>
                  <a:txBody>
                    <a:bodyPr/>
                    <a:lstStyle/>
                    <a:p>
                      <a:pPr fontAlgn="t"/>
                      <a:r>
                        <a:rPr lang="fr-FR" sz="1600" dirty="0">
                          <a:effectLst/>
                        </a:rPr>
                        <a:t>  Simulations (Tests techniques)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a:effectLst/>
                        </a:rPr>
                        <a:t>Deux développeurs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14"/>
                  </a:ext>
                </a:extLst>
              </a:tr>
              <a:tr h="359113">
                <a:tc>
                  <a:txBody>
                    <a:bodyPr/>
                    <a:lstStyle/>
                    <a:p>
                      <a:pPr fontAlgn="t"/>
                      <a:r>
                        <a:rPr lang="fr-FR" sz="1600">
                          <a:effectLst/>
                        </a:rPr>
                        <a:t>Recette fonctionnelle</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a:effectLst/>
                        </a:rPr>
                        <a:t>Le Chef de projet + un développeur</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15"/>
                  </a:ext>
                </a:extLst>
              </a:tr>
              <a:tr h="275747">
                <a:tc>
                  <a:txBody>
                    <a:bodyPr/>
                    <a:lstStyle/>
                    <a:p>
                      <a:pPr fontAlgn="t"/>
                      <a:r>
                        <a:rPr lang="fr-FR" sz="1600">
                          <a:effectLst/>
                        </a:rPr>
                        <a:t>Formation utilisateurs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a:effectLst/>
                        </a:rPr>
                        <a:t>Deux développeurs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16"/>
                  </a:ext>
                </a:extLst>
              </a:tr>
              <a:tr h="275747">
                <a:tc>
                  <a:txBody>
                    <a:bodyPr/>
                    <a:lstStyle/>
                    <a:p>
                      <a:pPr fontAlgn="t"/>
                      <a:r>
                        <a:rPr lang="fr-FR" sz="1600">
                          <a:effectLst/>
                        </a:rPr>
                        <a:t>Déploiement</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a:effectLst/>
                        </a:rPr>
                        <a:t>Deux développeurs</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17"/>
                  </a:ext>
                </a:extLst>
              </a:tr>
              <a:tr h="275747">
                <a:tc>
                  <a:txBody>
                    <a:bodyPr/>
                    <a:lstStyle/>
                    <a:p>
                      <a:pPr fontAlgn="t"/>
                      <a:r>
                        <a:rPr lang="fr-FR" sz="1600">
                          <a:effectLst/>
                        </a:rPr>
                        <a:t>Pilotage</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tc>
                  <a:txBody>
                    <a:bodyPr/>
                    <a:lstStyle/>
                    <a:p>
                      <a:pPr fontAlgn="t"/>
                      <a:r>
                        <a:rPr lang="fr-FR" sz="1600" dirty="0">
                          <a:effectLst/>
                        </a:rPr>
                        <a:t>Le Chef de projet</a:t>
                      </a:r>
                    </a:p>
                  </a:txBody>
                  <a:tcPr marL="48768" marR="48768" marT="24384" marB="2438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2EFDD"/>
                    </a:solidFill>
                  </a:tcPr>
                </a:tc>
                <a:extLst>
                  <a:ext uri="{0D108BD9-81ED-4DB2-BD59-A6C34878D82A}">
                    <a16:rowId xmlns:a16="http://schemas.microsoft.com/office/drawing/2014/main" val="10018"/>
                  </a:ext>
                </a:extLst>
              </a:tr>
            </a:tbl>
          </a:graphicData>
        </a:graphic>
      </p:graphicFrame>
    </p:spTree>
    <p:extLst>
      <p:ext uri="{BB962C8B-B14F-4D97-AF65-F5344CB8AC3E}">
        <p14:creationId xmlns:p14="http://schemas.microsoft.com/office/powerpoint/2010/main" val="28484825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4. Gérer les ressources</a:t>
            </a:r>
          </a:p>
        </p:txBody>
      </p:sp>
      <p:sp>
        <p:nvSpPr>
          <p:cNvPr id="3" name="Espace réservé du contenu 2"/>
          <p:cNvSpPr>
            <a:spLocks noGrp="1"/>
          </p:cNvSpPr>
          <p:nvPr>
            <p:ph idx="1"/>
          </p:nvPr>
        </p:nvSpPr>
        <p:spPr>
          <a:xfrm>
            <a:off x="323528" y="1600200"/>
            <a:ext cx="8435280" cy="4876800"/>
          </a:xfrm>
        </p:spPr>
        <p:txBody>
          <a:bodyPr>
            <a:normAutofit fontScale="92500"/>
          </a:bodyPr>
          <a:lstStyle/>
          <a:p>
            <a:pPr marL="0" indent="0" algn="just">
              <a:buNone/>
            </a:pPr>
            <a:r>
              <a:rPr lang="en-US" b="1" dirty="0">
                <a:solidFill>
                  <a:schemeClr val="accent5"/>
                </a:solidFill>
              </a:rPr>
              <a:t>B. </a:t>
            </a:r>
            <a:r>
              <a:rPr lang="fr-FR" b="1" dirty="0">
                <a:solidFill>
                  <a:schemeClr val="accent5"/>
                </a:solidFill>
              </a:rPr>
              <a:t>Contrôler l’utilisation des ressources</a:t>
            </a:r>
          </a:p>
          <a:p>
            <a:pPr marL="0" indent="0" algn="just">
              <a:buNone/>
            </a:pPr>
            <a:endParaRPr lang="fr-FR" b="1" dirty="0"/>
          </a:p>
          <a:p>
            <a:r>
              <a:rPr lang="fr-FR" dirty="0"/>
              <a:t>Après avoir affecté les ressources aux différentes tâches, vous pouvez maintenant vérifier que vous avez suffisamment de personnel pour réaliser le projet, c’est-à-dire qu’aucune ressource n’est utilisée au-delà de sa capacité de travail.</a:t>
            </a:r>
          </a:p>
          <a:p>
            <a:r>
              <a:rPr lang="fr-FR" dirty="0"/>
              <a:t>L’utilisation des ressources peut être affichée seule, ou conjointement avec un Diagramme de Gantt.</a:t>
            </a:r>
          </a:p>
          <a:p>
            <a:r>
              <a:rPr lang="fr-FR" b="1" u="sng" dirty="0"/>
              <a:t>Application</a:t>
            </a:r>
            <a:r>
              <a:rPr lang="fr-FR" b="1" dirty="0"/>
              <a:t> :</a:t>
            </a:r>
            <a:br>
              <a:rPr lang="fr-FR" dirty="0"/>
            </a:br>
            <a:r>
              <a:rPr lang="fr-FR" dirty="0"/>
              <a:t>Cliquez sur la flèche de liste du bouton </a:t>
            </a:r>
            <a:r>
              <a:rPr lang="fr-FR" b="1" dirty="0"/>
              <a:t>Diagramme de Gantt,</a:t>
            </a:r>
            <a:r>
              <a:rPr lang="fr-FR" dirty="0"/>
              <a:t> puis sélectionnez l’affichage </a:t>
            </a:r>
            <a:r>
              <a:rPr lang="fr-FR" b="1" dirty="0"/>
              <a:t>Utilisation des ressources</a:t>
            </a:r>
            <a:r>
              <a:rPr lang="fr-FR" dirty="0"/>
              <a:t> dans la boîte de dialogue </a:t>
            </a:r>
            <a:r>
              <a:rPr lang="fr-FR" b="1" dirty="0"/>
              <a:t>Plus d’affichages</a:t>
            </a:r>
            <a:r>
              <a:rPr lang="fr-FR" dirty="0"/>
              <a:t> et cliquez sur </a:t>
            </a:r>
            <a:r>
              <a:rPr lang="fr-FR" b="1" dirty="0"/>
              <a:t>Appliquer.</a:t>
            </a:r>
            <a:endParaRPr lang="fr-FR" dirty="0"/>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89</a:t>
            </a:fld>
            <a:endParaRPr lang="fr-BE"/>
          </a:p>
        </p:txBody>
      </p:sp>
    </p:spTree>
    <p:extLst>
      <p:ext uri="{BB962C8B-B14F-4D97-AF65-F5344CB8AC3E}">
        <p14:creationId xmlns:p14="http://schemas.microsoft.com/office/powerpoint/2010/main" val="19257033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4. Gérer les ressources</a:t>
            </a:r>
          </a:p>
        </p:txBody>
      </p:sp>
      <p:sp>
        <p:nvSpPr>
          <p:cNvPr id="3" name="Espace réservé du contenu 2"/>
          <p:cNvSpPr>
            <a:spLocks noGrp="1"/>
          </p:cNvSpPr>
          <p:nvPr>
            <p:ph idx="1"/>
          </p:nvPr>
        </p:nvSpPr>
        <p:spPr>
          <a:xfrm>
            <a:off x="323528" y="1600200"/>
            <a:ext cx="8435280" cy="4876800"/>
          </a:xfrm>
        </p:spPr>
        <p:txBody>
          <a:bodyPr>
            <a:normAutofit/>
          </a:bodyPr>
          <a:lstStyle/>
          <a:p>
            <a:pPr algn="just"/>
            <a:r>
              <a:rPr lang="fr-FR" dirty="0"/>
              <a:t>Les jalons du projet, pour lesquels aucune ressource n’a été affectée, sont regroupés sous la pseudo-ressource </a:t>
            </a:r>
            <a:r>
              <a:rPr lang="fr-FR" b="1" dirty="0"/>
              <a:t>Non affectée</a:t>
            </a:r>
            <a:r>
              <a:rPr lang="fr-FR" dirty="0"/>
              <a:t>.</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90</a:t>
            </a:fld>
            <a:endParaRPr lang="fr-BE"/>
          </a:p>
        </p:txBody>
      </p:sp>
    </p:spTree>
    <p:extLst>
      <p:ext uri="{BB962C8B-B14F-4D97-AF65-F5344CB8AC3E}">
        <p14:creationId xmlns:p14="http://schemas.microsoft.com/office/powerpoint/2010/main" val="21479416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611560" y="1371600"/>
            <a:ext cx="8206680" cy="1927225"/>
          </a:xfrm>
        </p:spPr>
        <p:txBody>
          <a:bodyPr/>
          <a:lstStyle/>
          <a:p>
            <a:pPr algn="r"/>
            <a:r>
              <a:rPr lang="fr-FR" dirty="0"/>
              <a:t>5. Reporting du projet</a:t>
            </a:r>
          </a:p>
        </p:txBody>
      </p:sp>
      <p:sp>
        <p:nvSpPr>
          <p:cNvPr id="2" name="Espace réservé du numéro de diapositive 1"/>
          <p:cNvSpPr>
            <a:spLocks noGrp="1"/>
          </p:cNvSpPr>
          <p:nvPr>
            <p:ph type="sldNum" sz="quarter" idx="12"/>
          </p:nvPr>
        </p:nvSpPr>
        <p:spPr/>
        <p:txBody>
          <a:bodyPr/>
          <a:lstStyle/>
          <a:p>
            <a:fld id="{CF4668DC-857F-487D-BFFA-8C0CA5037977}" type="slidenum">
              <a:rPr lang="fr-BE" smtClean="0"/>
              <a:pPr/>
              <a:t>91</a:t>
            </a:fld>
            <a:endParaRPr lang="fr-BE"/>
          </a:p>
        </p:txBody>
      </p:sp>
      <p:sp>
        <p:nvSpPr>
          <p:cNvPr id="3" name="Rectangle 2"/>
          <p:cNvSpPr/>
          <p:nvPr/>
        </p:nvSpPr>
        <p:spPr>
          <a:xfrm>
            <a:off x="611560" y="3676622"/>
            <a:ext cx="8075240" cy="1200329"/>
          </a:xfrm>
          <a:prstGeom prst="rect">
            <a:avLst/>
          </a:prstGeom>
        </p:spPr>
        <p:txBody>
          <a:bodyPr wrap="square">
            <a:spAutoFit/>
          </a:bodyPr>
          <a:lstStyle/>
          <a:p>
            <a:pPr algn="just"/>
            <a:r>
              <a:rPr lang="fr-FR" sz="2400" dirty="0">
                <a:solidFill>
                  <a:srgbClr val="C00000"/>
                </a:solidFill>
                <a:latin typeface="Arial" panose="020B0604020202020204" pitchFamily="34" charset="0"/>
              </a:rPr>
              <a:t>Gérer son projet et également rendre des comptes, aux dirigeants de l’organisation, aux clients et aux fournisseurs</a:t>
            </a:r>
            <a:endParaRPr lang="fr-FR" sz="2400" dirty="0">
              <a:solidFill>
                <a:srgbClr val="C00000"/>
              </a:solidFill>
            </a:endParaRPr>
          </a:p>
        </p:txBody>
      </p:sp>
    </p:spTree>
    <p:extLst>
      <p:ext uri="{BB962C8B-B14F-4D97-AF65-F5344CB8AC3E}">
        <p14:creationId xmlns:p14="http://schemas.microsoft.com/office/powerpoint/2010/main" val="17860773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5. Reporting du projet</a:t>
            </a:r>
          </a:p>
        </p:txBody>
      </p:sp>
      <p:sp>
        <p:nvSpPr>
          <p:cNvPr id="3" name="Espace réservé du contenu 2"/>
          <p:cNvSpPr>
            <a:spLocks noGrp="1"/>
          </p:cNvSpPr>
          <p:nvPr>
            <p:ph idx="1"/>
          </p:nvPr>
        </p:nvSpPr>
        <p:spPr>
          <a:xfrm>
            <a:off x="323528" y="1600200"/>
            <a:ext cx="8435280" cy="4876800"/>
          </a:xfrm>
        </p:spPr>
        <p:txBody>
          <a:bodyPr>
            <a:normAutofit fontScale="92500" lnSpcReduction="20000"/>
          </a:bodyPr>
          <a:lstStyle/>
          <a:p>
            <a:pPr marL="0" indent="0" algn="ctr">
              <a:buNone/>
            </a:pPr>
            <a:endParaRPr lang="fr-FR" sz="3200" b="1" i="1" dirty="0">
              <a:solidFill>
                <a:schemeClr val="accent5"/>
              </a:solidFill>
            </a:endParaRPr>
          </a:p>
          <a:p>
            <a:pPr marL="0" indent="0" algn="ctr">
              <a:buNone/>
            </a:pPr>
            <a:r>
              <a:rPr lang="fr-FR" sz="4400" b="1" i="1" dirty="0">
                <a:solidFill>
                  <a:schemeClr val="accent5"/>
                </a:solidFill>
              </a:rPr>
              <a:t>Explorez les différents rapports qui s’offrent à vous pour analyser le projet !</a:t>
            </a:r>
          </a:p>
          <a:p>
            <a:pPr marL="0" indent="0" algn="ctr">
              <a:buNone/>
            </a:pPr>
            <a:endParaRPr lang="fr-FR" sz="4400" b="1" i="1" dirty="0">
              <a:solidFill>
                <a:schemeClr val="accent5"/>
              </a:solidFill>
            </a:endParaRPr>
          </a:p>
          <a:p>
            <a:pPr marL="0" indent="0">
              <a:buNone/>
            </a:pPr>
            <a:r>
              <a:rPr lang="fr-FR" sz="2800" b="1" dirty="0"/>
              <a:t>Charge de travail</a:t>
            </a:r>
          </a:p>
          <a:p>
            <a:pPr marL="0" indent="0">
              <a:buNone/>
            </a:pPr>
            <a:r>
              <a:rPr lang="fr-FR" sz="2800" b="1" dirty="0"/>
              <a:t>	Utilisation des ressources</a:t>
            </a:r>
          </a:p>
          <a:p>
            <a:pPr marL="0" indent="0" algn="ctr">
              <a:buNone/>
            </a:pPr>
            <a:r>
              <a:rPr lang="fr-FR" sz="2800" b="1" dirty="0"/>
              <a:t>Tâches à venir</a:t>
            </a:r>
          </a:p>
          <a:p>
            <a:pPr marL="0" indent="0" algn="ctr">
              <a:buNone/>
            </a:pPr>
            <a:r>
              <a:rPr lang="fr-FR" sz="2800" b="1" dirty="0"/>
              <a:t>		Coût</a:t>
            </a:r>
          </a:p>
          <a:p>
            <a:pPr marL="0" indent="0" algn="ctr">
              <a:buNone/>
            </a:pPr>
            <a:r>
              <a:rPr lang="fr-FR" sz="2800" b="1" dirty="0"/>
              <a:t>				Avancement…</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92</a:t>
            </a:fld>
            <a:endParaRPr lang="fr-BE"/>
          </a:p>
        </p:txBody>
      </p:sp>
    </p:spTree>
    <p:extLst>
      <p:ext uri="{BB962C8B-B14F-4D97-AF65-F5344CB8AC3E}">
        <p14:creationId xmlns:p14="http://schemas.microsoft.com/office/powerpoint/2010/main" val="25329070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5. Reporting du projet</a:t>
            </a:r>
          </a:p>
        </p:txBody>
      </p:sp>
      <p:sp>
        <p:nvSpPr>
          <p:cNvPr id="3" name="Espace réservé du contenu 2"/>
          <p:cNvSpPr>
            <a:spLocks noGrp="1"/>
          </p:cNvSpPr>
          <p:nvPr>
            <p:ph idx="1"/>
          </p:nvPr>
        </p:nvSpPr>
        <p:spPr>
          <a:xfrm>
            <a:off x="323528" y="1600200"/>
            <a:ext cx="8435280" cy="4876800"/>
          </a:xfrm>
        </p:spPr>
        <p:txBody>
          <a:bodyPr>
            <a:normAutofit fontScale="77500" lnSpcReduction="20000"/>
          </a:bodyPr>
          <a:lstStyle/>
          <a:p>
            <a:pPr marL="0" indent="0">
              <a:buNone/>
            </a:pPr>
            <a:r>
              <a:rPr lang="fr-FR" sz="3200" b="1" dirty="0"/>
              <a:t>Mise en forme du Diagramme de Gantt, pour impression</a:t>
            </a:r>
          </a:p>
          <a:p>
            <a:pPr marL="0" indent="0">
              <a:buNone/>
            </a:pPr>
            <a:endParaRPr lang="fr-FR" sz="3200" b="1" dirty="0"/>
          </a:p>
          <a:p>
            <a:r>
              <a:rPr lang="fr-FR" sz="3200" dirty="0"/>
              <a:t>Pour imprimer le </a:t>
            </a:r>
            <a:r>
              <a:rPr lang="fr-FR" sz="3200" b="1" dirty="0"/>
              <a:t>Diagramme de Gantt</a:t>
            </a:r>
            <a:r>
              <a:rPr lang="fr-FR" sz="3200" dirty="0"/>
              <a:t> avec le minimum de colonnes sur la gauche, n’affichez que le numéro, le nom, le coût, la durée des tâches et le nom des ressources.</a:t>
            </a:r>
          </a:p>
          <a:p>
            <a:r>
              <a:rPr lang="fr-FR" sz="3200" dirty="0"/>
              <a:t>Cliquez sur </a:t>
            </a:r>
            <a:r>
              <a:rPr lang="fr-FR" sz="3200" b="1" dirty="0"/>
              <a:t>Fichier</a:t>
            </a:r>
            <a:r>
              <a:rPr lang="fr-FR" sz="3200" dirty="0"/>
              <a:t> - </a:t>
            </a:r>
            <a:r>
              <a:rPr lang="fr-FR" sz="3200" b="1" dirty="0"/>
              <a:t>Imprimer</a:t>
            </a:r>
            <a:r>
              <a:rPr lang="fr-FR" sz="3200" dirty="0"/>
              <a:t> pour afficher l’écran d’</a:t>
            </a:r>
            <a:r>
              <a:rPr lang="fr-FR" sz="3200" b="1" dirty="0"/>
              <a:t>Aperçu avant impression</a:t>
            </a:r>
            <a:r>
              <a:rPr lang="fr-FR" sz="3200" dirty="0"/>
              <a:t> et modifier les paramètres nécessaires pour imprimer une seule page.</a:t>
            </a:r>
          </a:p>
          <a:p>
            <a:endParaRPr lang="fr-FR" sz="3200" i="1" dirty="0"/>
          </a:p>
          <a:p>
            <a:pPr marL="0" indent="0">
              <a:buNone/>
            </a:pPr>
            <a:r>
              <a:rPr lang="fr-FR" sz="3200" i="1" dirty="0"/>
              <a:t>Vous pouvez zoomer avant l’impression ou vous gardez une copie en PDF pour voir le rendu.</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93</a:t>
            </a:fld>
            <a:endParaRPr lang="fr-BE"/>
          </a:p>
        </p:txBody>
      </p:sp>
    </p:spTree>
    <p:extLst>
      <p:ext uri="{BB962C8B-B14F-4D97-AF65-F5344CB8AC3E}">
        <p14:creationId xmlns:p14="http://schemas.microsoft.com/office/powerpoint/2010/main" val="13466976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re 3"/>
          <p:cNvSpPr>
            <a:spLocks noGrp="1"/>
          </p:cNvSpPr>
          <p:nvPr>
            <p:ph type="ctrTitle"/>
          </p:nvPr>
        </p:nvSpPr>
        <p:spPr>
          <a:xfrm>
            <a:off x="611560" y="1371600"/>
            <a:ext cx="8206680" cy="1927225"/>
          </a:xfrm>
        </p:spPr>
        <p:txBody>
          <a:bodyPr/>
          <a:lstStyle/>
          <a:p>
            <a:pPr algn="r"/>
            <a:r>
              <a:rPr lang="fr-FR" sz="4400" dirty="0"/>
              <a:t>Créez votre tableau de bord avec un tableur </a:t>
            </a:r>
            <a:r>
              <a:rPr lang="fr-FR" sz="4400" dirty="0" err="1"/>
              <a:t>excel</a:t>
            </a:r>
            <a:endParaRPr lang="fr-FR" sz="4400" dirty="0"/>
          </a:p>
        </p:txBody>
      </p:sp>
      <p:sp>
        <p:nvSpPr>
          <p:cNvPr id="2" name="Espace réservé du numéro de diapositive 1"/>
          <p:cNvSpPr>
            <a:spLocks noGrp="1"/>
          </p:cNvSpPr>
          <p:nvPr>
            <p:ph type="sldNum" sz="quarter" idx="12"/>
          </p:nvPr>
        </p:nvSpPr>
        <p:spPr/>
        <p:txBody>
          <a:bodyPr/>
          <a:lstStyle/>
          <a:p>
            <a:fld id="{CF4668DC-857F-487D-BFFA-8C0CA5037977}" type="slidenum">
              <a:rPr lang="fr-BE" smtClean="0"/>
              <a:pPr/>
              <a:t>94</a:t>
            </a:fld>
            <a:endParaRPr lang="fr-BE"/>
          </a:p>
        </p:txBody>
      </p:sp>
      <p:sp>
        <p:nvSpPr>
          <p:cNvPr id="3" name="Rectangle 2"/>
          <p:cNvSpPr/>
          <p:nvPr/>
        </p:nvSpPr>
        <p:spPr>
          <a:xfrm>
            <a:off x="611560" y="3676622"/>
            <a:ext cx="8075240" cy="830997"/>
          </a:xfrm>
          <a:prstGeom prst="rect">
            <a:avLst/>
          </a:prstGeom>
        </p:spPr>
        <p:txBody>
          <a:bodyPr wrap="square">
            <a:spAutoFit/>
          </a:bodyPr>
          <a:lstStyle/>
          <a:p>
            <a:pPr algn="just"/>
            <a:r>
              <a:rPr lang="fr-FR" sz="2400" dirty="0">
                <a:solidFill>
                  <a:srgbClr val="C00000"/>
                </a:solidFill>
                <a:latin typeface="Arial" panose="020B0604020202020204" pitchFamily="34" charset="0"/>
              </a:rPr>
              <a:t>Les tableurs Microsoft EXCEL peuvent également vous aider à faire des tableaux de bord simples et fonctionnels</a:t>
            </a:r>
            <a:endParaRPr lang="fr-FR" sz="2400" dirty="0">
              <a:solidFill>
                <a:srgbClr val="C00000"/>
              </a:solidFill>
            </a:endParaRPr>
          </a:p>
        </p:txBody>
      </p:sp>
    </p:spTree>
    <p:extLst>
      <p:ext uri="{BB962C8B-B14F-4D97-AF65-F5344CB8AC3E}">
        <p14:creationId xmlns:p14="http://schemas.microsoft.com/office/powerpoint/2010/main" val="371885884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Créer un tableau de bord pertinent avec EXCEL</a:t>
            </a:r>
          </a:p>
        </p:txBody>
      </p:sp>
      <p:sp>
        <p:nvSpPr>
          <p:cNvPr id="3" name="Espace réservé du contenu 2"/>
          <p:cNvSpPr>
            <a:spLocks noGrp="1"/>
          </p:cNvSpPr>
          <p:nvPr>
            <p:ph idx="1"/>
          </p:nvPr>
        </p:nvSpPr>
        <p:spPr>
          <a:xfrm>
            <a:off x="323528" y="1600200"/>
            <a:ext cx="8435280" cy="4876800"/>
          </a:xfrm>
        </p:spPr>
        <p:txBody>
          <a:bodyPr>
            <a:normAutofit/>
          </a:bodyPr>
          <a:lstStyle/>
          <a:p>
            <a:pPr marL="0" indent="0">
              <a:buNone/>
            </a:pPr>
            <a:endParaRPr lang="fr-FR" sz="3200" b="1" dirty="0"/>
          </a:p>
          <a:p>
            <a:pPr marL="0" indent="0">
              <a:buNone/>
            </a:pPr>
            <a:r>
              <a:rPr lang="fr-FR" sz="2800" b="1"/>
              <a:t>En </a:t>
            </a:r>
            <a:r>
              <a:rPr lang="fr-FR" sz="2800" b="1" dirty="0"/>
              <a:t>vous inspirant des paramètres pris en compte dans un projet sous MS Project, proposer une trame/un tableau de bord de planification et de suivi de projet pertinent sous Excel.</a:t>
            </a:r>
          </a:p>
          <a:p>
            <a:pPr marL="0" indent="0">
              <a:buNone/>
            </a:pPr>
            <a:endParaRPr lang="fr-FR" sz="2800" b="1" dirty="0"/>
          </a:p>
          <a:p>
            <a:pPr marL="0" indent="0">
              <a:buNone/>
            </a:pPr>
            <a:r>
              <a:rPr lang="fr-FR" sz="2800" i="1" dirty="0"/>
              <a:t>Quel champ mettriez-vous ?</a:t>
            </a:r>
          </a:p>
          <a:p>
            <a:pPr marL="0" indent="0">
              <a:buNone/>
            </a:pPr>
            <a:r>
              <a:rPr lang="fr-FR" sz="2800" i="1" dirty="0"/>
              <a:t>Comment transformer/simplifier certaines données MS Project dans un EXCEL ?</a:t>
            </a:r>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95</a:t>
            </a:fld>
            <a:endParaRPr lang="fr-BE"/>
          </a:p>
        </p:txBody>
      </p:sp>
    </p:spTree>
    <p:extLst>
      <p:ext uri="{BB962C8B-B14F-4D97-AF65-F5344CB8AC3E}">
        <p14:creationId xmlns:p14="http://schemas.microsoft.com/office/powerpoint/2010/main" val="14153682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836712"/>
            <a:ext cx="8229600" cy="4968552"/>
          </a:xfrm>
        </p:spPr>
        <p:txBody>
          <a:bodyPr>
            <a:normAutofit/>
          </a:bodyPr>
          <a:lstStyle/>
          <a:p>
            <a:pPr algn="ctr"/>
            <a:br>
              <a:rPr lang="fr-FR" dirty="0"/>
            </a:br>
            <a:r>
              <a:rPr lang="fr-FR" dirty="0"/>
              <a:t>Merci de votre attention !</a:t>
            </a:r>
            <a:br>
              <a:rPr lang="fr-FR" dirty="0"/>
            </a:br>
            <a:br>
              <a:rPr lang="fr-FR" dirty="0"/>
            </a:br>
            <a:br>
              <a:rPr lang="fr-FR" dirty="0"/>
            </a:br>
            <a:r>
              <a:rPr lang="fr-FR" dirty="0"/>
              <a:t>Contact : dorothee.koe@hotmail.fr</a:t>
            </a:r>
            <a:br>
              <a:rPr lang="fr-FR" dirty="0"/>
            </a:b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96</a:t>
            </a:fld>
            <a:endParaRPr lang="fr-BE"/>
          </a:p>
        </p:txBody>
      </p:sp>
    </p:spTree>
    <p:extLst>
      <p:ext uri="{BB962C8B-B14F-4D97-AF65-F5344CB8AC3E}">
        <p14:creationId xmlns:p14="http://schemas.microsoft.com/office/powerpoint/2010/main" val="24789577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té">
  <a:themeElements>
    <a:clrScheme name="Clarté">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que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té">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0</TotalTime>
  <Words>8933</Words>
  <Application>Microsoft Office PowerPoint</Application>
  <PresentationFormat>Affichage à l'écran (4:3)</PresentationFormat>
  <Paragraphs>1072</Paragraphs>
  <Slides>96</Slides>
  <Notes>73</Notes>
  <HiddenSlides>2</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96</vt:i4>
      </vt:variant>
    </vt:vector>
  </HeadingPairs>
  <TitlesOfParts>
    <vt:vector size="100" baseType="lpstr">
      <vt:lpstr>Arial</vt:lpstr>
      <vt:lpstr>Calibri</vt:lpstr>
      <vt:lpstr>Wingdings</vt:lpstr>
      <vt:lpstr>Clarté</vt:lpstr>
      <vt:lpstr>Méthodologie de la gestion de projet</vt:lpstr>
      <vt:lpstr>CHAPITRE 2 PLANIFICATION</vt:lpstr>
      <vt:lpstr>Tâches, jalons et livrables</vt:lpstr>
      <vt:lpstr>Tâches, jalons et livrables</vt:lpstr>
      <vt:lpstr>Tâches, jalons et livrables</vt:lpstr>
      <vt:lpstr>La planification d’un projet</vt:lpstr>
      <vt:lpstr>La planification d’un projet</vt:lpstr>
      <vt:lpstr>La planification d’un projet</vt:lpstr>
      <vt:lpstr>La planification d’un projet</vt:lpstr>
      <vt:lpstr>La planification d’un projet</vt:lpstr>
      <vt:lpstr>APPLICATION</vt:lpstr>
      <vt:lpstr>La planification d’un projet</vt:lpstr>
      <vt:lpstr>La planification d’un projet</vt:lpstr>
      <vt:lpstr>La planification d’un projet</vt:lpstr>
      <vt:lpstr>La planification d’un projet</vt:lpstr>
      <vt:lpstr>Diagramme de GANTT</vt:lpstr>
      <vt:lpstr>Diagramme de GANTT</vt:lpstr>
      <vt:lpstr>Diagramme de GANTT</vt:lpstr>
      <vt:lpstr>Diagramme de GANTT  pour création d’un site internet</vt:lpstr>
      <vt:lpstr>Autres techniques de planification A voir également</vt:lpstr>
      <vt:lpstr>Cas pratique / application :</vt:lpstr>
      <vt:lpstr>CHAPITRE 2 PLANIFICATION</vt:lpstr>
      <vt:lpstr>Créer un projet avec MS Project </vt:lpstr>
      <vt:lpstr>Créer un projet avec MS Project </vt:lpstr>
      <vt:lpstr>Créer un projet avec MS Project </vt:lpstr>
      <vt:lpstr>Créer un projet avec MS Project </vt:lpstr>
      <vt:lpstr>Créer un projet avec MS Project </vt:lpstr>
      <vt:lpstr>Créer un projet avec MS Project </vt:lpstr>
      <vt:lpstr>Créer et suivre l’avancement d’un projet  avec MS Project</vt:lpstr>
      <vt:lpstr>Les 5 étapes </vt:lpstr>
      <vt:lpstr>1. Créer un nouveau projet</vt:lpstr>
      <vt:lpstr>1. Création d'un nouveau projet </vt:lpstr>
      <vt:lpstr>1. Création d'un nouveau projet </vt:lpstr>
      <vt:lpstr>1. Création d'un nouveau projet </vt:lpstr>
      <vt:lpstr>1. Création d'un nouveau projet </vt:lpstr>
      <vt:lpstr>1. Création d'un nouveau projet </vt:lpstr>
      <vt:lpstr>1. Création d'un nouveau projet </vt:lpstr>
      <vt:lpstr>1. Création d'un nouveau projet </vt:lpstr>
      <vt:lpstr>Présentation PowerPoint</vt:lpstr>
      <vt:lpstr>1. Création d'un nouveau projet </vt:lpstr>
      <vt:lpstr>1. Création d'un nouveau projet </vt:lpstr>
      <vt:lpstr>1. Création d'un nouveau projet </vt:lpstr>
      <vt:lpstr>2. GESTION DES CALENDRIERS</vt:lpstr>
      <vt:lpstr>2. Gestion des calendriers </vt:lpstr>
      <vt:lpstr>2. Gestion des calendriers </vt:lpstr>
      <vt:lpstr>2. Gestion des calendriers </vt:lpstr>
      <vt:lpstr>2. Gestion des calendriers </vt:lpstr>
      <vt:lpstr>2. Gestion des calendriers </vt:lpstr>
      <vt:lpstr>2. Gestion des calendriers </vt:lpstr>
      <vt:lpstr>2. Gestion des calendriers </vt:lpstr>
      <vt:lpstr>2. Gestion des calendriers </vt:lpstr>
      <vt:lpstr>2. Gestion des calendriers </vt:lpstr>
      <vt:lpstr>2. Gestion des calendriers </vt:lpstr>
      <vt:lpstr>2. Gestion des calendriers </vt:lpstr>
      <vt:lpstr>2. Gestion des calendriers </vt:lpstr>
      <vt:lpstr>2. Gestion des calendriers </vt:lpstr>
      <vt:lpstr>3. Ordonnancement du projet</vt:lpstr>
      <vt:lpstr>Présentation PowerPoint</vt:lpstr>
      <vt:lpstr>3. Ordonnancement du projet</vt:lpstr>
      <vt:lpstr>3. Ordonnancement du projet</vt:lpstr>
      <vt:lpstr>3. Ordonnancement du projet</vt:lpstr>
      <vt:lpstr>Présentation PowerPoint</vt:lpstr>
      <vt:lpstr>Présentation PowerPoint</vt:lpstr>
      <vt:lpstr>3. Ordonnancement du projet</vt:lpstr>
      <vt:lpstr>3. Ordonnancement du projet</vt:lpstr>
      <vt:lpstr>3. Ordonnancement du projet</vt:lpstr>
      <vt:lpstr>3. Ordonnancement du projet</vt:lpstr>
      <vt:lpstr>3. Ordonnancement du projet</vt:lpstr>
      <vt:lpstr>3. Ordonnancement du projet</vt:lpstr>
      <vt:lpstr>Présentation PowerPoint</vt:lpstr>
      <vt:lpstr>Présentation PowerPoint</vt:lpstr>
      <vt:lpstr>3. Ordonnancement du projet</vt:lpstr>
      <vt:lpstr>3. Ordonnancement du projet</vt:lpstr>
      <vt:lpstr>3. Ordonnancement du projet</vt:lpstr>
      <vt:lpstr>3. Ordonnancement du projet</vt:lpstr>
      <vt:lpstr>3. Ordonnancement du projet</vt:lpstr>
      <vt:lpstr>3. Ordonnancement du projet</vt:lpstr>
      <vt:lpstr>3. Ordonnancement du projet</vt:lpstr>
      <vt:lpstr>3. Ordonnancement du projet</vt:lpstr>
      <vt:lpstr>4. Gérer LES RESSOURCES</vt:lpstr>
      <vt:lpstr>4. Gérer les ressources</vt:lpstr>
      <vt:lpstr>4. Gérer les ressources</vt:lpstr>
      <vt:lpstr>4. Gérer les ressources</vt:lpstr>
      <vt:lpstr>4. Gérer les ressources</vt:lpstr>
      <vt:lpstr>4. Gérer les ressources</vt:lpstr>
      <vt:lpstr>4. Gérer les ressources</vt:lpstr>
      <vt:lpstr>4. Gérer les ressources</vt:lpstr>
      <vt:lpstr>Présentation PowerPoint</vt:lpstr>
      <vt:lpstr>4. Gérer les ressources</vt:lpstr>
      <vt:lpstr>4. Gérer les ressources</vt:lpstr>
      <vt:lpstr>5. Reporting du projet</vt:lpstr>
      <vt:lpstr>5. Reporting du projet</vt:lpstr>
      <vt:lpstr>5. Reporting du projet</vt:lpstr>
      <vt:lpstr>Créez votre tableau de bord avec un tableur excel</vt:lpstr>
      <vt:lpstr>Créer un tableau de bord pertinent avec EXCEL</vt:lpstr>
      <vt:lpstr> Merci de votre attention !   Contact : dorothee.koe@hotmail.fr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Méthodologie de la gestion de projet</dc:title>
  <dc:creator>Dorothée Koe Effala</dc:creator>
  <cp:lastModifiedBy>Dorothée Koe Effala</cp:lastModifiedBy>
  <cp:revision>225</cp:revision>
  <cp:lastPrinted>2015-10-16T10:53:00Z</cp:lastPrinted>
  <dcterms:modified xsi:type="dcterms:W3CDTF">2025-10-15T06:51:03Z</dcterms:modified>
</cp:coreProperties>
</file>