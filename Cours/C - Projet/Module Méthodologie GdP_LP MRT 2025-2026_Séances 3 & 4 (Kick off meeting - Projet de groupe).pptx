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8"/>
  </p:notesMasterIdLst>
  <p:sldIdLst>
    <p:sldId id="315" r:id="rId2"/>
    <p:sldId id="293" r:id="rId3"/>
    <p:sldId id="294" r:id="rId4"/>
    <p:sldId id="316" r:id="rId5"/>
    <p:sldId id="314" r:id="rId6"/>
    <p:sldId id="273" r:id="rId7"/>
  </p:sldIdLst>
  <p:sldSz cx="9144000" cy="6858000" type="screen4x3"/>
  <p:notesSz cx="6799263" cy="9929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2" autoAdjust="0"/>
    <p:restoredTop sz="84183" autoAdjust="0"/>
  </p:normalViewPr>
  <p:slideViewPr>
    <p:cSldViewPr>
      <p:cViewPr varScale="1">
        <p:scale>
          <a:sx n="61" d="100"/>
          <a:sy n="61" d="100"/>
        </p:scale>
        <p:origin x="2050" y="27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rothée Koe Effala" userId="0d03d5b95cb9741f" providerId="LiveId" clId="{104B28A9-3C0C-415B-8D89-C3937ABB3172}"/>
    <pc:docChg chg="modSld">
      <pc:chgData name="Dorothée Koe Effala" userId="0d03d5b95cb9741f" providerId="LiveId" clId="{104B28A9-3C0C-415B-8D89-C3937ABB3172}" dt="2024-10-09T15:22:10.240" v="57" actId="20577"/>
      <pc:docMkLst>
        <pc:docMk/>
      </pc:docMkLst>
      <pc:sldChg chg="modSp mod">
        <pc:chgData name="Dorothée Koe Effala" userId="0d03d5b95cb9741f" providerId="LiveId" clId="{104B28A9-3C0C-415B-8D89-C3937ABB3172}" dt="2024-10-09T15:22:10.240" v="57" actId="20577"/>
        <pc:sldMkLst>
          <pc:docMk/>
          <pc:sldMk cId="3849278082" sldId="314"/>
        </pc:sldMkLst>
      </pc:sldChg>
      <pc:sldChg chg="modSp mod">
        <pc:chgData name="Dorothée Koe Effala" userId="0d03d5b95cb9741f" providerId="LiveId" clId="{104B28A9-3C0C-415B-8D89-C3937ABB3172}" dt="2024-10-09T15:21:46.493" v="31" actId="20577"/>
        <pc:sldMkLst>
          <pc:docMk/>
          <pc:sldMk cId="2310884749" sldId="315"/>
        </pc:sldMkLst>
      </pc:sldChg>
    </pc:docChg>
  </pc:docChgLst>
  <pc:docChgLst>
    <pc:chgData name="Dorothée Koe Effala" userId="0d03d5b95cb9741f" providerId="LiveId" clId="{9ACA4A33-6109-4DF2-A021-8DF41D078881}"/>
    <pc:docChg chg="custSel modSld">
      <pc:chgData name="Dorothée Koe Effala" userId="0d03d5b95cb9741f" providerId="LiveId" clId="{9ACA4A33-6109-4DF2-A021-8DF41D078881}" dt="2025-10-15T06:46:06.335" v="2" actId="27636"/>
      <pc:docMkLst>
        <pc:docMk/>
      </pc:docMkLst>
      <pc:sldChg chg="modSp mod">
        <pc:chgData name="Dorothée Koe Effala" userId="0d03d5b95cb9741f" providerId="LiveId" clId="{9ACA4A33-6109-4DF2-A021-8DF41D078881}" dt="2025-10-15T06:46:06.335" v="2" actId="27636"/>
        <pc:sldMkLst>
          <pc:docMk/>
          <pc:sldMk cId="2310884749" sldId="315"/>
        </pc:sldMkLst>
        <pc:spChg chg="mod">
          <ac:chgData name="Dorothée Koe Effala" userId="0d03d5b95cb9741f" providerId="LiveId" clId="{9ACA4A33-6109-4DF2-A021-8DF41D078881}" dt="2025-10-15T06:46:06.335" v="2" actId="27636"/>
          <ac:spMkLst>
            <pc:docMk/>
            <pc:sldMk cId="2310884749" sldId="315"/>
            <ac:spMk id="3" creationId="{00000000-0000-0000-0000-000000000000}"/>
          </ac:spMkLst>
        </pc:spChg>
      </pc:sldChg>
    </pc:docChg>
  </pc:docChgLst>
  <pc:docChgLst>
    <pc:chgData name="Dorothée Koe Effala" userId="0d03d5b95cb9741f" providerId="LiveId" clId="{910A3EF1-AF3B-48D7-BE1A-1F68A13DEEE0}"/>
    <pc:docChg chg="undo custSel modSld">
      <pc:chgData name="Dorothée Koe Effala" userId="0d03d5b95cb9741f" providerId="LiveId" clId="{910A3EF1-AF3B-48D7-BE1A-1F68A13DEEE0}" dt="2024-11-06T14:36:43.789" v="10" actId="20577"/>
      <pc:docMkLst>
        <pc:docMk/>
      </pc:docMkLst>
      <pc:sldChg chg="modSp mod">
        <pc:chgData name="Dorothée Koe Effala" userId="0d03d5b95cb9741f" providerId="LiveId" clId="{910A3EF1-AF3B-48D7-BE1A-1F68A13DEEE0}" dt="2024-11-06T14:36:43.789" v="10" actId="20577"/>
        <pc:sldMkLst>
          <pc:docMk/>
          <pc:sldMk cId="2310884749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F5001-F8A4-474C-8370-967C9B3B9389}" type="datetimeFigureOut">
              <a:rPr lang="fr-FR" smtClean="0"/>
              <a:pPr/>
              <a:t>15/10/2025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E88226-737E-4FAF-B603-CC8E4642039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2770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88226-737E-4FAF-B603-CC8E46420395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9629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fr-FR" dirty="0"/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88226-737E-4FAF-B603-CC8E4642039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1687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dirty="0">
                <a:solidFill>
                  <a:schemeClr val="accent1"/>
                </a:solidFill>
              </a:rPr>
              <a:t>+ Cf. Fiche outil n° 20 : La réunion de lancement de projet 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88226-737E-4FAF-B603-CC8E46420395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1687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fr-FR" dirty="0"/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88226-737E-4FAF-B603-CC8E46420395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6480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88226-737E-4FAF-B603-CC8E46420395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9654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Font typeface="Arial" panose="020B0604020202020204" pitchFamily="34" charset="0"/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88226-737E-4FAF-B603-CC8E46420395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5668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15/10/2025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15/10/2025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15/10/2025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15/10/2025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15/10/2025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15/10/2025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15/10/2025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15/10/2025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15/10/2025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15/10/2025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15/10/2025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15/10/2025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dorothee.koe@hotmail.f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Méthodologie de la gestion de projet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85800" y="3721224"/>
            <a:ext cx="8278688" cy="2876128"/>
          </a:xfrm>
        </p:spPr>
        <p:txBody>
          <a:bodyPr>
            <a:normAutofit/>
          </a:bodyPr>
          <a:lstStyle/>
          <a:p>
            <a:r>
              <a:rPr lang="fr-FR" dirty="0"/>
              <a:t>Mercredi 8 </a:t>
            </a:r>
            <a:r>
              <a:rPr lang="fr-FR"/>
              <a:t>octobre 2025</a:t>
            </a:r>
            <a:br>
              <a:rPr lang="fr-FR" dirty="0"/>
            </a:br>
            <a:r>
              <a:rPr lang="fr-FR" dirty="0"/>
              <a:t>LP MRT 2025-2026</a:t>
            </a:r>
          </a:p>
          <a:p>
            <a:r>
              <a:rPr lang="fr-FR" sz="2200" dirty="0"/>
              <a:t>IUT de Cachan – Université Paris Sud – Université Paris Saclay </a:t>
            </a:r>
          </a:p>
          <a:p>
            <a:endParaRPr lang="fr-FR" dirty="0"/>
          </a:p>
          <a:p>
            <a:r>
              <a:rPr lang="fr-FR" dirty="0"/>
              <a:t>Intervenant : Dorothée KOE EFFALA</a:t>
            </a:r>
          </a:p>
          <a:p>
            <a:r>
              <a:rPr lang="fr-FR" dirty="0">
                <a:hlinkClick r:id="rId3"/>
              </a:rPr>
              <a:t>dorothee.koe@hotmail.fr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8F7519E-EB3B-4C2E-A791-F6C68351C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86" y="3429000"/>
            <a:ext cx="3818062" cy="100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88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fr-FR" dirty="0"/>
            </a:br>
            <a:r>
              <a:rPr lang="fr-FR" dirty="0"/>
              <a:t>La réunion de lancement </a:t>
            </a:r>
            <a:br>
              <a:rPr lang="fr-FR" dirty="0"/>
            </a:br>
            <a:r>
              <a:rPr lang="fr-FR" dirty="0"/>
              <a:t>ou « Kick off meeting »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fr-FR" dirty="0"/>
          </a:p>
          <a:p>
            <a:r>
              <a:rPr lang="fr-FR" dirty="0"/>
              <a:t>La réunion de lancement officialise le début du projet.</a:t>
            </a:r>
          </a:p>
          <a:p>
            <a:endParaRPr lang="fr-FR" dirty="0"/>
          </a:p>
          <a:p>
            <a:r>
              <a:rPr lang="fr-FR" dirty="0"/>
              <a:t>Cette formalité ne doit pas être négligée car elle engagera les parties prenantes sur la feuille de route, l’organigramme ou les mesures à prendre en cas de problème.</a:t>
            </a:r>
          </a:p>
          <a:p>
            <a:endParaRPr lang="fr-FR" dirty="0"/>
          </a:p>
          <a:p>
            <a:r>
              <a:rPr lang="fr-FR" dirty="0"/>
              <a:t>Elle permet de poser les bases de la collaboration entre les acteurs, marquer l’engagement de la direction et légitimer le chef de projet et son équipe.</a:t>
            </a:r>
          </a:p>
          <a:p>
            <a:endParaRPr lang="fr-FR" dirty="0"/>
          </a:p>
          <a:p>
            <a:r>
              <a:rPr lang="fr-FR" dirty="0"/>
              <a:t>On profitera de cette réunion pour répondre aux éventuels questionnements et objections des participants.</a:t>
            </a:r>
          </a:p>
          <a:p>
            <a:endParaRPr lang="fr-FR" dirty="0"/>
          </a:p>
          <a:p>
            <a:r>
              <a:rPr lang="fr-FR" dirty="0"/>
              <a:t>Le chef de projet, qui organisera la réunion, invitera les acteurs clés du projet:</a:t>
            </a:r>
            <a:br>
              <a:rPr lang="fr-FR" dirty="0"/>
            </a:br>
            <a:r>
              <a:rPr lang="fr-FR" dirty="0"/>
              <a:t>- Le commanditaire ou le client,</a:t>
            </a:r>
            <a:br>
              <a:rPr lang="fr-FR" dirty="0"/>
            </a:br>
            <a:r>
              <a:rPr lang="fr-FR" dirty="0"/>
              <a:t>- Les membres du comité de pilotage,</a:t>
            </a:r>
            <a:br>
              <a:rPr lang="fr-FR" dirty="0"/>
            </a:br>
            <a:r>
              <a:rPr lang="fr-FR" dirty="0"/>
              <a:t>- L’équipe projet,</a:t>
            </a:r>
            <a:br>
              <a:rPr lang="fr-FR" dirty="0"/>
            </a:br>
            <a:r>
              <a:rPr lang="fr-FR" dirty="0"/>
              <a:t>- Et généralement toute personne influente qui pourrait interagir avec le projet.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1293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fr-FR" dirty="0"/>
            </a:br>
            <a:r>
              <a:rPr lang="fr-FR" dirty="0"/>
              <a:t>La réunion de lancement </a:t>
            </a:r>
            <a:br>
              <a:rPr lang="fr-FR" dirty="0"/>
            </a:br>
            <a:r>
              <a:rPr lang="fr-FR" dirty="0"/>
              <a:t>ou « Kick off meeting »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0610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fr-FR" dirty="0"/>
          </a:p>
          <a:p>
            <a:r>
              <a:rPr lang="fr-FR" dirty="0"/>
              <a:t>Fournir une compréhension générale du projet </a:t>
            </a:r>
          </a:p>
          <a:p>
            <a:r>
              <a:rPr lang="fr-FR" dirty="0"/>
              <a:t>Expliquer pourquoi il existe et quelle en est sa justification </a:t>
            </a:r>
          </a:p>
          <a:p>
            <a:r>
              <a:rPr lang="fr-FR" dirty="0"/>
              <a:t>Mettre l’accent sur certains points contractuels </a:t>
            </a:r>
          </a:p>
          <a:p>
            <a:r>
              <a:rPr lang="fr-FR" dirty="0"/>
              <a:t>Donner les jalons remarquables, les principaux livrables et leurs critères d’acceptation</a:t>
            </a:r>
          </a:p>
          <a:p>
            <a:r>
              <a:rPr lang="fr-FR" dirty="0"/>
              <a:t>Lister ce qui est inclus et exclus du périmètre</a:t>
            </a:r>
          </a:p>
          <a:p>
            <a:r>
              <a:rPr lang="fr-FR" dirty="0"/>
              <a:t>Partager des informations telles que les contraintes de réalisation.</a:t>
            </a:r>
          </a:p>
          <a:p>
            <a:r>
              <a:rPr lang="fr-FR" dirty="0"/>
              <a:t>Donner les rôles et responsabilités de chacun</a:t>
            </a:r>
          </a:p>
          <a:p>
            <a:r>
              <a:rPr lang="fr-FR" dirty="0"/>
              <a:t>Présenter le plan de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771077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4525108" cy="990600"/>
          </a:xfrm>
        </p:spPr>
        <p:txBody>
          <a:bodyPr>
            <a:noAutofit/>
          </a:bodyPr>
          <a:lstStyle/>
          <a:p>
            <a:br>
              <a:rPr lang="fr-FR" sz="3200" dirty="0"/>
            </a:br>
            <a:r>
              <a:rPr lang="fr-FR" sz="3200" dirty="0"/>
              <a:t>La réunion de lancement </a:t>
            </a:r>
            <a:br>
              <a:rPr lang="fr-FR" sz="3200" dirty="0"/>
            </a:br>
            <a:r>
              <a:rPr lang="fr-FR" sz="3200" dirty="0"/>
              <a:t>ou « Kick off meeting »</a:t>
            </a:r>
            <a:br>
              <a:rPr lang="fr-FR" sz="3200" dirty="0"/>
            </a:br>
            <a:endParaRPr lang="fr-FR" sz="32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8637E03-5A7A-4CE9-83D9-D9698DCA77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308" y="0"/>
            <a:ext cx="41616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821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/>
              <a:t>Livrable séance 6 : Mercredi 5 novembre 2025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3200" b="1" dirty="0"/>
              <a:t>KICK OFF MEETING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Le rapporteur de chaque équipe projet </a:t>
            </a:r>
            <a:r>
              <a:rPr lang="fr-FR" u="sng" dirty="0"/>
              <a:t>ou</a:t>
            </a:r>
            <a:r>
              <a:rPr lang="fr-FR" dirty="0"/>
              <a:t> l’ensemble de l’équipe devra présenter à l’oral en 10 minutes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u="sng" dirty="0">
                <a:solidFill>
                  <a:schemeClr val="tx2"/>
                </a:solidFill>
              </a:rPr>
              <a:t>Pour l’offre innovante</a:t>
            </a:r>
            <a:r>
              <a:rPr lang="fr-FR" b="1" dirty="0">
                <a:solidFill>
                  <a:schemeClr val="tx2"/>
                </a:solidFill>
              </a:rPr>
              <a:t> : </a:t>
            </a:r>
          </a:p>
          <a:p>
            <a:pPr>
              <a:buFontTx/>
              <a:buChar char="-"/>
            </a:pPr>
            <a:r>
              <a:rPr lang="fr-FR" dirty="0"/>
              <a:t>La présentation de l’entreprise</a:t>
            </a:r>
            <a:endParaRPr lang="fr-FR" sz="1700" dirty="0"/>
          </a:p>
          <a:p>
            <a:pPr>
              <a:buFontTx/>
              <a:buChar char="-"/>
            </a:pPr>
            <a:r>
              <a:rPr lang="fr-FR" dirty="0"/>
              <a:t>L’offre innovante choisie</a:t>
            </a:r>
          </a:p>
          <a:p>
            <a:pPr>
              <a:buFontTx/>
              <a:buChar char="-"/>
            </a:pPr>
            <a:r>
              <a:rPr lang="fr-FR" dirty="0"/>
              <a:t>Le SWOT</a:t>
            </a:r>
          </a:p>
          <a:p>
            <a:pPr>
              <a:buFontTx/>
              <a:buChar char="-"/>
            </a:pPr>
            <a:r>
              <a:rPr lang="fr-FR" dirty="0"/>
              <a:t>Le PESTEL</a:t>
            </a:r>
          </a:p>
          <a:p>
            <a:pPr>
              <a:buFontTx/>
              <a:buChar char="-"/>
            </a:pPr>
            <a:endParaRPr lang="fr-FR" dirty="0"/>
          </a:p>
          <a:p>
            <a:pPr marL="0" indent="0">
              <a:buNone/>
            </a:pPr>
            <a:r>
              <a:rPr lang="fr-FR" b="1" u="sng" dirty="0">
                <a:solidFill>
                  <a:schemeClr val="tx2"/>
                </a:solidFill>
              </a:rPr>
              <a:t>Pour le projet (création site internet marchand)</a:t>
            </a:r>
            <a:r>
              <a:rPr lang="fr-FR" b="1" dirty="0">
                <a:solidFill>
                  <a:schemeClr val="tx2"/>
                </a:solidFill>
              </a:rPr>
              <a:t> : </a:t>
            </a:r>
            <a:endParaRPr lang="fr-FR" dirty="0"/>
          </a:p>
          <a:p>
            <a:pPr>
              <a:buFontTx/>
              <a:buChar char="-"/>
            </a:pPr>
            <a:r>
              <a:rPr lang="fr-FR" dirty="0"/>
              <a:t>La matrice RACI du projet</a:t>
            </a:r>
          </a:p>
          <a:p>
            <a:pPr>
              <a:buFontTx/>
              <a:buChar char="-"/>
            </a:pPr>
            <a:r>
              <a:rPr lang="fr-FR" dirty="0"/>
              <a:t>La matrice des Risques du projet</a:t>
            </a:r>
          </a:p>
          <a:p>
            <a:pPr>
              <a:buFontTx/>
              <a:buChar char="-"/>
            </a:pPr>
            <a:r>
              <a:rPr lang="fr-FR" dirty="0"/>
              <a:t>La lettre de mission (uniquement par e-mail)</a:t>
            </a:r>
          </a:p>
        </p:txBody>
      </p:sp>
    </p:spTree>
    <p:extLst>
      <p:ext uri="{BB962C8B-B14F-4D97-AF65-F5344CB8AC3E}">
        <p14:creationId xmlns:p14="http://schemas.microsoft.com/office/powerpoint/2010/main" val="3849278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4968552"/>
          </a:xfrm>
        </p:spPr>
        <p:txBody>
          <a:bodyPr>
            <a:normAutofit/>
          </a:bodyPr>
          <a:lstStyle/>
          <a:p>
            <a:pPr algn="ctr"/>
            <a:br>
              <a:rPr lang="fr-FR" dirty="0"/>
            </a:br>
            <a:r>
              <a:rPr lang="fr-FR" dirty="0"/>
              <a:t>Merci de votre attention !</a:t>
            </a:r>
            <a:br>
              <a:rPr lang="fr-FR" dirty="0"/>
            </a:br>
            <a:br>
              <a:rPr lang="fr-FR" dirty="0"/>
            </a:br>
            <a:br>
              <a:rPr lang="fr-FR" dirty="0"/>
            </a:br>
            <a:r>
              <a:rPr lang="fr-FR" dirty="0"/>
              <a:t>Contact : dorothee.koe@hotmail.fr</a:t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89577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té">
  <a:themeElements>
    <a:clrScheme name="Clarté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té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0</TotalTime>
  <Words>394</Words>
  <Application>Microsoft Office PowerPoint</Application>
  <PresentationFormat>Affichage à l'écran (4:3)</PresentationFormat>
  <Paragraphs>53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Clarté</vt:lpstr>
      <vt:lpstr>Méthodologie de la gestion de projet</vt:lpstr>
      <vt:lpstr> La réunion de lancement  ou « Kick off meeting » </vt:lpstr>
      <vt:lpstr> La réunion de lancement  ou « Kick off meeting » </vt:lpstr>
      <vt:lpstr> La réunion de lancement  ou « Kick off meeting » </vt:lpstr>
      <vt:lpstr>Livrable séance 6 : Mercredi 5 novembre 2025</vt:lpstr>
      <vt:lpstr> Merci de votre attention !   Contact : dorothee.koe@hotmail.fr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Méthodologie de la gestion de projet</dc:title>
  <dc:creator>Dorothée Koe Effala</dc:creator>
  <cp:lastModifiedBy>Dorothée Koe Effala</cp:lastModifiedBy>
  <cp:revision>196</cp:revision>
  <cp:lastPrinted>2015-10-16T10:53:00Z</cp:lastPrinted>
  <dcterms:modified xsi:type="dcterms:W3CDTF">2025-10-15T06:46:08Z</dcterms:modified>
</cp:coreProperties>
</file>