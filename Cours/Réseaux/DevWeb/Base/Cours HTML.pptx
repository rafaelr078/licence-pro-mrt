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  <p:sldMasterId id="2147483672" r:id="rId3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3" r:id="rId8"/>
    <p:sldId id="260" r:id="rId9"/>
    <p:sldId id="261" r:id="rId10"/>
    <p:sldId id="274" r:id="rId11"/>
    <p:sldId id="264" r:id="rId12"/>
    <p:sldId id="262" r:id="rId13"/>
    <p:sldId id="265" r:id="rId14"/>
    <p:sldId id="267" r:id="rId15"/>
    <p:sldId id="268" r:id="rId16"/>
    <p:sldId id="269" r:id="rId17"/>
    <p:sldId id="271" r:id="rId18"/>
    <p:sldId id="272" r:id="rId19"/>
    <p:sldId id="273" r:id="rId20"/>
    <p:sldId id="270" r:id="rId2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914" y="-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C3FED-626F-40C1-B9E4-EC87218E2E74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253DCE-15E8-4AF9-87A7-F3EB07C468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241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4588" y="695325"/>
            <a:ext cx="4567237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commentaires 2"/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276999"/>
          </a:xfrm>
        </p:spPr>
        <p:txBody>
          <a:bodyPr>
            <a:sp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43125" y="695325"/>
            <a:ext cx="257016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commentaires 2"/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276999"/>
          </a:xfrm>
        </p:spPr>
        <p:txBody>
          <a:bodyPr>
            <a:sp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1" y="2130426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A46A7-30DA-45A9-807E-DA25C949A306}" type="datetime1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1940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C18C-AA1C-46A8-A7CB-FBD98FD3FF45}" type="datetime1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128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5D0C-AF5B-4E2A-BFDF-DC599AB1710E}" type="datetime1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4511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1" y="1600201"/>
            <a:ext cx="40385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5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AB690-CFFA-4D1C-A889-7557070AA9C1}" type="datetime1">
              <a:rPr lang="fr-FR" smtClean="0"/>
              <a:t>07/11/2025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5690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4719-9337-4E03-B058-5D6B41C7699E}" type="datetime1">
              <a:rPr lang="fr-FR" smtClean="0"/>
              <a:t>07/11/2025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5454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43C7-C28E-4889-AA3B-A076498E56CE}" type="datetime1">
              <a:rPr lang="fr-FR" smtClean="0"/>
              <a:t>07/11/2025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248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02490-2E8E-49CB-87A9-3E88F19C21F4}" type="datetime1">
              <a:rPr lang="fr-FR" smtClean="0"/>
              <a:t>07/11/2025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3745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9414-A1F7-4A8E-B3EF-74FCFAC07B75}" type="datetime1">
              <a:rPr lang="fr-FR" smtClean="0"/>
              <a:t>07/11/2025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292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E7F8F-5CD1-44AE-84CE-9EC77C3BD7B7}" type="datetime1">
              <a:rPr lang="fr-FR" smtClean="0"/>
              <a:t>07/11/2025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124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0736-4F56-4753-9E96-57C9E0E36F36}" type="datetime1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194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38812-5F9D-4387-9451-2BC377C7ADF8}" type="datetime1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531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441" y="2129984"/>
            <a:ext cx="7773120" cy="147039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2321" y="3885528"/>
            <a:ext cx="6400801" cy="17526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4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4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9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36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8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3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78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E34A6-0598-4AC0-BF77-587C44C771D3}" type="datetime1">
              <a:rPr lang="fr-FR" smtClean="0">
                <a:solidFill>
                  <a:prstClr val="black"/>
                </a:solidFill>
              </a:rPr>
              <a:t>07/11/2025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/>
                </a:solidFill>
              </a:rPr>
              <a:t>Cours HTML - LP MRT </a:t>
            </a:r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81BF1-56D8-490C-983C-2D068F2C1E06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435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D30EC-26C7-4169-B2ED-38C21692BC44}" type="datetime1">
              <a:rPr lang="fr-FR" smtClean="0">
                <a:solidFill>
                  <a:prstClr val="black"/>
                </a:solidFill>
              </a:rPr>
              <a:t>07/11/2025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/>
                </a:solidFill>
              </a:rPr>
              <a:t>Cours HTML - LP MRT </a:t>
            </a:r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02721-4D82-418A-B3A9-31D0D00AD322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685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880" y="4406864"/>
            <a:ext cx="7771681" cy="136238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880" y="2906226"/>
            <a:ext cx="7771681" cy="1500638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47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945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4417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5890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7363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8835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90308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31780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29C23-0E53-4FB6-8154-5C124FCE943D}" type="datetime1">
              <a:rPr lang="fr-FR" smtClean="0">
                <a:solidFill>
                  <a:prstClr val="black"/>
                </a:solidFill>
              </a:rPr>
              <a:t>07/11/2025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/>
                </a:solidFill>
              </a:rPr>
              <a:t>Cours HTML - LP MRT </a:t>
            </a:r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A9F09-E592-457D-B48C-71CD22249940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467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6481" y="1604329"/>
            <a:ext cx="4044961" cy="4526396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39681" y="1604329"/>
            <a:ext cx="4046400" cy="4526396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C0E63-C672-41F2-BDE4-68E316872EB7}" type="datetime1">
              <a:rPr lang="fr-FR" smtClean="0">
                <a:solidFill>
                  <a:prstClr val="black"/>
                </a:solidFill>
              </a:rPr>
              <a:t>07/11/2025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/>
                </a:solidFill>
              </a:rPr>
              <a:t>Cours HTML - LP MRT </a:t>
            </a:r>
            <a:endParaRPr>
              <a:solidFill>
                <a:prstClr val="black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65024-8AEE-4288-B816-3AD8C2BC60FE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5148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921" y="275071"/>
            <a:ext cx="8229601" cy="1142039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920" y="1535201"/>
            <a:ext cx="4039201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726" indent="0">
              <a:buNone/>
              <a:defRPr sz="1800" b="1"/>
            </a:lvl2pPr>
            <a:lvl3pPr marL="829452" indent="0">
              <a:buNone/>
              <a:defRPr sz="1600" b="1"/>
            </a:lvl3pPr>
            <a:lvl4pPr marL="1244178" indent="0">
              <a:buNone/>
              <a:defRPr sz="1500" b="1"/>
            </a:lvl4pPr>
            <a:lvl5pPr marL="1658904" indent="0">
              <a:buNone/>
              <a:defRPr sz="1500" b="1"/>
            </a:lvl5pPr>
            <a:lvl6pPr marL="2073631" indent="0">
              <a:buNone/>
              <a:defRPr sz="1500" b="1"/>
            </a:lvl6pPr>
            <a:lvl7pPr marL="2488357" indent="0">
              <a:buNone/>
              <a:defRPr sz="1500" b="1"/>
            </a:lvl7pPr>
            <a:lvl8pPr marL="2903083" indent="0">
              <a:buNone/>
              <a:defRPr sz="1500" b="1"/>
            </a:lvl8pPr>
            <a:lvl9pPr marL="3317809" indent="0">
              <a:buNone/>
              <a:defRPr sz="15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920" y="2174629"/>
            <a:ext cx="4039201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441" y="1535201"/>
            <a:ext cx="4042081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726" indent="0">
              <a:buNone/>
              <a:defRPr sz="1800" b="1"/>
            </a:lvl2pPr>
            <a:lvl3pPr marL="829452" indent="0">
              <a:buNone/>
              <a:defRPr sz="1600" b="1"/>
            </a:lvl3pPr>
            <a:lvl4pPr marL="1244178" indent="0">
              <a:buNone/>
              <a:defRPr sz="1500" b="1"/>
            </a:lvl4pPr>
            <a:lvl5pPr marL="1658904" indent="0">
              <a:buNone/>
              <a:defRPr sz="1500" b="1"/>
            </a:lvl5pPr>
            <a:lvl6pPr marL="2073631" indent="0">
              <a:buNone/>
              <a:defRPr sz="1500" b="1"/>
            </a:lvl6pPr>
            <a:lvl7pPr marL="2488357" indent="0">
              <a:buNone/>
              <a:defRPr sz="1500" b="1"/>
            </a:lvl7pPr>
            <a:lvl8pPr marL="2903083" indent="0">
              <a:buNone/>
              <a:defRPr sz="1500" b="1"/>
            </a:lvl8pPr>
            <a:lvl9pPr marL="3317809" indent="0">
              <a:buNone/>
              <a:defRPr sz="15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441" y="2174629"/>
            <a:ext cx="4042081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EB48A-2657-4246-8DF7-B1B7F64B6705}" type="datetime1">
              <a:rPr lang="fr-FR" smtClean="0">
                <a:solidFill>
                  <a:prstClr val="black"/>
                </a:solidFill>
              </a:rPr>
              <a:t>07/11/2025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/>
                </a:solidFill>
              </a:rPr>
              <a:t>Cours HTML - LP MRT </a:t>
            </a:r>
            <a:endParaRPr>
              <a:solidFill>
                <a:prstClr val="black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9B3B7-3F78-46E0-A14B-2C3B8ED9D21E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134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2E0E-88C6-49A4-888E-E4127274AFA4}" type="datetime1">
              <a:rPr lang="fr-FR" smtClean="0">
                <a:solidFill>
                  <a:prstClr val="black"/>
                </a:solidFill>
              </a:rPr>
              <a:t>07/11/2025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/>
                </a:solidFill>
              </a:rPr>
              <a:t>Cours HTML - LP MRT </a:t>
            </a:r>
            <a:endParaRPr>
              <a:solidFill>
                <a:prstClr val="black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298B-4300-43BD-8B46-A86C0856CBEF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5857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8351-90F2-4BB0-AF39-ABA8A4643949}" type="datetime1">
              <a:rPr lang="fr-FR" smtClean="0">
                <a:solidFill>
                  <a:prstClr val="black"/>
                </a:solidFill>
              </a:rPr>
              <a:t>07/11/2025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/>
                </a:solidFill>
              </a:rPr>
              <a:t>Cours HTML - LP MRT </a:t>
            </a:r>
            <a:endParaRPr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6D48B-96AB-4C98-8748-869B9B8E98F2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8667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3008161" cy="116076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521" y="273629"/>
            <a:ext cx="5112000" cy="5852774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920" y="1434392"/>
            <a:ext cx="3008161" cy="4692013"/>
          </a:xfrm>
        </p:spPr>
        <p:txBody>
          <a:bodyPr/>
          <a:lstStyle>
            <a:lvl1pPr marL="0" indent="0">
              <a:buNone/>
              <a:defRPr sz="1300"/>
            </a:lvl1pPr>
            <a:lvl2pPr marL="414726" indent="0">
              <a:buNone/>
              <a:defRPr sz="1100"/>
            </a:lvl2pPr>
            <a:lvl3pPr marL="829452" indent="0">
              <a:buNone/>
              <a:defRPr sz="900"/>
            </a:lvl3pPr>
            <a:lvl4pPr marL="1244178" indent="0">
              <a:buNone/>
              <a:defRPr sz="800"/>
            </a:lvl4pPr>
            <a:lvl5pPr marL="1658904" indent="0">
              <a:buNone/>
              <a:defRPr sz="800"/>
            </a:lvl5pPr>
            <a:lvl6pPr marL="2073631" indent="0">
              <a:buNone/>
              <a:defRPr sz="800"/>
            </a:lvl6pPr>
            <a:lvl7pPr marL="2488357" indent="0">
              <a:buNone/>
              <a:defRPr sz="800"/>
            </a:lvl7pPr>
            <a:lvl8pPr marL="2903083" indent="0">
              <a:buNone/>
              <a:defRPr sz="800"/>
            </a:lvl8pPr>
            <a:lvl9pPr marL="3317809" indent="0">
              <a:buNone/>
              <a:defRPr sz="8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3303-A54E-40A5-AD22-907C2F6BCAB2}" type="datetime1">
              <a:rPr lang="fr-FR" smtClean="0">
                <a:solidFill>
                  <a:prstClr val="black"/>
                </a:solidFill>
              </a:rPr>
              <a:t>07/11/2025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/>
                </a:solidFill>
              </a:rPr>
              <a:t>Cours HTML - LP MRT </a:t>
            </a:r>
            <a:endParaRPr>
              <a:solidFill>
                <a:prstClr val="black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5B84-1DF2-4F26-B9D9-5381E15BC9D5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852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01" y="4800025"/>
            <a:ext cx="5486400" cy="56742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01" y="612065"/>
            <a:ext cx="5486400" cy="4115952"/>
          </a:xfrm>
        </p:spPr>
        <p:txBody>
          <a:bodyPr/>
          <a:lstStyle>
            <a:lvl1pPr marL="0" indent="0">
              <a:buNone/>
              <a:defRPr sz="2900"/>
            </a:lvl1pPr>
            <a:lvl2pPr marL="414726" indent="0">
              <a:buNone/>
              <a:defRPr sz="2500"/>
            </a:lvl2pPr>
            <a:lvl3pPr marL="829452" indent="0">
              <a:buNone/>
              <a:defRPr sz="2200"/>
            </a:lvl3pPr>
            <a:lvl4pPr marL="1244178" indent="0">
              <a:buNone/>
              <a:defRPr sz="1800"/>
            </a:lvl4pPr>
            <a:lvl5pPr marL="1658904" indent="0">
              <a:buNone/>
              <a:defRPr sz="1800"/>
            </a:lvl5pPr>
            <a:lvl6pPr marL="2073631" indent="0">
              <a:buNone/>
              <a:defRPr sz="1800"/>
            </a:lvl6pPr>
            <a:lvl7pPr marL="2488357" indent="0">
              <a:buNone/>
              <a:defRPr sz="1800"/>
            </a:lvl7pPr>
            <a:lvl8pPr marL="2903083" indent="0">
              <a:buNone/>
              <a:defRPr sz="1800"/>
            </a:lvl8pPr>
            <a:lvl9pPr marL="3317809" indent="0">
              <a:buNone/>
              <a:defRPr sz="18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01" y="5367444"/>
            <a:ext cx="5486400" cy="805044"/>
          </a:xfrm>
        </p:spPr>
        <p:txBody>
          <a:bodyPr/>
          <a:lstStyle>
            <a:lvl1pPr marL="0" indent="0">
              <a:buNone/>
              <a:defRPr sz="1300"/>
            </a:lvl1pPr>
            <a:lvl2pPr marL="414726" indent="0">
              <a:buNone/>
              <a:defRPr sz="1100"/>
            </a:lvl2pPr>
            <a:lvl3pPr marL="829452" indent="0">
              <a:buNone/>
              <a:defRPr sz="900"/>
            </a:lvl3pPr>
            <a:lvl4pPr marL="1244178" indent="0">
              <a:buNone/>
              <a:defRPr sz="800"/>
            </a:lvl4pPr>
            <a:lvl5pPr marL="1658904" indent="0">
              <a:buNone/>
              <a:defRPr sz="800"/>
            </a:lvl5pPr>
            <a:lvl6pPr marL="2073631" indent="0">
              <a:buNone/>
              <a:defRPr sz="800"/>
            </a:lvl6pPr>
            <a:lvl7pPr marL="2488357" indent="0">
              <a:buNone/>
              <a:defRPr sz="800"/>
            </a:lvl7pPr>
            <a:lvl8pPr marL="2903083" indent="0">
              <a:buNone/>
              <a:defRPr sz="800"/>
            </a:lvl8pPr>
            <a:lvl9pPr marL="3317809" indent="0">
              <a:buNone/>
              <a:defRPr sz="8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6749-BB82-454D-A299-FE118FA81CDF}" type="datetime1">
              <a:rPr lang="fr-FR" smtClean="0">
                <a:solidFill>
                  <a:prstClr val="black"/>
                </a:solidFill>
              </a:rPr>
              <a:t>07/11/2025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/>
                </a:solidFill>
              </a:rPr>
              <a:t>Cours HTML - LP MRT </a:t>
            </a:r>
            <a:endParaRPr>
              <a:solidFill>
                <a:prstClr val="black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5AC89-FB45-4659-946F-ED00F3693DA0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505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46DB-2D01-4292-B28F-ADEAFE1D24D7}" type="datetime1">
              <a:rPr lang="fr-FR" smtClean="0">
                <a:solidFill>
                  <a:prstClr val="black"/>
                </a:solidFill>
              </a:rPr>
              <a:t>07/11/2025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/>
                </a:solidFill>
              </a:rPr>
              <a:t>Cours HTML - LP MRT </a:t>
            </a:r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0FAC7-BD2F-41E3-A1B9-EA2497020C71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2291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760" y="273630"/>
            <a:ext cx="2056320" cy="585709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6479" y="273630"/>
            <a:ext cx="6035041" cy="585709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F3CB4-B42F-4233-946B-24D66998AFBB}" type="datetime1">
              <a:rPr lang="fr-FR" smtClean="0">
                <a:solidFill>
                  <a:prstClr val="black"/>
                </a:solidFill>
              </a:rPr>
              <a:t>07/11/2025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/>
                </a:solidFill>
              </a:rPr>
              <a:t>Cours HTML - LP MRT </a:t>
            </a:r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47940-ADDD-4FC4-AA07-B56356A61AB7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698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513" y="2130841"/>
            <a:ext cx="7772976" cy="1469880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025" y="3885841"/>
            <a:ext cx="6401952" cy="17528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9D23A-28F8-4A32-934B-FDE63F889A74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5017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F331-D7AE-44F3-993D-4D2AD846E41E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9158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996" y="4406400"/>
            <a:ext cx="7772976" cy="136296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996" y="2906281"/>
            <a:ext cx="7772976" cy="150012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E96B3-B988-4122-A6B0-B1FA019BB10E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0191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009" y="1604880"/>
            <a:ext cx="4022823" cy="4525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64170" y="1604880"/>
            <a:ext cx="4022822" cy="4525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97DB2-27EA-45CE-8661-10C45C77069D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0029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009" y="274321"/>
            <a:ext cx="8229984" cy="114372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008" y="1534681"/>
            <a:ext cx="4040104" cy="6404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008" y="2175120"/>
            <a:ext cx="4040104" cy="39506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4969" y="1534681"/>
            <a:ext cx="4042024" cy="6404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4969" y="2175120"/>
            <a:ext cx="4042024" cy="39506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72E28-C56C-4912-997B-E1259C26A636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168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06C4A-3729-4750-A23C-F9514968CB2A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4702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315AA-7D3F-4914-A2F9-73FAD1B76844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517658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008" y="273240"/>
            <a:ext cx="3008957" cy="116208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416" y="273240"/>
            <a:ext cx="5111577" cy="58525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008" y="1435320"/>
            <a:ext cx="3008957" cy="469044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77D58-1D7B-4677-9C3F-AB1D3A0D2315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9733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1549" y="4800601"/>
            <a:ext cx="5487936" cy="5670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1549" y="612361"/>
            <a:ext cx="548793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1549" y="5367600"/>
            <a:ext cx="5487936" cy="8046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BA76-67CD-45E6-B8EF-4ACE894571E4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2101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3A137-C3ED-4F44-A5A4-470CBB974FB1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3110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30457" y="273240"/>
            <a:ext cx="2056535" cy="5856840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009" y="273240"/>
            <a:ext cx="5989109" cy="585684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9A29-4E42-4068-AB3C-A40A613985CA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613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4793F-0E02-4369-9759-836DE5ED0031}" type="datetime1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Cours HTML - LP MRT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0AC47-E75C-40ED-9EC2-8794400AB0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132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 txBox="1">
            <a:spLocks noGrp="1"/>
          </p:cNvSpPr>
          <p:nvPr>
            <p:ph type="title"/>
          </p:nvPr>
        </p:nvSpPr>
        <p:spPr>
          <a:xfrm>
            <a:off x="457171" y="273353"/>
            <a:ext cx="8228764" cy="11450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fr-FR"/>
          </a:p>
        </p:txBody>
      </p:sp>
      <p:sp>
        <p:nvSpPr>
          <p:cNvPr id="3" name="Espace réservé du texte 2"/>
          <p:cNvSpPr txBox="1">
            <a:spLocks noGrp="1"/>
          </p:cNvSpPr>
          <p:nvPr>
            <p:ph type="body" idx="1"/>
          </p:nvPr>
        </p:nvSpPr>
        <p:spPr>
          <a:xfrm>
            <a:off x="457171" y="1604841"/>
            <a:ext cx="8228764" cy="45261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fr-FR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fr-FR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fr-FR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fr-FR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fr-FR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fr-FR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fr-FR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fr-FR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fr-FR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fr-FR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 txBox="1">
            <a:spLocks noGrp="1"/>
          </p:cNvSpPr>
          <p:nvPr>
            <p:ph type="dt" sz="half" idx="2"/>
          </p:nvPr>
        </p:nvSpPr>
        <p:spPr>
          <a:xfrm>
            <a:off x="457172" y="6247906"/>
            <a:ext cx="2130093" cy="472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fr-FR" sz="1300" kern="1200"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defTabSz="829452"/>
            <a:fld id="{294EE2FE-7C93-4A41-A86F-2533427938CC}" type="datetime1">
              <a:rPr lang="fr-FR" smtClean="0">
                <a:solidFill>
                  <a:prstClr val="black"/>
                </a:solidFill>
              </a:rPr>
              <a:t>07/11/2025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 txBox="1">
            <a:spLocks noGrp="1"/>
          </p:cNvSpPr>
          <p:nvPr>
            <p:ph type="ftr" sz="quarter" idx="3"/>
          </p:nvPr>
        </p:nvSpPr>
        <p:spPr>
          <a:xfrm>
            <a:off x="3127054" y="6247906"/>
            <a:ext cx="2898142" cy="472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ctr" rtl="0" hangingPunct="0">
              <a:buNone/>
              <a:tabLst/>
              <a:defRPr lang="fr-FR" sz="1300" kern="1200"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defTabSz="829452"/>
            <a:r>
              <a:rPr lang="fr-FR">
                <a:solidFill>
                  <a:prstClr val="black"/>
                </a:solidFill>
              </a:rPr>
              <a:t>Cours HTML - LP MRT </a:t>
            </a:r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numéro de diapositive 5"/>
          <p:cNvSpPr txBox="1">
            <a:spLocks noGrp="1"/>
          </p:cNvSpPr>
          <p:nvPr>
            <p:ph type="sldNum" sz="quarter" idx="4"/>
          </p:nvPr>
        </p:nvSpPr>
        <p:spPr>
          <a:xfrm>
            <a:off x="6555844" y="6247906"/>
            <a:ext cx="2130093" cy="472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fr-FR" sz="1300" kern="1200"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defTabSz="829452"/>
            <a:fld id="{FF832EC1-CCA0-4819-9E55-78A97D9A4E00}" type="slidenum">
              <a:rPr>
                <a:solidFill>
                  <a:prstClr val="black"/>
                </a:solidFill>
              </a:rPr>
              <a:pPr defTabSz="829452"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104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rtl="0" hangingPunct="0">
        <a:tabLst/>
        <a:defRPr lang="fr-FR" sz="4000" b="0" i="0" u="none" strike="noStrike" kern="1200">
          <a:ln>
            <a:noFill/>
          </a:ln>
          <a:latin typeface="Arial" pitchFamily="18"/>
          <a:ea typeface="Microsoft YaHei" pitchFamily="2"/>
        </a:defRPr>
      </a:lvl1pPr>
    </p:titleStyle>
    <p:bodyStyle>
      <a:lvl1pPr rtl="0" hangingPunct="0">
        <a:spcBef>
          <a:spcPts val="0"/>
        </a:spcBef>
        <a:spcAft>
          <a:spcPts val="1285"/>
        </a:spcAft>
        <a:tabLst/>
        <a:defRPr lang="fr-FR" sz="2900" b="0" i="0" u="none" strike="noStrike" kern="1200">
          <a:ln>
            <a:noFill/>
          </a:ln>
          <a:latin typeface="Arial" pitchFamily="18"/>
          <a:ea typeface="Microsoft YaHei" pitchFamily="2"/>
        </a:defRPr>
      </a:lvl1pPr>
    </p:bodyStyle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 txBox="1">
            <a:spLocks noGrp="1"/>
          </p:cNvSpPr>
          <p:nvPr>
            <p:ph type="title"/>
          </p:nvPr>
        </p:nvSpPr>
        <p:spPr>
          <a:xfrm>
            <a:off x="457220" y="273323"/>
            <a:ext cx="8229518" cy="11449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fr-FR"/>
          </a:p>
        </p:txBody>
      </p:sp>
      <p:sp>
        <p:nvSpPr>
          <p:cNvPr id="3" name="Espace réservé du texte 2"/>
          <p:cNvSpPr txBox="1">
            <a:spLocks noGrp="1"/>
          </p:cNvSpPr>
          <p:nvPr>
            <p:ph type="body" idx="1"/>
          </p:nvPr>
        </p:nvSpPr>
        <p:spPr>
          <a:xfrm>
            <a:off x="457220" y="1604673"/>
            <a:ext cx="8229518" cy="45257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marR="0" lvl="0" indent="-324000">
              <a:spcBef>
                <a:spcPts val="0"/>
              </a:spcBef>
              <a:spcAft>
                <a:spcPts val="1888"/>
              </a:spcAft>
              <a:buSzPct val="45000"/>
              <a:buFont typeface="StarSymbol"/>
              <a:buNone/>
              <a:defRPr lang="fr-FR" sz="427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888"/>
              </a:spcAft>
              <a:buSzPct val="45000"/>
              <a:buFont typeface="StarSymbol"/>
              <a:buChar char="●"/>
              <a:defRPr lang="fr-FR" sz="427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511"/>
              </a:spcAft>
              <a:buSzPct val="45000"/>
              <a:buFont typeface="StarSymbol"/>
              <a:buChar char="●"/>
              <a:defRPr lang="fr-FR" sz="373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fr-FR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754"/>
              </a:spcAft>
              <a:buSzPct val="45000"/>
              <a:buFont typeface="StarSymbol"/>
              <a:buChar char="●"/>
              <a:defRPr lang="fr-FR" sz="267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377"/>
              </a:spcAft>
              <a:buSzPct val="75000"/>
              <a:buFont typeface="StarSymbol"/>
              <a:buChar char="–"/>
              <a:defRPr lang="fr-FR" sz="267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377"/>
              </a:spcAft>
              <a:buSzPct val="45000"/>
              <a:buFont typeface="StarSymbol"/>
              <a:buChar char="●"/>
              <a:defRPr lang="fr-FR" sz="267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377"/>
              </a:spcAft>
              <a:buSzPct val="45000"/>
              <a:buFont typeface="StarSymbol"/>
              <a:buChar char="●"/>
              <a:defRPr lang="fr-FR" sz="267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377"/>
              </a:spcAft>
              <a:buSzPct val="45000"/>
              <a:buFont typeface="StarSymbol"/>
              <a:buChar char="●"/>
              <a:defRPr lang="fr-FR" sz="267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377"/>
              </a:spcAft>
              <a:buSzPct val="45000"/>
              <a:buFont typeface="StarSymbol"/>
              <a:buChar char="●"/>
              <a:defRPr lang="fr-FR" sz="267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 txBox="1">
            <a:spLocks noGrp="1"/>
          </p:cNvSpPr>
          <p:nvPr>
            <p:ph type="dt" sz="half" idx="2"/>
          </p:nvPr>
        </p:nvSpPr>
        <p:spPr>
          <a:xfrm>
            <a:off x="457220" y="6247251"/>
            <a:ext cx="2130207" cy="4729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fr-FR" sz="1400" kern="1200"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 txBox="1">
            <a:spLocks noGrp="1"/>
          </p:cNvSpPr>
          <p:nvPr>
            <p:ph type="ftr" sz="quarter" idx="3"/>
          </p:nvPr>
        </p:nvSpPr>
        <p:spPr>
          <a:xfrm>
            <a:off x="3127383" y="6247251"/>
            <a:ext cx="2898337" cy="4729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ctr" rtl="0" hangingPunct="0">
              <a:buNone/>
              <a:tabLst/>
              <a:defRPr lang="fr-FR" sz="1400" kern="1200"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Espace réservé du numéro de diapositive 5"/>
          <p:cNvSpPr txBox="1">
            <a:spLocks noGrp="1"/>
          </p:cNvSpPr>
          <p:nvPr>
            <p:ph type="sldNum" sz="quarter" idx="4"/>
          </p:nvPr>
        </p:nvSpPr>
        <p:spPr>
          <a:xfrm>
            <a:off x="6556530" y="6247251"/>
            <a:ext cx="2130207" cy="4729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fr-FR" sz="1400" kern="1200"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fld id="{29F59728-6005-4BC8-A087-9B1B1C44962D}" type="slidenum">
              <a:rPr>
                <a:solidFill>
                  <a:prstClr val="black"/>
                </a:solidFill>
              </a:rPr>
              <a:pPr/>
              <a:t>‹N°›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87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hangingPunct="0">
        <a:tabLst/>
        <a:defRPr lang="fr-FR" sz="5870" b="0" i="0" u="none" strike="noStrike" kern="1200">
          <a:ln>
            <a:noFill/>
          </a:ln>
          <a:latin typeface="Arial" pitchFamily="18"/>
          <a:ea typeface="Microsoft YaHei" pitchFamily="2"/>
        </a:defRPr>
      </a:lvl1pPr>
    </p:titleStyle>
    <p:bodyStyle>
      <a:lvl1pPr marL="0" marR="0" indent="0" rtl="0" hangingPunct="0">
        <a:spcBef>
          <a:spcPts val="0"/>
        </a:spcBef>
        <a:spcAft>
          <a:spcPts val="1888"/>
        </a:spcAft>
        <a:tabLst/>
        <a:defRPr lang="fr-FR" sz="4270" b="0" i="0" u="none" strike="noStrike" kern="1200">
          <a:ln>
            <a:noFill/>
          </a:ln>
          <a:latin typeface="Arial" pitchFamily="18"/>
          <a:ea typeface="Microsoft YaHei" pitchFamily="2"/>
        </a:defRPr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Cours HTML</a:t>
            </a:r>
            <a:br>
              <a:rPr lang="fr-FR" dirty="0"/>
            </a:br>
            <a:r>
              <a:rPr lang="fr-FR" dirty="0"/>
              <a:t>(</a:t>
            </a:r>
            <a:r>
              <a:rPr lang="fr-FR" b="1" dirty="0"/>
              <a:t>H</a:t>
            </a:r>
            <a:r>
              <a:rPr lang="fr-FR" dirty="0"/>
              <a:t>yper</a:t>
            </a:r>
            <a:r>
              <a:rPr lang="fr-FR" b="1" dirty="0"/>
              <a:t>T</a:t>
            </a:r>
            <a:r>
              <a:rPr lang="fr-FR" dirty="0"/>
              <a:t>ext </a:t>
            </a:r>
            <a:r>
              <a:rPr lang="fr-FR" b="1" dirty="0"/>
              <a:t>M</a:t>
            </a:r>
            <a:r>
              <a:rPr lang="fr-FR" dirty="0"/>
              <a:t>arkup </a:t>
            </a:r>
            <a:r>
              <a:rPr lang="fr-FR" b="1" dirty="0" err="1"/>
              <a:t>L</a:t>
            </a:r>
            <a:r>
              <a:rPr lang="fr-FR" dirty="0" err="1"/>
              <a:t>anguage</a:t>
            </a:r>
            <a:r>
              <a:rPr lang="fr-FR" dirty="0"/>
              <a:t>)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LP MRT</a:t>
            </a:r>
          </a:p>
          <a:p>
            <a:r>
              <a:rPr lang="fr-FR" dirty="0"/>
              <a:t>IUT de Cachan</a:t>
            </a:r>
          </a:p>
        </p:txBody>
      </p:sp>
    </p:spTree>
    <p:extLst>
      <p:ext uri="{BB962C8B-B14F-4D97-AF65-F5344CB8AC3E}">
        <p14:creationId xmlns:p14="http://schemas.microsoft.com/office/powerpoint/2010/main" val="1910669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Principe de fonctionnement client/serveur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87" t="42136" r="12682" b="40817"/>
          <a:stretch/>
        </p:blipFill>
        <p:spPr bwMode="auto">
          <a:xfrm>
            <a:off x="467544" y="2132856"/>
            <a:ext cx="8450946" cy="239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2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FA45B50-3470-9CE2-005F-3FDFFB4ACE0A}"/>
              </a:ext>
            </a:extLst>
          </p:cNvPr>
          <p:cNvSpPr txBox="1"/>
          <p:nvPr/>
        </p:nvSpPr>
        <p:spPr>
          <a:xfrm>
            <a:off x="2195736" y="4796043"/>
            <a:ext cx="45493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Répertoire racine par défaut = /var/www/html</a:t>
            </a:r>
          </a:p>
          <a:p>
            <a:r>
              <a:rPr lang="fr-FR" dirty="0"/>
              <a:t>(accès root)</a:t>
            </a:r>
          </a:p>
        </p:txBody>
      </p:sp>
    </p:spTree>
    <p:extLst>
      <p:ext uri="{BB962C8B-B14F-4D97-AF65-F5344CB8AC3E}">
        <p14:creationId xmlns:p14="http://schemas.microsoft.com/office/powerpoint/2010/main" val="3269666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HTML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HyperText</a:t>
            </a:r>
            <a:r>
              <a:rPr lang="fr-FR" dirty="0" err="1">
                <a:sym typeface="Wingdings" panose="05000000000000000000" pitchFamily="2" charset="2"/>
              </a:rPr>
              <a:t>liens</a:t>
            </a:r>
            <a:endParaRPr lang="fr-FR" dirty="0"/>
          </a:p>
          <a:p>
            <a:r>
              <a:rPr lang="fr-FR" dirty="0" err="1"/>
              <a:t>Markup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balises </a:t>
            </a:r>
            <a:endParaRPr lang="fr-FR" dirty="0"/>
          </a:p>
          <a:p>
            <a:r>
              <a:rPr lang="fr-FR" dirty="0" err="1"/>
              <a:t>Language</a:t>
            </a:r>
            <a:r>
              <a:rPr lang="fr-FR" dirty="0"/>
              <a:t> 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5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3" y="332656"/>
            <a:ext cx="8229601" cy="1139669"/>
          </a:xfrm>
        </p:spPr>
        <p:txBody>
          <a:bodyPr/>
          <a:lstStyle/>
          <a:p>
            <a:r>
              <a:rPr lang="fr-FR" dirty="0"/>
              <a:t>Les balises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1" cy="4608512"/>
          </a:xfrm>
        </p:spPr>
        <p:txBody>
          <a:bodyPr>
            <a:normAutofit/>
          </a:bodyPr>
          <a:lstStyle/>
          <a:p>
            <a:r>
              <a:rPr lang="fr-FR" dirty="0"/>
              <a:t>Pour structurer une page web</a:t>
            </a:r>
          </a:p>
          <a:p>
            <a:r>
              <a:rPr lang="fr-FR" dirty="0"/>
              <a:t>Pour mettre en forme du texte</a:t>
            </a:r>
          </a:p>
          <a:p>
            <a:r>
              <a:rPr lang="fr-FR" dirty="0"/>
              <a:t>Pour hiérarchiser une page web</a:t>
            </a:r>
          </a:p>
          <a:p>
            <a:endParaRPr lang="fr-FR" dirty="0"/>
          </a:p>
          <a:p>
            <a:r>
              <a:rPr lang="fr-FR" dirty="0"/>
              <a:t>Il existe deux types de balises : les balises orphelines et les balises par paire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271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Syntaxe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Structure une balise est constituée  du symbole « &lt; » et du symbole « &gt; »</a:t>
            </a:r>
          </a:p>
          <a:p>
            <a:endParaRPr lang="fr-FR" dirty="0"/>
          </a:p>
          <a:p>
            <a:r>
              <a:rPr lang="fr-FR" dirty="0"/>
              <a:t>A l’intérieur de ces chevrons il peut y avoir des attributs pour détailler le comportement d’une balise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517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de balises par paire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y a une balise ouvrante et une balise fermante</a:t>
            </a:r>
          </a:p>
          <a:p>
            <a:r>
              <a:rPr lang="fr-FR" dirty="0"/>
              <a:t>&lt;h1&gt; mon texte &lt;/h1&gt; </a:t>
            </a:r>
            <a:r>
              <a:rPr lang="fr-FR" dirty="0">
                <a:sym typeface="Wingdings" panose="05000000000000000000" pitchFamily="2" charset="2"/>
              </a:rPr>
              <a:t> mise en forme de texte</a:t>
            </a:r>
          </a:p>
          <a:p>
            <a:r>
              <a:rPr lang="fr-FR" dirty="0">
                <a:sym typeface="Wingdings" panose="05000000000000000000" pitchFamily="2" charset="2"/>
              </a:rPr>
              <a:t>&lt;p&gt;du texte&lt;/p&gt;  création d’un paragraphe</a:t>
            </a:r>
          </a:p>
          <a:p>
            <a:r>
              <a:rPr lang="fr-FR" dirty="0">
                <a:sym typeface="Wingdings" panose="05000000000000000000" pitchFamily="2" charset="2"/>
              </a:rPr>
              <a:t>&lt;</a:t>
            </a:r>
            <a:r>
              <a:rPr lang="fr-FR" dirty="0" err="1">
                <a:sym typeface="Wingdings" panose="05000000000000000000" pitchFamily="2" charset="2"/>
              </a:rPr>
              <a:t>form</a:t>
            </a:r>
            <a:r>
              <a:rPr lang="fr-FR" dirty="0">
                <a:sym typeface="Wingdings" panose="05000000000000000000" pitchFamily="2" charset="2"/>
              </a:rPr>
              <a:t>&gt; &lt;/</a:t>
            </a:r>
            <a:r>
              <a:rPr lang="fr-FR" dirty="0" err="1">
                <a:sym typeface="Wingdings" panose="05000000000000000000" pitchFamily="2" charset="2"/>
              </a:rPr>
              <a:t>form</a:t>
            </a:r>
            <a:r>
              <a:rPr lang="fr-FR" dirty="0">
                <a:sym typeface="Wingdings" panose="05000000000000000000" pitchFamily="2" charset="2"/>
              </a:rPr>
              <a:t>&gt;  pour créer un formulaire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4452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balise orpheline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&lt;</a:t>
            </a:r>
            <a:r>
              <a:rPr lang="fr-FR" dirty="0" err="1"/>
              <a:t>br</a:t>
            </a:r>
            <a:r>
              <a:rPr lang="fr-FR" dirty="0"/>
              <a:t> /&gt; </a:t>
            </a:r>
            <a:r>
              <a:rPr lang="fr-FR" dirty="0">
                <a:sym typeface="Wingdings" panose="05000000000000000000" pitchFamily="2" charset="2"/>
              </a:rPr>
              <a:t> saut de ligne</a:t>
            </a:r>
          </a:p>
          <a:p>
            <a:r>
              <a:rPr lang="fr-FR" dirty="0">
                <a:sym typeface="Wingdings" panose="05000000000000000000" pitchFamily="2" charset="2"/>
              </a:rPr>
              <a:t>&lt;input /&gt;  balise de champ dans un formulaire 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7291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87B4D2-2157-4DDF-6691-DED933B9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Structure basique d’une page html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F77F33-0734-089C-7B84-2D12B0C8A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9"/>
            <a:ext cx="8229601" cy="4785396"/>
          </a:xfrm>
        </p:spPr>
        <p:txBody>
          <a:bodyPr>
            <a:normAutofit fontScale="62500" lnSpcReduction="20000"/>
          </a:bodyPr>
          <a:lstStyle/>
          <a:p>
            <a:r>
              <a:rPr lang="fr-FR" dirty="0"/>
              <a:t>&lt;!doctype html&gt;</a:t>
            </a:r>
          </a:p>
          <a:p>
            <a:r>
              <a:rPr lang="fr-FR" dirty="0"/>
              <a:t>&lt;html </a:t>
            </a:r>
            <a:r>
              <a:rPr lang="fr-FR" dirty="0" err="1"/>
              <a:t>lang</a:t>
            </a:r>
            <a:r>
              <a:rPr lang="fr-FR" dirty="0"/>
              <a:t>="</a:t>
            </a:r>
            <a:r>
              <a:rPr lang="fr-FR" dirty="0" err="1"/>
              <a:t>fr</a:t>
            </a:r>
            <a:r>
              <a:rPr lang="fr-FR" dirty="0"/>
              <a:t>"&gt;</a:t>
            </a:r>
          </a:p>
          <a:p>
            <a:endParaRPr lang="fr-FR" dirty="0"/>
          </a:p>
          <a:p>
            <a:r>
              <a:rPr lang="fr-FR" dirty="0"/>
              <a:t>&lt;</a:t>
            </a:r>
            <a:r>
              <a:rPr lang="fr-FR" dirty="0" err="1"/>
              <a:t>head</a:t>
            </a:r>
            <a:r>
              <a:rPr lang="fr-FR" dirty="0"/>
              <a:t>&gt;</a:t>
            </a:r>
          </a:p>
          <a:p>
            <a:r>
              <a:rPr lang="fr-FR" dirty="0"/>
              <a:t>  &lt;</a:t>
            </a:r>
            <a:r>
              <a:rPr lang="fr-FR" dirty="0" err="1"/>
              <a:t>meta</a:t>
            </a:r>
            <a:r>
              <a:rPr lang="fr-FR" dirty="0"/>
              <a:t> </a:t>
            </a:r>
            <a:r>
              <a:rPr lang="fr-FR" dirty="0" err="1"/>
              <a:t>charset</a:t>
            </a:r>
            <a:r>
              <a:rPr lang="fr-FR" dirty="0"/>
              <a:t>="utf-8"&gt;</a:t>
            </a:r>
          </a:p>
          <a:p>
            <a:r>
              <a:rPr lang="fr-FR" dirty="0"/>
              <a:t>  &lt;</a:t>
            </a:r>
            <a:r>
              <a:rPr lang="fr-FR" dirty="0" err="1"/>
              <a:t>title</a:t>
            </a:r>
            <a:r>
              <a:rPr lang="fr-FR" dirty="0"/>
              <a:t>&gt;Titre de la page&lt;/</a:t>
            </a:r>
            <a:r>
              <a:rPr lang="fr-FR" dirty="0" err="1"/>
              <a:t>title</a:t>
            </a:r>
            <a:r>
              <a:rPr lang="fr-FR" dirty="0"/>
              <a:t>&gt;</a:t>
            </a:r>
          </a:p>
          <a:p>
            <a:r>
              <a:rPr lang="fr-FR" dirty="0"/>
              <a:t>  &lt;</a:t>
            </a:r>
            <a:r>
              <a:rPr lang="fr-FR" dirty="0" err="1"/>
              <a:t>link</a:t>
            </a:r>
            <a:r>
              <a:rPr lang="fr-FR" dirty="0"/>
              <a:t> rel="</a:t>
            </a:r>
            <a:r>
              <a:rPr lang="fr-FR" dirty="0" err="1"/>
              <a:t>stylesheet</a:t>
            </a:r>
            <a:r>
              <a:rPr lang="fr-FR" dirty="0"/>
              <a:t>" href="style.css"&gt;</a:t>
            </a:r>
          </a:p>
          <a:p>
            <a:r>
              <a:rPr lang="fr-FR" dirty="0"/>
              <a:t>&lt;/</a:t>
            </a:r>
            <a:r>
              <a:rPr lang="fr-FR" dirty="0" err="1"/>
              <a:t>head</a:t>
            </a:r>
            <a:r>
              <a:rPr lang="fr-FR" dirty="0"/>
              <a:t>&gt;</a:t>
            </a:r>
          </a:p>
          <a:p>
            <a:endParaRPr lang="fr-FR" dirty="0"/>
          </a:p>
          <a:p>
            <a:r>
              <a:rPr lang="fr-FR" dirty="0"/>
              <a:t>&lt;body&gt;</a:t>
            </a:r>
          </a:p>
          <a:p>
            <a:r>
              <a:rPr lang="fr-FR" dirty="0"/>
              <a:t>  ...</a:t>
            </a:r>
          </a:p>
          <a:p>
            <a:r>
              <a:rPr lang="fr-FR" dirty="0"/>
              <a:t>  &lt;!– Le corps--&gt;</a:t>
            </a:r>
          </a:p>
          <a:p>
            <a:r>
              <a:rPr lang="fr-FR" dirty="0"/>
              <a:t>  ...</a:t>
            </a:r>
          </a:p>
          <a:p>
            <a:r>
              <a:rPr lang="fr-FR" dirty="0"/>
              <a:t>&lt;/body&gt;</a:t>
            </a:r>
          </a:p>
          <a:p>
            <a:r>
              <a:rPr lang="fr-FR" dirty="0"/>
              <a:t>&lt;/html&gt;</a:t>
            </a:r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FFDCCF7-E681-097E-3722-C3AB300A4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E60FE8-E5CF-EEFD-7ED5-E56729DAC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511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478953" y="965244"/>
            <a:ext cx="3008842" cy="613344"/>
          </a:xfrm>
          <a:prstGeom prst="rect">
            <a:avLst/>
          </a:prstGeom>
          <a:noFill/>
          <a:ln>
            <a:noFill/>
          </a:ln>
        </p:spPr>
        <p:txBody>
          <a:bodyPr vert="horz" lIns="81631" tIns="40816" rIns="81631" bIns="40816" anchorCtr="0" compatLnSpc="0">
            <a:spAutoFit/>
          </a:bodyPr>
          <a:lstStyle/>
          <a:p>
            <a:pPr defTabSz="829366" hangingPunct="0">
              <a:defRPr>
                <a:solidFill>
                  <a:srgbClr val="FF0000"/>
                </a:solidFill>
              </a:defRPr>
            </a:pPr>
            <a:r>
              <a:rPr lang="fr-FR" u="sng" dirty="0">
                <a:solidFill>
                  <a:srgbClr val="FF0000"/>
                </a:solidFill>
                <a:latin typeface="Arial" pitchFamily="18"/>
                <a:ea typeface="Microsoft YaHei" pitchFamily="2"/>
                <a:cs typeface="Mangal" pitchFamily="2"/>
              </a:rPr>
              <a:t>Lien vers l'ancre de destination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89829" y="1632927"/>
            <a:ext cx="2775685" cy="1143049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  <a:prstDash val="solid"/>
          </a:ln>
        </p:spPr>
        <p:txBody>
          <a:bodyPr vert="horz" lIns="81631" tIns="40816" rIns="81631" bIns="40816" anchor="ctr" anchorCtr="1" compatLnSpc="0"/>
          <a:lstStyle/>
          <a:p>
            <a:pPr algn="ctr" defTabSz="829366" hangingPunct="0"/>
            <a:r>
              <a:rPr lang="fr-FR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Première partie du</a:t>
            </a:r>
          </a:p>
          <a:p>
            <a:pPr algn="ctr" defTabSz="829366" hangingPunct="0"/>
            <a:r>
              <a:rPr lang="fr-FR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contenu de la page web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478953" y="6244656"/>
            <a:ext cx="2049435" cy="613344"/>
          </a:xfrm>
          <a:prstGeom prst="rect">
            <a:avLst/>
          </a:prstGeom>
          <a:noFill/>
          <a:ln>
            <a:noFill/>
          </a:ln>
        </p:spPr>
        <p:txBody>
          <a:bodyPr vert="horz" lIns="81631" tIns="40816" rIns="81631" bIns="40816" anchorCtr="0" compatLnSpc="0">
            <a:spAutoFit/>
          </a:bodyPr>
          <a:lstStyle/>
          <a:p>
            <a:pPr defTabSz="829366" hangingPunct="0">
              <a:defRPr>
                <a:solidFill>
                  <a:srgbClr val="FF0000"/>
                </a:solidFill>
              </a:defRPr>
            </a:pPr>
            <a:r>
              <a:rPr lang="fr-FR" dirty="0">
                <a:solidFill>
                  <a:srgbClr val="FF0000"/>
                </a:solidFill>
                <a:latin typeface="Arial" pitchFamily="18"/>
                <a:ea typeface="Microsoft YaHei" pitchFamily="2"/>
                <a:cs typeface="Mangal" pitchFamily="2"/>
              </a:rPr>
              <a:t>Ancre de destination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4571719" y="979758"/>
            <a:ext cx="4245165" cy="893549"/>
          </a:xfrm>
          <a:prstGeom prst="rect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lIns="81631" tIns="40816" rIns="81631" bIns="40816" compatLnSpc="0">
            <a:spAutoFit/>
          </a:bodyPr>
          <a:lstStyle/>
          <a:p>
            <a:pPr defTabSz="829366" hangingPunct="0">
              <a:defRPr sz="1200"/>
            </a:pPr>
            <a:r>
              <a:rPr lang="fr-FR" sz="11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Lorsqu'on appuie sur le lien vers l'ancre de destination, on se retrouve à l'endroit du document où se trouve  l'ancre de destination. Un exemple concret pourrait être celui d'un sommaire qui lorsqu'on appuie sur un lien vers un chapitre, celui-ci nous emmène directement au chapitre voulu.</a:t>
            </a:r>
          </a:p>
        </p:txBody>
      </p:sp>
      <p:sp>
        <p:nvSpPr>
          <p:cNvPr id="6" name="Titre 5"/>
          <p:cNvSpPr txBox="1">
            <a:spLocks noGrp="1"/>
          </p:cNvSpPr>
          <p:nvPr>
            <p:ph type="title" idx="4294967295"/>
          </p:nvPr>
        </p:nvSpPr>
        <p:spPr>
          <a:xfrm>
            <a:off x="1796032" y="158477"/>
            <a:ext cx="5420750" cy="446276"/>
          </a:xfrm>
        </p:spPr>
        <p:txBody>
          <a:bodyPr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fr-FR" sz="2900"/>
              <a:t>Schéma lien-ancre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829" y="3102563"/>
            <a:ext cx="2775685" cy="1143049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  <a:prstDash val="solid"/>
          </a:ln>
        </p:spPr>
        <p:txBody>
          <a:bodyPr vert="horz" lIns="81631" tIns="40816" rIns="81631" bIns="40816" anchor="ctr" anchorCtr="1" compatLnSpc="0"/>
          <a:lstStyle/>
          <a:p>
            <a:pPr algn="ctr" defTabSz="829366" hangingPunct="0"/>
            <a:r>
              <a:rPr lang="fr-FR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deuxième partie du</a:t>
            </a:r>
          </a:p>
          <a:p>
            <a:pPr algn="ctr" defTabSz="829366" hangingPunct="0"/>
            <a:r>
              <a:rPr lang="fr-FR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contenu de la page Web</a:t>
            </a:r>
          </a:p>
        </p:txBody>
      </p:sp>
      <p:sp>
        <p:nvSpPr>
          <p:cNvPr id="8" name="Connecteur droit 7"/>
          <p:cNvSpPr/>
          <p:nvPr/>
        </p:nvSpPr>
        <p:spPr>
          <a:xfrm>
            <a:off x="3428787" y="1632927"/>
            <a:ext cx="0" cy="114304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headEnd type="arrow"/>
            <a:tailEnd type="arrow"/>
          </a:ln>
        </p:spPr>
        <p:txBody>
          <a:bodyPr vert="horz" lIns="81631" tIns="40816" rIns="81631" bIns="40816" anchor="ctr" anchorCtr="1" compatLnSpc="0"/>
          <a:lstStyle/>
          <a:p>
            <a:pPr defTabSz="829366" hangingPunct="0"/>
            <a:endParaRPr lang="fr-FR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9" name="Connecteur droit 8"/>
          <p:cNvSpPr/>
          <p:nvPr/>
        </p:nvSpPr>
        <p:spPr>
          <a:xfrm>
            <a:off x="3428787" y="3102563"/>
            <a:ext cx="0" cy="114304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headEnd type="arrow"/>
            <a:tailEnd type="arrow"/>
          </a:ln>
        </p:spPr>
        <p:txBody>
          <a:bodyPr vert="horz" lIns="81631" tIns="40816" rIns="81631" bIns="40816" anchor="ctr" anchorCtr="1" compatLnSpc="0"/>
          <a:lstStyle/>
          <a:p>
            <a:pPr defTabSz="829366" hangingPunct="0"/>
            <a:endParaRPr lang="fr-FR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428790" y="2122806"/>
            <a:ext cx="1847626" cy="613344"/>
          </a:xfrm>
          <a:prstGeom prst="rect">
            <a:avLst/>
          </a:prstGeom>
          <a:noFill/>
          <a:ln>
            <a:noFill/>
          </a:ln>
        </p:spPr>
        <p:txBody>
          <a:bodyPr vert="horz" lIns="81631" tIns="40816" rIns="81631" bIns="40816" anchorCtr="0" compatLnSpc="0">
            <a:spAutoFit/>
          </a:bodyPr>
          <a:lstStyle/>
          <a:p>
            <a:pPr defTabSz="829366" hangingPunct="0"/>
            <a:r>
              <a:rPr lang="fr-FR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Hauteur de l'écran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829" y="5101608"/>
            <a:ext cx="2775685" cy="1143049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  <a:prstDash val="solid"/>
          </a:ln>
        </p:spPr>
        <p:txBody>
          <a:bodyPr vert="horz" lIns="81631" tIns="40816" rIns="81631" bIns="40816" anchor="ctr" anchorCtr="1" compatLnSpc="0"/>
          <a:lstStyle/>
          <a:p>
            <a:pPr algn="ctr" defTabSz="829366" hangingPunct="0"/>
            <a:r>
              <a:rPr lang="fr-FR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énième partie du</a:t>
            </a:r>
          </a:p>
          <a:p>
            <a:pPr algn="ctr" defTabSz="829366" hangingPunct="0"/>
            <a:r>
              <a:rPr lang="fr-FR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contenu de la page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3461445" y="3441231"/>
            <a:ext cx="1847626" cy="613344"/>
          </a:xfrm>
          <a:prstGeom prst="rect">
            <a:avLst/>
          </a:prstGeom>
          <a:noFill/>
          <a:ln>
            <a:noFill/>
          </a:ln>
        </p:spPr>
        <p:txBody>
          <a:bodyPr vert="horz" lIns="81631" tIns="40816" rIns="81631" bIns="40816" anchorCtr="0" compatLnSpc="0">
            <a:spAutoFit/>
          </a:bodyPr>
          <a:lstStyle/>
          <a:p>
            <a:pPr defTabSz="829366" hangingPunct="0"/>
            <a:r>
              <a:rPr lang="fr-FR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Hauteur de l'écran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632759" y="4245612"/>
            <a:ext cx="222055" cy="1144258"/>
          </a:xfrm>
          <a:prstGeom prst="rect">
            <a:avLst/>
          </a:prstGeom>
          <a:noFill/>
          <a:ln>
            <a:noFill/>
          </a:ln>
        </p:spPr>
        <p:txBody>
          <a:bodyPr vert="horz" lIns="81631" tIns="40816" rIns="81631" bIns="40816" anchorCtr="0" compatLnSpc="0">
            <a:spAutoFit/>
          </a:bodyPr>
          <a:lstStyle/>
          <a:p>
            <a:pPr defTabSz="829366" hangingPunct="0"/>
            <a:r>
              <a:rPr lang="fr-FR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.</a:t>
            </a:r>
          </a:p>
          <a:p>
            <a:pPr defTabSz="829366" hangingPunct="0"/>
            <a:r>
              <a:rPr lang="fr-FR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.</a:t>
            </a:r>
          </a:p>
          <a:p>
            <a:pPr defTabSz="829366" hangingPunct="0"/>
            <a:r>
              <a:rPr lang="fr-FR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.</a:t>
            </a:r>
          </a:p>
          <a:p>
            <a:pPr defTabSz="829366" hangingPunct="0"/>
            <a:r>
              <a:rPr lang="fr-FR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.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3428790" y="5445224"/>
            <a:ext cx="1847626" cy="613344"/>
          </a:xfrm>
          <a:prstGeom prst="rect">
            <a:avLst/>
          </a:prstGeom>
          <a:noFill/>
          <a:ln>
            <a:noFill/>
          </a:ln>
        </p:spPr>
        <p:txBody>
          <a:bodyPr vert="horz" lIns="81631" tIns="40816" rIns="81631" bIns="40816" anchorCtr="0" compatLnSpc="0">
            <a:spAutoFit/>
          </a:bodyPr>
          <a:lstStyle/>
          <a:p>
            <a:pPr defTabSz="829366" hangingPunct="0"/>
            <a:r>
              <a:rPr lang="fr-FR" dirty="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Hauteur de l'écran</a:t>
            </a:r>
          </a:p>
        </p:txBody>
      </p:sp>
      <p:sp>
        <p:nvSpPr>
          <p:cNvPr id="15" name="Connecteur droit 14"/>
          <p:cNvSpPr/>
          <p:nvPr/>
        </p:nvSpPr>
        <p:spPr>
          <a:xfrm>
            <a:off x="3422396" y="5101608"/>
            <a:ext cx="0" cy="114304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headEnd type="arrow"/>
            <a:tailEnd type="arrow"/>
          </a:ln>
        </p:spPr>
        <p:txBody>
          <a:bodyPr vert="horz" lIns="81631" tIns="40816" rIns="81631" bIns="40816" anchor="ctr" anchorCtr="1" compatLnSpc="0"/>
          <a:lstStyle/>
          <a:p>
            <a:pPr defTabSz="829366" hangingPunct="0"/>
            <a:endParaRPr lang="fr-FR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6" name="Espace réservé du pied de page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prstClr val="black"/>
                </a:solidFill>
              </a:rPr>
              <a:t>Cours HTML - LP MRT 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6D48B-96AB-4C98-8748-869B9B8E98F2}" type="slidenum">
              <a:rPr lang="fr-FR" smtClean="0">
                <a:solidFill>
                  <a:prstClr val="black"/>
                </a:solidFill>
              </a:rPr>
              <a:pPr/>
              <a:t>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204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liens hypertextes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2 catégories :</a:t>
            </a:r>
          </a:p>
          <a:p>
            <a:pPr lvl="1"/>
            <a:r>
              <a:rPr lang="fr-FR" dirty="0"/>
              <a:t>Lien à l’intérieur d’une page web :</a:t>
            </a:r>
          </a:p>
          <a:p>
            <a:pPr lvl="2"/>
            <a:r>
              <a:rPr lang="fr-FR" dirty="0"/>
              <a:t>&lt;h1&gt;&lt;a </a:t>
            </a:r>
            <a:r>
              <a:rPr lang="fr-FR" dirty="0" err="1"/>
              <a:t>href</a:t>
            </a:r>
            <a:r>
              <a:rPr lang="fr-FR" dirty="0"/>
              <a:t>="#section1"&gt; Vers section 1 du document &lt;/a&gt;&lt;/h1&gt;</a:t>
            </a:r>
          </a:p>
          <a:p>
            <a:pPr lvl="2"/>
            <a:r>
              <a:rPr lang="fr-FR" dirty="0"/>
              <a:t>&lt;a </a:t>
            </a:r>
            <a:r>
              <a:rPr lang="fr-FR" dirty="0" err="1"/>
              <a:t>href</a:t>
            </a:r>
            <a:r>
              <a:rPr lang="fr-FR" dirty="0"/>
              <a:t>="#" </a:t>
            </a:r>
            <a:r>
              <a:rPr lang="fr-FR" dirty="0" err="1"/>
              <a:t>name</a:t>
            </a:r>
            <a:r>
              <a:rPr lang="fr-FR" dirty="0"/>
              <a:t>="section1"&gt; SECTION 1 &lt;/a&gt;</a:t>
            </a:r>
          </a:p>
          <a:p>
            <a:pPr marL="914400" lvl="2" indent="0">
              <a:buNone/>
            </a:pPr>
            <a:endParaRPr lang="fr-FR" dirty="0"/>
          </a:p>
          <a:p>
            <a:pPr lvl="1"/>
            <a:r>
              <a:rPr lang="fr-FR" dirty="0"/>
              <a:t>Lien entre pages web du site :</a:t>
            </a:r>
          </a:p>
          <a:p>
            <a:pPr lvl="2"/>
            <a:r>
              <a:rPr lang="fr-FR" dirty="0"/>
              <a:t>Lien absolu :</a:t>
            </a:r>
          </a:p>
          <a:p>
            <a:pPr lvl="3"/>
            <a:r>
              <a:rPr lang="fr-FR" dirty="0"/>
              <a:t>&lt;a </a:t>
            </a:r>
            <a:r>
              <a:rPr lang="fr-FR" dirty="0" err="1"/>
              <a:t>href</a:t>
            </a:r>
            <a:r>
              <a:rPr lang="fr-FR" dirty="0"/>
              <a:t>="http://www.google.fr"&gt;lien pour aller vers le moteur de recherche Google&lt;/a&gt;</a:t>
            </a:r>
          </a:p>
          <a:p>
            <a:pPr lvl="2"/>
            <a:r>
              <a:rPr lang="fr-FR" dirty="0"/>
              <a:t>Lien relatif : 	</a:t>
            </a:r>
          </a:p>
          <a:p>
            <a:pPr lvl="3"/>
            <a:r>
              <a:rPr lang="fr-FR" dirty="0"/>
              <a:t>&lt;a </a:t>
            </a:r>
            <a:r>
              <a:rPr lang="fr-FR" dirty="0" err="1"/>
              <a:t>href</a:t>
            </a:r>
            <a:r>
              <a:rPr lang="fr-FR" dirty="0"/>
              <a:t>="mon_autre_page.html"&gt;lien pour aller vers mon autre page&lt;/a&gt;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2795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tableaux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804341"/>
              </p:ext>
            </p:extLst>
          </p:nvPr>
        </p:nvGraphicFramePr>
        <p:xfrm>
          <a:off x="755576" y="2132856"/>
          <a:ext cx="7906545" cy="352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986687" imgH="3118140" progId="Word.Document.12">
                  <p:embed/>
                </p:oleObj>
              </mc:Choice>
              <mc:Fallback>
                <p:oleObj name="Document" r:id="rId2" imgW="6986687" imgH="31181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5576" y="2132856"/>
                        <a:ext cx="7906545" cy="35283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7319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3" y="0"/>
            <a:ext cx="8229601" cy="1143000"/>
          </a:xfrm>
        </p:spPr>
        <p:txBody>
          <a:bodyPr>
            <a:normAutofit fontScale="90000"/>
          </a:bodyPr>
          <a:lstStyle/>
          <a:p>
            <a:r>
              <a:rPr lang="fr-FR" dirty="0"/>
              <a:t>Insertion d’audio, de vidéo et d’image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3" y="1124744"/>
            <a:ext cx="8229601" cy="5217443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Vidéo :</a:t>
            </a:r>
          </a:p>
          <a:p>
            <a:pPr lvl="1"/>
            <a:r>
              <a:rPr lang="fr-FR" dirty="0"/>
              <a:t>&lt;</a:t>
            </a:r>
            <a:r>
              <a:rPr lang="fr-FR" dirty="0" err="1"/>
              <a:t>video</a:t>
            </a:r>
            <a:r>
              <a:rPr lang="fr-FR" dirty="0"/>
              <a:t> </a:t>
            </a:r>
            <a:r>
              <a:rPr lang="fr-FR" dirty="0" err="1"/>
              <a:t>src</a:t>
            </a:r>
            <a:r>
              <a:rPr lang="fr-FR" dirty="0"/>
              <a:t>="</a:t>
            </a:r>
            <a:r>
              <a:rPr lang="fr-FR" dirty="0" err="1"/>
              <a:t>nom_du_fichier</a:t>
            </a:r>
            <a:r>
              <a:rPr lang="fr-FR" dirty="0"/>
              <a:t>" </a:t>
            </a:r>
            <a:r>
              <a:rPr lang="fr-FR" dirty="0" err="1"/>
              <a:t>controls</a:t>
            </a:r>
            <a:r>
              <a:rPr lang="fr-FR" dirty="0"/>
              <a:t> </a:t>
            </a:r>
            <a:r>
              <a:rPr lang="fr-FR" dirty="0" err="1"/>
              <a:t>preload</a:t>
            </a:r>
            <a:r>
              <a:rPr lang="fr-FR" dirty="0"/>
              <a:t>&gt;</a:t>
            </a:r>
            <a:endParaRPr lang="fr-FR" sz="4000" dirty="0"/>
          </a:p>
          <a:p>
            <a:pPr marL="457200" lvl="1" indent="0">
              <a:buNone/>
            </a:pPr>
            <a:r>
              <a:rPr lang="fr-FR" dirty="0"/>
              <a:t>Votre navigateur ne reconnaît pas les balises </a:t>
            </a:r>
            <a:r>
              <a:rPr lang="fr-FR" dirty="0" err="1"/>
              <a:t>video</a:t>
            </a:r>
            <a:endParaRPr lang="fr-FR" sz="4000" dirty="0"/>
          </a:p>
          <a:p>
            <a:pPr marL="457200" lvl="1" indent="0">
              <a:buNone/>
            </a:pPr>
            <a:r>
              <a:rPr lang="fr-FR" dirty="0"/>
              <a:t>&lt;/</a:t>
            </a:r>
            <a:r>
              <a:rPr lang="fr-FR" dirty="0" err="1"/>
              <a:t>video</a:t>
            </a:r>
            <a:r>
              <a:rPr lang="fr-FR" dirty="0"/>
              <a:t>&gt;</a:t>
            </a:r>
          </a:p>
          <a:p>
            <a:r>
              <a:rPr lang="fr-FR" dirty="0"/>
              <a:t>Audio :</a:t>
            </a:r>
          </a:p>
          <a:p>
            <a:pPr lvl="1"/>
            <a:r>
              <a:rPr lang="fr-FR" dirty="0"/>
              <a:t>&lt;audio </a:t>
            </a:r>
            <a:r>
              <a:rPr lang="fr-FR" dirty="0" err="1"/>
              <a:t>src</a:t>
            </a:r>
            <a:r>
              <a:rPr lang="fr-FR" dirty="0"/>
              <a:t>="mon_mp3.mp3" </a:t>
            </a:r>
            <a:r>
              <a:rPr lang="fr-FR" dirty="0" err="1"/>
              <a:t>controls</a:t>
            </a:r>
            <a:r>
              <a:rPr lang="fr-FR" dirty="0"/>
              <a:t>&gt;</a:t>
            </a:r>
          </a:p>
          <a:p>
            <a:pPr marL="457200" lvl="1" indent="0">
              <a:buNone/>
            </a:pPr>
            <a:r>
              <a:rPr lang="fr-FR" dirty="0"/>
              <a:t>Votre navigateur ne semble pas supporter ce fichier</a:t>
            </a:r>
          </a:p>
          <a:p>
            <a:pPr marL="457200" lvl="1" indent="0">
              <a:buNone/>
            </a:pPr>
            <a:r>
              <a:rPr lang="fr-FR" dirty="0"/>
              <a:t>&lt;/audio&gt;  </a:t>
            </a:r>
          </a:p>
          <a:p>
            <a:r>
              <a:rPr lang="fr-FR" dirty="0"/>
              <a:t>Image :</a:t>
            </a:r>
          </a:p>
          <a:p>
            <a:pPr lvl="1"/>
            <a:r>
              <a:rPr lang="fr-FR" dirty="0"/>
              <a:t>&lt;</a:t>
            </a:r>
            <a:r>
              <a:rPr lang="fr-FR" dirty="0" err="1"/>
              <a:t>img</a:t>
            </a:r>
            <a:r>
              <a:rPr lang="fr-FR" dirty="0"/>
              <a:t> </a:t>
            </a:r>
            <a:r>
              <a:rPr lang="fr-FR" dirty="0" err="1"/>
              <a:t>src</a:t>
            </a:r>
            <a:r>
              <a:rPr lang="fr-FR" dirty="0"/>
              <a:t>="</a:t>
            </a:r>
            <a:r>
              <a:rPr lang="fr-FR" dirty="0" err="1"/>
              <a:t>fichier_image_à_insérer.extension_du_fichier</a:t>
            </a:r>
            <a:r>
              <a:rPr lang="fr-FR" dirty="0"/>
              <a:t>" </a:t>
            </a:r>
            <a:r>
              <a:rPr lang="fr-FR" dirty="0" err="1"/>
              <a:t>alt</a:t>
            </a:r>
            <a:r>
              <a:rPr lang="fr-FR" dirty="0"/>
              <a:t>="message si l'image ne s'affiche pas" /&gt;</a:t>
            </a: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436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3" y="1156"/>
            <a:ext cx="8229601" cy="1143000"/>
          </a:xfrm>
        </p:spPr>
        <p:txBody>
          <a:bodyPr/>
          <a:lstStyle/>
          <a:p>
            <a:r>
              <a:rPr lang="fr-FR" dirty="0"/>
              <a:t>Le formulaire</a:t>
            </a:r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16371"/>
              </p:ext>
            </p:extLst>
          </p:nvPr>
        </p:nvGraphicFramePr>
        <p:xfrm>
          <a:off x="412642" y="908720"/>
          <a:ext cx="7759758" cy="5737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986687" imgH="5164970" progId="Word.Document.12">
                  <p:embed/>
                </p:oleObj>
              </mc:Choice>
              <mc:Fallback>
                <p:oleObj name="Document" r:id="rId2" imgW="6986687" imgH="51649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2642" y="908720"/>
                        <a:ext cx="7759758" cy="5737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6325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feuilles de style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80729"/>
            <a:ext cx="8229601" cy="5145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•Une feuille de style devra être liée à la page Web grâce à la balise "</a:t>
            </a:r>
            <a:r>
              <a:rPr lang="fr-FR" dirty="0" err="1"/>
              <a:t>link</a:t>
            </a:r>
            <a:r>
              <a:rPr lang="fr-FR" dirty="0"/>
              <a:t>" qui se place l'intérieur des balises d'entête "</a:t>
            </a:r>
            <a:r>
              <a:rPr lang="fr-FR" dirty="0" err="1"/>
              <a:t>head</a:t>
            </a:r>
            <a:r>
              <a:rPr lang="fr-FR" dirty="0"/>
              <a:t>".</a:t>
            </a:r>
          </a:p>
          <a:p>
            <a:pPr marL="0" indent="0">
              <a:buNone/>
            </a:pPr>
            <a:r>
              <a:rPr lang="fr-FR" dirty="0"/>
              <a:t>•La balise </a:t>
            </a:r>
            <a:r>
              <a:rPr lang="fr-FR" dirty="0" err="1"/>
              <a:t>links'utilise</a:t>
            </a:r>
            <a:r>
              <a:rPr lang="fr-FR" dirty="0"/>
              <a:t> de la façon suivante : &lt;</a:t>
            </a:r>
            <a:r>
              <a:rPr lang="fr-FR" dirty="0" err="1"/>
              <a:t>linkrel</a:t>
            </a:r>
            <a:r>
              <a:rPr lang="fr-FR" dirty="0"/>
              <a:t>:"..." type="..." href="..." </a:t>
            </a:r>
            <a:r>
              <a:rPr lang="fr-FR" dirty="0" err="1"/>
              <a:t>title</a:t>
            </a:r>
            <a:r>
              <a:rPr lang="fr-FR" dirty="0"/>
              <a:t>="..."&gt;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•Exemple :</a:t>
            </a:r>
          </a:p>
          <a:p>
            <a:pPr marL="0" indent="0">
              <a:buNone/>
            </a:pPr>
            <a:r>
              <a:rPr lang="fr-FR" dirty="0"/>
              <a:t>•&lt;</a:t>
            </a:r>
            <a:r>
              <a:rPr lang="fr-FR" dirty="0" err="1"/>
              <a:t>linkrel</a:t>
            </a:r>
            <a:r>
              <a:rPr lang="fr-FR" dirty="0"/>
              <a:t>="</a:t>
            </a:r>
            <a:r>
              <a:rPr lang="fr-FR" dirty="0" err="1"/>
              <a:t>stylesheet</a:t>
            </a:r>
            <a:r>
              <a:rPr lang="fr-FR" dirty="0"/>
              <a:t>" type="</a:t>
            </a:r>
            <a:r>
              <a:rPr lang="fr-FR" dirty="0" err="1"/>
              <a:t>text</a:t>
            </a:r>
            <a:r>
              <a:rPr lang="fr-FR" dirty="0"/>
              <a:t>/</a:t>
            </a:r>
            <a:r>
              <a:rPr lang="fr-FR" dirty="0" err="1"/>
              <a:t>css</a:t>
            </a:r>
            <a:r>
              <a:rPr lang="fr-FR" dirty="0"/>
              <a:t>" href="mon_fichier.css" &gt;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35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A6F1D3-E629-6D8C-9F53-14DFED5D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feuilles de style (suite)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4E4D4E-C301-4800-D490-37629D264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fr-FR" dirty="0"/>
          </a:p>
          <a:p>
            <a:r>
              <a:rPr lang="fr-FR" dirty="0"/>
              <a:t>Le format est le suivant :</a:t>
            </a:r>
          </a:p>
          <a:p>
            <a:r>
              <a:rPr lang="fr-FR" dirty="0"/>
              <a:t>•nom de la première balise { propriétés de la balise (redéfinition des attributs) }</a:t>
            </a:r>
          </a:p>
          <a:p>
            <a:r>
              <a:rPr lang="fr-FR" dirty="0"/>
              <a:t>•nom de la deuxième balise { propriétés de la balise (redéfinition des attributs) }</a:t>
            </a:r>
          </a:p>
          <a:p>
            <a:r>
              <a:rPr lang="fr-FR" dirty="0"/>
              <a:t>•...</a:t>
            </a:r>
          </a:p>
          <a:p>
            <a:r>
              <a:rPr lang="fr-FR" dirty="0"/>
              <a:t>•</a:t>
            </a:r>
          </a:p>
          <a:p>
            <a:r>
              <a:rPr lang="fr-FR" dirty="0"/>
              <a:t>•Exemple:</a:t>
            </a:r>
          </a:p>
          <a:p>
            <a:r>
              <a:rPr lang="fr-FR" dirty="0"/>
              <a:t>•Si l’on veut que toutes les cases d’un tableau soient vertes:</a:t>
            </a:r>
          </a:p>
          <a:p>
            <a:r>
              <a:rPr lang="fr-FR" dirty="0"/>
              <a:t>•td {</a:t>
            </a:r>
          </a:p>
          <a:p>
            <a:r>
              <a:rPr lang="fr-FR" dirty="0"/>
              <a:t>•background-</a:t>
            </a:r>
            <a:r>
              <a:rPr lang="fr-FR" dirty="0" err="1"/>
              <a:t>color</a:t>
            </a:r>
            <a:r>
              <a:rPr lang="fr-FR" dirty="0"/>
              <a:t>: green;</a:t>
            </a:r>
          </a:p>
          <a:p>
            <a:r>
              <a:rPr lang="fr-FR" dirty="0"/>
              <a:t>•}</a:t>
            </a:r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07694E7-08CB-B911-5338-C37F5287E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C580607-F88E-6BB5-C95B-6BE2B893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203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431A5-E577-8A70-6FC5-A5C31FC27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feuille de style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DBF6316E-57A0-B10F-C47B-0B3C1B059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4163" y="1600200"/>
            <a:ext cx="4715673" cy="4525963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C69B3B-03CE-2C4D-D610-5231DE63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0B0831C-4ECA-6BA7-EAA1-C4569F215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1251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0689F2-7B9A-9EBD-5F83-3C8FDAFE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Classe et id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77365C3B-50CE-E3F0-5A33-B23CD1AE4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1720" y="1340768"/>
            <a:ext cx="4307503" cy="2880319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FF24A74-3410-8F00-7642-E7C26563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HTML - LP MRT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07EE18B-6D35-5F22-F5F6-118714FF9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AC47-E75C-40ED-9EC2-8794400AB0AB}" type="slidenum">
              <a:rPr lang="fr-FR" smtClean="0"/>
              <a:t>17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585A0FE-D6F4-16CD-2C28-AFD2AB26C1FA}"/>
              </a:ext>
            </a:extLst>
          </p:cNvPr>
          <p:cNvSpPr txBox="1"/>
          <p:nvPr/>
        </p:nvSpPr>
        <p:spPr>
          <a:xfrm>
            <a:off x="3086102" y="4681286"/>
            <a:ext cx="26385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Dans une feuille de style : </a:t>
            </a:r>
          </a:p>
          <a:p>
            <a:r>
              <a:rPr lang="fr-FR" dirty="0"/>
              <a:t>	class = « . »</a:t>
            </a:r>
          </a:p>
          <a:p>
            <a:r>
              <a:rPr lang="fr-FR" dirty="0"/>
              <a:t>	id = « # »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5974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7724" y="122458"/>
            <a:ext cx="8708946" cy="6612661"/>
          </a:xfrm>
          <a:prstGeom prst="rect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hangingPunct="0"/>
            <a:endParaRPr lang="fr-FR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5447" y="489827"/>
            <a:ext cx="8273499" cy="14694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hangingPunct="0"/>
            <a:endParaRPr lang="fr-FR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53171" y="497910"/>
            <a:ext cx="1009366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>
              <a:defRPr sz="1600"/>
            </a:pPr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&lt;header&gt;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653171" y="734741"/>
            <a:ext cx="6096262" cy="979654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hangingPunct="0"/>
            <a:endParaRPr lang="fr-FR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53171" y="734741"/>
            <a:ext cx="1007624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>
              <a:defRPr sz="1600"/>
            </a:pPr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&lt;hgroup&gt;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618" y="979653"/>
            <a:ext cx="4572197" cy="204258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hangingPunct="0"/>
            <a:endParaRPr lang="fr-FR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88618" y="965695"/>
            <a:ext cx="849122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>
              <a:defRPr sz="1200"/>
            </a:pPr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&lt;h1&gt;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789920" y="979655"/>
            <a:ext cx="870895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>
              <a:defRPr sz="1200"/>
            </a:pPr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&lt;/h1&gt;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53171" y="122458"/>
            <a:ext cx="832575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&lt;body&gt;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5660815" y="1469480"/>
            <a:ext cx="1088618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>
              <a:defRPr sz="1600"/>
            </a:pPr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&lt;/hgroup&gt;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6749433" y="1714395"/>
            <a:ext cx="1088618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>
              <a:defRPr sz="1600"/>
            </a:pPr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&lt;/header&gt;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2177238" y="979654"/>
            <a:ext cx="1750497" cy="297346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>
              <a:defRPr sz="1400"/>
            </a:pPr>
            <a:r>
              <a:rPr lang="fr-FR" sz="14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TITRE DU 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8618" y="1224568"/>
            <a:ext cx="4572197" cy="244913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hangingPunct="0"/>
            <a:endParaRPr lang="fr-FR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1088618" y="1224567"/>
            <a:ext cx="4572197" cy="356336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&lt;h2&gt;</a:t>
            </a:r>
            <a:r>
              <a:rPr lang="fr-FR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     </a:t>
            </a:r>
            <a:r>
              <a:rPr lang="fr-FR" sz="14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SOUS TITRE DU SITE        </a:t>
            </a:r>
            <a:r>
              <a:rPr lang="fr-FR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     </a:t>
            </a:r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&lt;/h2&gt;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172" y="3183875"/>
            <a:ext cx="4354473" cy="1347024"/>
          </a:xfrm>
          <a:prstGeom prst="rect">
            <a:avLst/>
          </a:prstGeom>
          <a:solidFill>
            <a:srgbClr val="94BD5E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hangingPunct="0"/>
            <a:endParaRPr lang="fr-FR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5447" y="2571591"/>
            <a:ext cx="5007644" cy="3551244"/>
          </a:xfrm>
          <a:prstGeom prst="rect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hangingPunct="0"/>
            <a:endParaRPr lang="fr-FR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0816" y="2571591"/>
            <a:ext cx="3048131" cy="3551244"/>
          </a:xfrm>
          <a:prstGeom prst="rect">
            <a:avLst/>
          </a:prstGeom>
          <a:solidFill>
            <a:srgbClr val="FF9966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hangingPunct="0"/>
            <a:endParaRPr lang="fr-FR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435449" y="2571592"/>
            <a:ext cx="1018510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&lt;section&gt;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4354473" y="5877921"/>
            <a:ext cx="1088618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&lt;/section&gt;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172" y="4653354"/>
            <a:ext cx="4572197" cy="1224567"/>
          </a:xfrm>
          <a:prstGeom prst="rect">
            <a:avLst/>
          </a:prstGeom>
          <a:solidFill>
            <a:srgbClr val="94BD5E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hangingPunct="0"/>
            <a:endParaRPr lang="fr-FR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3171" y="2816505"/>
            <a:ext cx="3048131" cy="244913"/>
          </a:xfrm>
          <a:prstGeom prst="rect">
            <a:avLst/>
          </a:prstGeom>
          <a:solidFill>
            <a:srgbClr val="94BD5E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algn="ctr"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&lt;h1&gt; Titre de la section &lt;/h1&gt;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653173" y="3306332"/>
            <a:ext cx="1018510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&lt;section&gt;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3701302" y="4353336"/>
            <a:ext cx="1088618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&lt;/section&gt;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919026" y="5700359"/>
            <a:ext cx="1088618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&lt;/section&gt;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653173" y="4653354"/>
            <a:ext cx="1018510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&lt;section&gt;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0895" y="3551245"/>
            <a:ext cx="3701302" cy="244913"/>
          </a:xfrm>
          <a:prstGeom prst="rect">
            <a:avLst/>
          </a:prstGeom>
          <a:solidFill>
            <a:srgbClr val="00AE00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algn="ctr"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&lt;h1&gt; Description de la section &lt;/h1&gt;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0894" y="3918614"/>
            <a:ext cx="3919026" cy="367370"/>
          </a:xfrm>
          <a:prstGeom prst="rect">
            <a:avLst/>
          </a:prstGeom>
          <a:solidFill>
            <a:srgbClr val="00AE00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algn="ctr"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Corps de la section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0896" y="4898269"/>
            <a:ext cx="4136749" cy="244913"/>
          </a:xfrm>
          <a:prstGeom prst="rect">
            <a:avLst/>
          </a:prstGeom>
          <a:solidFill>
            <a:srgbClr val="00AE00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algn="ctr"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&lt;h1&gt; Autre thème faisant partie du thème</a:t>
            </a:r>
          </a:p>
          <a:p>
            <a:pPr algn="ctr"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principal &lt;/h1&gt;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0896" y="5265638"/>
            <a:ext cx="4136749" cy="367370"/>
          </a:xfrm>
          <a:prstGeom prst="rect">
            <a:avLst/>
          </a:prstGeom>
          <a:solidFill>
            <a:srgbClr val="00AE00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algn="ctr"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Corps de la section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5447" y="6245293"/>
            <a:ext cx="8273499" cy="244913"/>
          </a:xfrm>
          <a:prstGeom prst="rect">
            <a:avLst/>
          </a:prstGeom>
          <a:solidFill>
            <a:srgbClr val="9999FF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algn="ctr"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&lt;footer&gt;			Nom de l'auteur					&lt;/footer&gt;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7838053" y="6557557"/>
            <a:ext cx="883957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&lt;/body&gt;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5660815" y="2571592"/>
            <a:ext cx="874814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&lt;aside&gt;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7838051" y="5945274"/>
            <a:ext cx="926632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&lt;/aside&gt;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78538" y="2816505"/>
            <a:ext cx="2612684" cy="2571591"/>
          </a:xfrm>
          <a:prstGeom prst="rect">
            <a:avLst/>
          </a:prstGeom>
          <a:solidFill>
            <a:srgbClr val="FF8080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hangingPunct="0"/>
            <a:endParaRPr lang="fr-FR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5878539" y="2816505"/>
            <a:ext cx="729374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&lt;nav&gt;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7761848" y="5210532"/>
            <a:ext cx="780757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&lt;/nav&gt;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262" y="3061417"/>
            <a:ext cx="2177236" cy="367370"/>
          </a:xfrm>
          <a:prstGeom prst="rect">
            <a:avLst/>
          </a:prstGeom>
          <a:solidFill>
            <a:srgbClr val="FFCC99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algn="ctr"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&lt;h1&gt; Menu de</a:t>
            </a:r>
          </a:p>
          <a:p>
            <a:pPr algn="ctr"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navigation &lt;/h1&gt;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262" y="3551244"/>
            <a:ext cx="2177236" cy="1469480"/>
          </a:xfrm>
          <a:prstGeom prst="rect">
            <a:avLst/>
          </a:prstGeom>
          <a:solidFill>
            <a:srgbClr val="FFCC99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hangingPunct="0"/>
            <a:endParaRPr lang="fr-FR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6096262" y="3551245"/>
            <a:ext cx="576097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&lt;ul&gt;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7697403" y="4898269"/>
            <a:ext cx="627915" cy="26791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Ctr="0" compatLnSpc="0">
            <a:spAutoFit/>
          </a:bodyPr>
          <a:lstStyle/>
          <a:p>
            <a:pPr hangingPunct="0"/>
            <a:r>
              <a:rPr lang="fr-FR" sz="1200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&lt;/ul&gt;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13987" y="3796158"/>
            <a:ext cx="1741789" cy="1102110"/>
          </a:xfrm>
          <a:prstGeom prst="rect">
            <a:avLst/>
          </a:prstGeom>
          <a:solidFill>
            <a:srgbClr val="FF6633"/>
          </a:solidFill>
          <a:ln w="0">
            <a:solidFill>
              <a:srgbClr val="000000"/>
            </a:solidFill>
            <a:prstDash val="solid"/>
          </a:ln>
        </p:spPr>
        <p:txBody>
          <a:bodyPr vert="horz" lIns="90000" tIns="45000" rIns="90000" bIns="45000" anchor="ctr" anchorCtr="1" compatLnSpc="0"/>
          <a:lstStyle/>
          <a:p>
            <a:pPr algn="ctr" hangingPunct="0">
              <a:defRPr sz="1400" u="sng">
                <a:uFillTx/>
              </a:defRPr>
            </a:pPr>
            <a:r>
              <a:rPr lang="fr-FR" sz="1400" b="1" u="sng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LIENS VERS</a:t>
            </a:r>
          </a:p>
          <a:p>
            <a:pPr algn="ctr" hangingPunct="0">
              <a:defRPr sz="1400" u="sng">
                <a:uFillTx/>
              </a:defRPr>
            </a:pPr>
            <a:endParaRPr lang="fr-FR" sz="1400" b="1" u="sng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  <a:p>
            <a:pPr algn="ctr" hangingPunct="0">
              <a:defRPr sz="1400" u="sng">
                <a:uFillTx/>
              </a:defRPr>
            </a:pPr>
            <a:r>
              <a:rPr lang="fr-FR" sz="1400" b="1" u="sng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D'AUTRES</a:t>
            </a:r>
          </a:p>
          <a:p>
            <a:pPr algn="ctr" hangingPunct="0">
              <a:defRPr sz="1400" u="sng">
                <a:uFillTx/>
              </a:defRPr>
            </a:pPr>
            <a:endParaRPr lang="fr-FR" sz="1400" b="1" u="sng">
              <a:solidFill>
                <a:prstClr val="black"/>
              </a:solidFill>
              <a:latin typeface="Arial" pitchFamily="18"/>
              <a:ea typeface="Microsoft YaHei" pitchFamily="2"/>
              <a:cs typeface="Mangal" pitchFamily="2"/>
            </a:endParaRPr>
          </a:p>
          <a:p>
            <a:pPr algn="ctr" hangingPunct="0">
              <a:defRPr sz="1400" u="sng">
                <a:uFillTx/>
              </a:defRPr>
            </a:pPr>
            <a:r>
              <a:rPr lang="fr-FR" sz="1400" b="1" u="sng">
                <a:solidFill>
                  <a:prstClr val="black"/>
                </a:solidFill>
                <a:latin typeface="Arial" pitchFamily="18"/>
                <a:ea typeface="Microsoft YaHei" pitchFamily="2"/>
                <a:cs typeface="Mangal" pitchFamily="2"/>
              </a:rPr>
              <a:t>PAGES</a:t>
            </a:r>
          </a:p>
        </p:txBody>
      </p:sp>
    </p:spTree>
    <p:extLst>
      <p:ext uri="{BB962C8B-B14F-4D97-AF65-F5344CB8AC3E}">
        <p14:creationId xmlns:p14="http://schemas.microsoft.com/office/powerpoint/2010/main" val="34176784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andar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tandar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959</Words>
  <Application>Microsoft Office PowerPoint</Application>
  <PresentationFormat>Affichage à l'écran (4:3)</PresentationFormat>
  <Paragraphs>176</Paragraphs>
  <Slides>18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3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7" baseType="lpstr">
      <vt:lpstr>Arial</vt:lpstr>
      <vt:lpstr>Calibri</vt:lpstr>
      <vt:lpstr>StarSymbol</vt:lpstr>
      <vt:lpstr>Times New Roman</vt:lpstr>
      <vt:lpstr>Wingdings</vt:lpstr>
      <vt:lpstr>Thème Office</vt:lpstr>
      <vt:lpstr>Standard</vt:lpstr>
      <vt:lpstr>1_Standard</vt:lpstr>
      <vt:lpstr>Document</vt:lpstr>
      <vt:lpstr>Cours HTML (HyperText Markup Language)</vt:lpstr>
      <vt:lpstr>Principe de fonctionnement client/serveur</vt:lpstr>
      <vt:lpstr>HTML</vt:lpstr>
      <vt:lpstr>Les balises</vt:lpstr>
      <vt:lpstr>Syntaxe</vt:lpstr>
      <vt:lpstr>Exemples de balises par paire</vt:lpstr>
      <vt:lpstr>Exemple de balise orpheline</vt:lpstr>
      <vt:lpstr>Structure basique d’une page html</vt:lpstr>
      <vt:lpstr>Schéma lien-ancre</vt:lpstr>
      <vt:lpstr>Les liens hypertextes</vt:lpstr>
      <vt:lpstr>Les tableaux</vt:lpstr>
      <vt:lpstr>Insertion d’audio, de vidéo et d’image</vt:lpstr>
      <vt:lpstr>Le formulaire</vt:lpstr>
      <vt:lpstr>Les feuilles de style </vt:lpstr>
      <vt:lpstr>Les feuilles de style (suite)</vt:lpstr>
      <vt:lpstr>Exemple de feuille de style</vt:lpstr>
      <vt:lpstr>Classe et id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HTML</dc:title>
  <dc:creator>olivier Payet</dc:creator>
  <cp:lastModifiedBy>olivier Payet</cp:lastModifiedBy>
  <cp:revision>22</cp:revision>
  <dcterms:created xsi:type="dcterms:W3CDTF">2021-09-20T18:21:11Z</dcterms:created>
  <dcterms:modified xsi:type="dcterms:W3CDTF">2025-11-07T07:37:26Z</dcterms:modified>
</cp:coreProperties>
</file>