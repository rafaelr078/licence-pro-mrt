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2"/>
  </p:notesMasterIdLst>
  <p:sldIdLst>
    <p:sldId id="256" r:id="rId2"/>
    <p:sldId id="258" r:id="rId3"/>
    <p:sldId id="260" r:id="rId4"/>
    <p:sldId id="257" r:id="rId5"/>
    <p:sldId id="261" r:id="rId6"/>
    <p:sldId id="259" r:id="rId7"/>
    <p:sldId id="263" r:id="rId8"/>
    <p:sldId id="264" r:id="rId9"/>
    <p:sldId id="262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3" autoAdjust="0"/>
    <p:restoredTop sz="94660"/>
  </p:normalViewPr>
  <p:slideViewPr>
    <p:cSldViewPr snapToGrid="0">
      <p:cViewPr varScale="1">
        <p:scale>
          <a:sx n="75" d="100"/>
          <a:sy n="75" d="100"/>
        </p:scale>
        <p:origin x="82" y="5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3F9E12-5541-47E8-904E-DF91468E0A3E}" type="datetimeFigureOut">
              <a:rPr lang="fr-FR" smtClean="0"/>
              <a:t>07/11/2024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17B474-17C3-47C7-8907-0DA1F2C6233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467524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2" name="Freeform 11"/>
          <p:cNvSpPr/>
          <p:nvPr/>
        </p:nvSpPr>
        <p:spPr>
          <a:xfrm>
            <a:off x="-15875" y="0"/>
            <a:ext cx="11683810" cy="6588125"/>
          </a:xfrm>
          <a:custGeom>
            <a:avLst/>
            <a:gdLst/>
            <a:ahLst/>
            <a:cxnLst/>
            <a:rect l="l" t="t" r="r" b="b"/>
            <a:pathLst>
              <a:path w="11683810" h="6588125">
                <a:moveTo>
                  <a:pt x="0" y="0"/>
                </a:moveTo>
                <a:lnTo>
                  <a:pt x="11318691" y="0"/>
                </a:lnTo>
                <a:lnTo>
                  <a:pt x="11683810" y="5976938"/>
                </a:lnTo>
                <a:lnTo>
                  <a:pt x="15875" y="6588125"/>
                </a:lnTo>
                <a:cubicBezTo>
                  <a:pt x="10583" y="4386792"/>
                  <a:pt x="5292" y="2185458"/>
                  <a:pt x="0" y="0"/>
                </a:cubicBezTo>
                <a:close/>
              </a:path>
            </a:pathLst>
          </a:custGeom>
          <a:ln>
            <a:noFill/>
          </a:ln>
          <a:effectLst>
            <a:outerShdw blurRad="101600" dist="152400" dir="438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Freeform 13"/>
          <p:cNvSpPr/>
          <p:nvPr/>
        </p:nvSpPr>
        <p:spPr>
          <a:xfrm>
            <a:off x="0" y="4282257"/>
            <a:ext cx="11329257" cy="2028845"/>
          </a:xfrm>
          <a:custGeom>
            <a:avLst/>
            <a:gdLst/>
            <a:ahLst/>
            <a:cxnLst/>
            <a:rect l="l" t="t" r="r" b="b"/>
            <a:pathLst>
              <a:path w="11329257" h="2028845">
                <a:moveTo>
                  <a:pt x="0" y="588520"/>
                </a:moveTo>
                <a:lnTo>
                  <a:pt x="11244075" y="0"/>
                </a:lnTo>
                <a:lnTo>
                  <a:pt x="11329257" y="1424838"/>
                </a:lnTo>
                <a:lnTo>
                  <a:pt x="0" y="2028845"/>
                </a:lnTo>
                <a:lnTo>
                  <a:pt x="0" y="58852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Freeform 25"/>
          <p:cNvSpPr/>
          <p:nvPr/>
        </p:nvSpPr>
        <p:spPr>
          <a:xfrm>
            <a:off x="0" y="0"/>
            <a:ext cx="8719579" cy="456877"/>
          </a:xfrm>
          <a:custGeom>
            <a:avLst/>
            <a:gdLst/>
            <a:ahLst/>
            <a:cxnLst/>
            <a:rect l="l" t="t" r="r" b="b"/>
            <a:pathLst>
              <a:path w="8719579" h="456877">
                <a:moveTo>
                  <a:pt x="0" y="0"/>
                </a:moveTo>
                <a:lnTo>
                  <a:pt x="8719579" y="0"/>
                </a:lnTo>
                <a:lnTo>
                  <a:pt x="0" y="45687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Freeform 14"/>
          <p:cNvSpPr/>
          <p:nvPr/>
        </p:nvSpPr>
        <p:spPr>
          <a:xfrm rot="21420000">
            <a:off x="-161800" y="293317"/>
            <a:ext cx="11367116" cy="5751804"/>
          </a:xfrm>
          <a:custGeom>
            <a:avLst/>
            <a:gdLst/>
            <a:ahLst/>
            <a:cxnLst/>
            <a:rect l="l" t="t" r="r" b="b"/>
            <a:pathLst>
              <a:path w="11367116" h="5751804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891201" y="662656"/>
            <a:ext cx="9755187" cy="2766528"/>
          </a:xfrm>
        </p:spPr>
        <p:txBody>
          <a:bodyPr anchor="b">
            <a:normAutofit/>
          </a:bodyPr>
          <a:lstStyle>
            <a:lvl1pPr algn="r">
              <a:defRPr sz="8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983062" y="3505209"/>
            <a:ext cx="9755187" cy="550333"/>
          </a:xfrm>
        </p:spPr>
        <p:txBody>
          <a:bodyPr anchor="t">
            <a:noAutofit/>
          </a:bodyPr>
          <a:lstStyle>
            <a:lvl1pPr marL="0" indent="0" algn="r">
              <a:buNone/>
              <a:defRPr sz="2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1420000">
            <a:off x="4948541" y="4578463"/>
            <a:ext cx="6143653" cy="1163112"/>
          </a:xfrm>
        </p:spPr>
        <p:txBody>
          <a:bodyPr/>
          <a:lstStyle>
            <a:lvl1pPr algn="ctr">
              <a:defRPr sz="54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2C734CCB-8764-4700-BE3A-5D40F0D03A53}" type="datetime1">
              <a:rPr lang="fr-FR" smtClean="0"/>
              <a:t>07/11/2024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1420000">
            <a:off x="-5560" y="4883024"/>
            <a:ext cx="4047239" cy="1195538"/>
          </a:xfrm>
        </p:spPr>
        <p:txBody>
          <a:bodyPr vert="horz" lIns="91440" tIns="45720" rIns="91440" bIns="45720" rtlCol="0" anchor="ctr"/>
          <a:lstStyle>
            <a:lvl1pPr algn="r">
              <a:defRPr lang="en-US" sz="5400" dirty="0"/>
            </a:lvl1pPr>
          </a:lstStyle>
          <a:p>
            <a:r>
              <a:rPr lang="fr-FR"/>
              <a:t>Cours SQL - OP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1420000">
            <a:off x="9851758" y="3832648"/>
            <a:ext cx="907186" cy="498470"/>
          </a:xfrm>
        </p:spPr>
        <p:txBody>
          <a:bodyPr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5E720F6E-6924-4912-B71F-79525538CA85}" type="slidenum">
              <a:rPr lang="fr-FR" smtClean="0"/>
              <a:t>‹N°›</a:t>
            </a:fld>
            <a:endParaRPr lang="fr-FR"/>
          </a:p>
        </p:txBody>
      </p:sp>
      <p:sp>
        <p:nvSpPr>
          <p:cNvPr id="25" name="5-Point Star 24"/>
          <p:cNvSpPr/>
          <p:nvPr/>
        </p:nvSpPr>
        <p:spPr>
          <a:xfrm rot="21420000">
            <a:off x="4221385" y="5111356"/>
            <a:ext cx="515386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6210430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394707" cy="3311189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74B33-8E04-40D0-8B40-CF834120B01F}" type="datetime1">
              <a:rPr lang="fr-FR" smtClean="0"/>
              <a:t>07/11/2024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Cours SQL - OP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20F6E-6924-4912-B71F-79525538CA8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776181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319348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3742267"/>
            <a:ext cx="10394707" cy="163961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9B712-46D9-45F3-86A1-126D72B86AD4}" type="datetime1">
              <a:rPr lang="fr-FR" smtClean="0"/>
              <a:t>07/11/2024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Cours SQL - OP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20F6E-6924-4912-B71F-79525538CA8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720781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814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5088714" cy="3311189"/>
          </a:xfrm>
        </p:spPr>
        <p:txBody>
          <a:bodyPr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5993971" y="2063396"/>
            <a:ext cx="5086538" cy="3311189"/>
          </a:xfrm>
        </p:spPr>
        <p:txBody>
          <a:bodyPr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92C1E3-E284-4ECC-8F12-6FA8276C3102}" type="datetime1">
              <a:rPr lang="fr-FR" smtClean="0"/>
              <a:t>07/11/2024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Cours SQL - OP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20F6E-6924-4912-B71F-79525538CA8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982386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115814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8356" y="2063396"/>
            <a:ext cx="4856158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802" y="2861733"/>
            <a:ext cx="5088712" cy="2512852"/>
          </a:xfrm>
        </p:spPr>
        <p:txBody>
          <a:bodyPr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8191" y="2063396"/>
            <a:ext cx="4864491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5993969" y="2861733"/>
            <a:ext cx="5088713" cy="2512852"/>
          </a:xfrm>
        </p:spPr>
        <p:txBody>
          <a:bodyPr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FA1FA-FA59-4524-A1B5-55CB2BC4B491}" type="datetime1">
              <a:rPr lang="fr-FR" smtClean="0"/>
              <a:t>07/11/2024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Cours SQL - OP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20F6E-6924-4912-B71F-79525538CA8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89844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FB588-883E-4FFE-A350-131C9BBC0921}" type="datetime1">
              <a:rPr lang="fr-FR" smtClean="0"/>
              <a:t>07/11/2024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Cours SQL - OP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20F6E-6924-4912-B71F-79525538CA8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38495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4464E-D520-4888-A440-9C445CFD5370}" type="datetime1">
              <a:rPr lang="fr-FR" smtClean="0"/>
              <a:t>07/11/2024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Cours SQL - OP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20F6E-6924-4912-B71F-79525538CA8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355200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643" y="685800"/>
            <a:ext cx="4126860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46132" y="685800"/>
            <a:ext cx="6034375" cy="4688785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642" y="2709052"/>
            <a:ext cx="4126861" cy="2665533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E2C07-18D1-4E21-AFF7-356E05D7ED22}" type="datetime1">
              <a:rPr lang="fr-FR" smtClean="0"/>
              <a:t>07/11/2024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Cours SQL - OP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20F6E-6924-4912-B71F-79525538CA8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463418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6345302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82362" y="0"/>
            <a:ext cx="3598146" cy="507153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2709052"/>
            <a:ext cx="6345301" cy="236248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17D01-6FCB-4057-8B17-975801898851}" type="datetime1">
              <a:rPr lang="fr-FR" smtClean="0"/>
              <a:t>07/11/2024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Cours SQL - OP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20F6E-6924-4912-B71F-79525538CA8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869522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106333"/>
            <a:ext cx="10394708" cy="58884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801" y="685799"/>
            <a:ext cx="10392513" cy="319490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80" y="4702923"/>
            <a:ext cx="10394728" cy="682472"/>
          </a:xfrm>
        </p:spPr>
        <p:txBody>
          <a:bodyPr anchor="t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3DB3A-B911-4AF9-849C-7283016171DE}" type="datetime1">
              <a:rPr lang="fr-FR" smtClean="0"/>
              <a:t>07/11/2024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Cours SQL - OP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20F6E-6924-4912-B71F-79525538CA8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177538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902" cy="3194903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79" y="4106333"/>
            <a:ext cx="10394729" cy="12736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07544-6BE7-41BA-A7DC-0B80C70B1F40}" type="datetime1">
              <a:rPr lang="fr-FR" smtClean="0"/>
              <a:t>07/11/2024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Cours SQL - OP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20F6E-6924-4912-B71F-79525538CA8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846888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1732" y="685800"/>
            <a:ext cx="9525020" cy="2916704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550264" y="3610032"/>
            <a:ext cx="8667956" cy="377768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4106334"/>
            <a:ext cx="10396882" cy="12682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837D2-1158-4829-8139-7369F02632D0}" type="datetime1">
              <a:rPr lang="fr-FR" smtClean="0"/>
              <a:t>07/11/2024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Cours SQL - OP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20F6E-6924-4912-B71F-79525538CA85}" type="slidenum">
              <a:rPr lang="fr-FR" smtClean="0"/>
              <a:t>‹N°›</a:t>
            </a:fld>
            <a:endParaRPr lang="fr-FR"/>
          </a:p>
        </p:txBody>
      </p:sp>
      <p:sp>
        <p:nvSpPr>
          <p:cNvPr id="13" name="TextBox 12"/>
          <p:cNvSpPr txBox="1"/>
          <p:nvPr/>
        </p:nvSpPr>
        <p:spPr>
          <a:xfrm>
            <a:off x="685801" y="89262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73083" y="292282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714907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723854"/>
            <a:ext cx="10394707" cy="2511835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247468"/>
            <a:ext cx="10394707" cy="114064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F3DD5-B0FF-4650-9F57-18F6605B71D7}" type="datetime1">
              <a:rPr lang="fr-FR" smtClean="0"/>
              <a:t>07/11/2024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Cours SQL - OP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20F6E-6924-4912-B71F-79525538CA8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004051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802" y="685800"/>
            <a:ext cx="10394706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802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462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234621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70380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770380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1B2C3-7B33-4B5A-A1A7-B3968EBCC0D8}" type="datetime1">
              <a:rPr lang="fr-FR" smtClean="0"/>
              <a:t>07/11/2024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Cours SQL - OP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20F6E-6924-4912-B71F-79525538CA8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938140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 d’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9184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780" y="2063395"/>
            <a:ext cx="3310128" cy="1536725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91840" y="4389287"/>
            <a:ext cx="3310128" cy="98529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741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235999" y="2063395"/>
            <a:ext cx="3310128" cy="153523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235999" y="4389286"/>
            <a:ext cx="3310128" cy="98530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68944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768819" y="2063394"/>
            <a:ext cx="3310128" cy="1537196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768819" y="4389284"/>
            <a:ext cx="3310128" cy="98530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9FEB2-A4CA-48CD-B95D-6C41CE43AAC1}" type="datetime1">
              <a:rPr lang="fr-FR" smtClean="0"/>
              <a:t>07/11/2024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Cours SQL - OP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20F6E-6924-4912-B71F-79525538CA8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879304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2063396"/>
            <a:ext cx="10394707" cy="3311190"/>
          </a:xfrm>
        </p:spPr>
        <p:txBody>
          <a:bodyPr vert="eaVert"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68C66-3218-467E-9992-06D1A3CDAC6C}" type="datetime1">
              <a:rPr lang="fr-FR" smtClean="0"/>
              <a:t>07/11/2024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Cours SQL - OP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20F6E-6924-4912-B71F-79525538CA8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6707829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15862" y="685800"/>
            <a:ext cx="2264646" cy="468878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685800"/>
            <a:ext cx="7904431" cy="4688785"/>
          </a:xfrm>
        </p:spPr>
        <p:txBody>
          <a:bodyPr vert="eaVert"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8314A-AD06-412E-BA7B-4C9BB351460F}" type="datetime1">
              <a:rPr lang="fr-FR" smtClean="0"/>
              <a:t>07/11/2024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Cours SQL - OP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20F6E-6924-4912-B71F-79525538CA8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152479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E433660-C096-4213-BB53-E86EB1A41D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DC75782-473C-4B4C-A593-53BD3F6C74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5D0DCC2-0205-4BDE-8B5F-2D7CB9D21E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252C4-2924-48BA-8FC2-D40E36CB37BB}" type="datetime1">
              <a:rPr lang="fr-FR" smtClean="0"/>
              <a:t>07/11/2024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2D13731-52C5-45C9-AA84-52EEFAE9B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Cours SQL - OP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FA8DF8C-D1BD-4B23-B66E-35B2F8963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20F6E-6924-4912-B71F-79525538CA8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969653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-25397" y="0"/>
            <a:ext cx="12005350" cy="6644081"/>
            <a:chOff x="-25397" y="0"/>
            <a:chExt cx="12005350" cy="6644081"/>
          </a:xfrm>
        </p:grpSpPr>
        <p:sp useBgFill="1">
          <p:nvSpPr>
            <p:cNvPr id="11" name="Rectangle 10"/>
            <p:cNvSpPr/>
            <p:nvPr/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1"/>
                </a:gs>
                <a:gs pos="100000">
                  <a:schemeClr val="accent1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63396"/>
            <a:ext cx="10396883" cy="3311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27D2EA88-8B68-4006-B101-C1B22709F07A}" type="datetime1">
              <a:rPr lang="fr-FR" smtClean="0"/>
              <a:t>07/11/2024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fr-FR"/>
              <a:t>Cours SQL - OP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E720F6E-6924-4912-B71F-79525538CA8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17787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00B7D7D-E235-468E-B057-FF372CFFCCC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Les bases de données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E50D9D9-FF4A-4AC2-B276-46AA4F2E0A1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SQL (</a:t>
            </a:r>
            <a:r>
              <a:rPr lang="fr-FR" dirty="0" err="1"/>
              <a:t>Structured</a:t>
            </a:r>
            <a:r>
              <a:rPr lang="fr-FR" dirty="0"/>
              <a:t> </a:t>
            </a:r>
            <a:r>
              <a:rPr lang="fr-FR" dirty="0" err="1"/>
              <a:t>Query</a:t>
            </a:r>
            <a:r>
              <a:rPr lang="fr-FR" dirty="0"/>
              <a:t> </a:t>
            </a:r>
            <a:r>
              <a:rPr lang="fr-FR" dirty="0" err="1"/>
              <a:t>Language</a:t>
            </a:r>
            <a:r>
              <a:rPr lang="fr-F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2521122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25F89A6-1838-4BCC-8DF1-A1226EB4D2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Définitions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1ECE300-CCD0-49FA-912E-E49BBAF440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dirty="0"/>
              <a:t>Une base de données EST un ensemble d’informations stockées sous forme de tableaux appelés « tables »</a:t>
            </a:r>
          </a:p>
          <a:p>
            <a:r>
              <a:rPr lang="fr-FR" dirty="0"/>
              <a:t>Un serveur de bases de données contient plusieurs bases de données il est aussi appelé un SGBD (Système de Gestion de Bases de Données)</a:t>
            </a:r>
          </a:p>
          <a:p>
            <a:r>
              <a:rPr lang="fr-FR" dirty="0"/>
              <a:t>Il existe des relations entre les tables, on dit qu’il s’agit d’une base de données relationnelle</a:t>
            </a:r>
          </a:p>
          <a:p>
            <a:r>
              <a:rPr lang="fr-FR" dirty="0"/>
              <a:t>Le langage utilisé pour manipuler les bases de données est le </a:t>
            </a:r>
            <a:r>
              <a:rPr lang="fr-FR"/>
              <a:t>SQL.</a:t>
            </a:r>
            <a:endParaRPr lang="fr-FR" dirty="0"/>
          </a:p>
          <a:p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96B4A0B-6E88-4054-99EE-F7B312416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Cours SQL - OP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7180E32-2714-4330-BC74-7DC8D7F23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20F6E-6924-4912-B71F-79525538CA85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778641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1EEB760-CAA3-41A9-AD99-426BA7923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Structure d’une table</a:t>
            </a:r>
          </a:p>
        </p:txBody>
      </p:sp>
      <p:graphicFrame>
        <p:nvGraphicFramePr>
          <p:cNvPr id="4" name="Tableau 4">
            <a:extLst>
              <a:ext uri="{FF2B5EF4-FFF2-40B4-BE49-F238E27FC236}">
                <a16:creationId xmlns:a16="http://schemas.microsoft.com/office/drawing/2014/main" id="{CA3D5AA4-FDB4-4D9E-BDC2-9B65997B01E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53825312"/>
              </p:ext>
            </p:extLst>
          </p:nvPr>
        </p:nvGraphicFramePr>
        <p:xfrm>
          <a:off x="685800" y="2063750"/>
          <a:ext cx="10396536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65512">
                  <a:extLst>
                    <a:ext uri="{9D8B030D-6E8A-4147-A177-3AD203B41FA5}">
                      <a16:colId xmlns:a16="http://schemas.microsoft.com/office/drawing/2014/main" val="779157558"/>
                    </a:ext>
                  </a:extLst>
                </a:gridCol>
                <a:gridCol w="3465512">
                  <a:extLst>
                    <a:ext uri="{9D8B030D-6E8A-4147-A177-3AD203B41FA5}">
                      <a16:colId xmlns:a16="http://schemas.microsoft.com/office/drawing/2014/main" val="130965426"/>
                    </a:ext>
                  </a:extLst>
                </a:gridCol>
                <a:gridCol w="3465512">
                  <a:extLst>
                    <a:ext uri="{9D8B030D-6E8A-4147-A177-3AD203B41FA5}">
                      <a16:colId xmlns:a16="http://schemas.microsoft.com/office/drawing/2014/main" val="23093227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Champ1</a:t>
                      </a:r>
                    </a:p>
                  </a:txBody>
                  <a:tcPr marL="90405" marR="90405"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Champ2</a:t>
                      </a:r>
                    </a:p>
                  </a:txBody>
                  <a:tcPr marL="90405" marR="90405"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Champ3</a:t>
                      </a:r>
                    </a:p>
                  </a:txBody>
                  <a:tcPr marL="90405" marR="90405"/>
                </a:tc>
                <a:extLst>
                  <a:ext uri="{0D108BD9-81ED-4DB2-BD59-A6C34878D82A}">
                    <a16:rowId xmlns:a16="http://schemas.microsoft.com/office/drawing/2014/main" val="35344750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Enregistrement1</a:t>
                      </a:r>
                    </a:p>
                  </a:txBody>
                  <a:tcPr marL="90405" marR="90405"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enregistrement1</a:t>
                      </a:r>
                    </a:p>
                  </a:txBody>
                  <a:tcPr marL="90405" marR="90405"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Enregistrement1</a:t>
                      </a:r>
                    </a:p>
                  </a:txBody>
                  <a:tcPr marL="90405" marR="90405"/>
                </a:tc>
                <a:extLst>
                  <a:ext uri="{0D108BD9-81ED-4DB2-BD59-A6C34878D82A}">
                    <a16:rowId xmlns:a16="http://schemas.microsoft.com/office/drawing/2014/main" val="22471505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Enregistrement2</a:t>
                      </a:r>
                    </a:p>
                  </a:txBody>
                  <a:tcPr marL="90405" marR="90405"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enregistrement2</a:t>
                      </a:r>
                    </a:p>
                  </a:txBody>
                  <a:tcPr marL="90405" marR="90405"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Enregistrement2</a:t>
                      </a:r>
                    </a:p>
                  </a:txBody>
                  <a:tcPr marL="90405" marR="90405"/>
                </a:tc>
                <a:extLst>
                  <a:ext uri="{0D108BD9-81ED-4DB2-BD59-A6C34878D82A}">
                    <a16:rowId xmlns:a16="http://schemas.microsoft.com/office/drawing/2014/main" val="12137615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Enregistrement3</a:t>
                      </a:r>
                    </a:p>
                  </a:txBody>
                  <a:tcPr marL="90405" marR="90405"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enregistrement3</a:t>
                      </a:r>
                    </a:p>
                  </a:txBody>
                  <a:tcPr marL="90405" marR="90405"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Enregistrement3</a:t>
                      </a:r>
                    </a:p>
                  </a:txBody>
                  <a:tcPr marL="90405" marR="90405"/>
                </a:tc>
                <a:extLst>
                  <a:ext uri="{0D108BD9-81ED-4DB2-BD59-A6C34878D82A}">
                    <a16:rowId xmlns:a16="http://schemas.microsoft.com/office/drawing/2014/main" val="1422204168"/>
                  </a:ext>
                </a:extLst>
              </a:tr>
            </a:tbl>
          </a:graphicData>
        </a:graphic>
      </p:graphicFrame>
      <p:sp>
        <p:nvSpPr>
          <p:cNvPr id="3" name="ZoneTexte 2">
            <a:extLst>
              <a:ext uri="{FF2B5EF4-FFF2-40B4-BE49-F238E27FC236}">
                <a16:creationId xmlns:a16="http://schemas.microsoft.com/office/drawing/2014/main" id="{A60C2435-DF86-4315-8F57-60625DBF2241}"/>
              </a:ext>
            </a:extLst>
          </p:cNvPr>
          <p:cNvSpPr txBox="1"/>
          <p:nvPr/>
        </p:nvSpPr>
        <p:spPr>
          <a:xfrm>
            <a:off x="2237173" y="4199138"/>
            <a:ext cx="27735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1 ligne = un enregistrement</a:t>
            </a:r>
          </a:p>
          <a:p>
            <a:r>
              <a:rPr lang="fr-FR" dirty="0"/>
              <a:t>1 colonne = un champ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7C5CB87-F530-462C-BBA9-2F64631C8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Cours SQL - OP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C7EBD72-2E4C-43ED-A4BF-C51A745B8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20F6E-6924-4912-B71F-79525538CA85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44159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B9869C0-C20E-425F-9702-B56012E99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88651"/>
            <a:ext cx="10396882" cy="1151965"/>
          </a:xfrm>
        </p:spPr>
        <p:txBody>
          <a:bodyPr/>
          <a:lstStyle/>
          <a:p>
            <a:r>
              <a:rPr lang="fr-FR" dirty="0"/>
              <a:t>Connexion au serveur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3311A4D8-B947-4171-8AB7-59C2E2D026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b="37104"/>
          <a:stretch/>
        </p:blipFill>
        <p:spPr>
          <a:xfrm>
            <a:off x="2627791" y="1269584"/>
            <a:ext cx="7985216" cy="3737421"/>
          </a:xfrm>
        </p:spPr>
      </p:pic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01DFC0B-CA85-403D-870E-DFF5F2233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Cours SQL - OP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997DFC4-45F9-450E-BA4B-1325205DC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20F6E-6924-4912-B71F-79525538CA85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396231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1C71AA6-7B02-491C-B932-4CBD976D6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97528"/>
            <a:ext cx="10396882" cy="1151965"/>
          </a:xfrm>
        </p:spPr>
        <p:txBody>
          <a:bodyPr/>
          <a:lstStyle/>
          <a:p>
            <a:r>
              <a:rPr lang="fr-FR" dirty="0"/>
              <a:t>Construction d’une table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E1D2C45C-8CBA-4A69-8025-A051117150F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9825" r="66824" b="13358"/>
          <a:stretch/>
        </p:blipFill>
        <p:spPr>
          <a:xfrm>
            <a:off x="517124" y="1269506"/>
            <a:ext cx="4871622" cy="4089171"/>
          </a:xfrm>
          <a:prstGeom prst="rect">
            <a:avLst/>
          </a:prstGeom>
        </p:spPr>
      </p:pic>
      <p:sp>
        <p:nvSpPr>
          <p:cNvPr id="10" name="Espace réservé du pied de page 9">
            <a:extLst>
              <a:ext uri="{FF2B5EF4-FFF2-40B4-BE49-F238E27FC236}">
                <a16:creationId xmlns:a16="http://schemas.microsoft.com/office/drawing/2014/main" id="{AD6923C4-7430-424E-A7B7-558CA3E08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Cours SQL - OP</a:t>
            </a:r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630B5172-BB6F-4A95-83C4-8F8F2D765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20F6E-6924-4912-B71F-79525538CA85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527808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C0DF030-A94A-4563-BFBB-65F188B15C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170895"/>
            <a:ext cx="10396882" cy="1151965"/>
          </a:xfrm>
        </p:spPr>
        <p:txBody>
          <a:bodyPr/>
          <a:lstStyle/>
          <a:p>
            <a:r>
              <a:rPr lang="fr-FR" dirty="0"/>
              <a:t>Quelques instructions en SQL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CAA23FE-D2C5-4CDD-9C5F-D9E1B0D1DE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136342"/>
            <a:ext cx="10396883" cy="4238243"/>
          </a:xfrm>
        </p:spPr>
        <p:txBody>
          <a:bodyPr>
            <a:normAutofit/>
          </a:bodyPr>
          <a:lstStyle/>
          <a:p>
            <a:r>
              <a:rPr lang="fr-FR" dirty="0"/>
              <a:t>Voir les bases de données présentes sur le serveur :   show </a:t>
            </a:r>
            <a:r>
              <a:rPr lang="fr-FR" dirty="0" err="1"/>
              <a:t>databases</a:t>
            </a:r>
            <a:r>
              <a:rPr lang="fr-FR" dirty="0"/>
              <a:t>;</a:t>
            </a:r>
          </a:p>
          <a:p>
            <a:r>
              <a:rPr lang="en-US" dirty="0" err="1"/>
              <a:t>Créer</a:t>
            </a:r>
            <a:r>
              <a:rPr lang="en-US" dirty="0"/>
              <a:t> </a:t>
            </a:r>
            <a:r>
              <a:rPr lang="en-US" dirty="0" err="1"/>
              <a:t>une</a:t>
            </a:r>
            <a:r>
              <a:rPr lang="en-US" dirty="0"/>
              <a:t> table : create table T1 (id int, nom varchar(25), age int);</a:t>
            </a:r>
            <a:endParaRPr lang="fr-FR" dirty="0"/>
          </a:p>
          <a:p>
            <a:r>
              <a:rPr lang="fr-FR" dirty="0"/>
              <a:t>Voir toutes les tables de la base  : show tables;</a:t>
            </a:r>
          </a:p>
          <a:p>
            <a:r>
              <a:rPr lang="fr-FR" dirty="0"/>
              <a:t>insert </a:t>
            </a:r>
            <a:r>
              <a:rPr lang="fr-FR" dirty="0" err="1"/>
              <a:t>into</a:t>
            </a:r>
            <a:r>
              <a:rPr lang="fr-FR" dirty="0"/>
              <a:t> </a:t>
            </a:r>
            <a:r>
              <a:rPr lang="fr-FR" dirty="0" err="1"/>
              <a:t>Nom_de_la_table</a:t>
            </a:r>
            <a:r>
              <a:rPr lang="fr-FR" dirty="0"/>
              <a:t>(</a:t>
            </a:r>
            <a:r>
              <a:rPr lang="fr-FR" dirty="0" err="1"/>
              <a:t>id,nom,age</a:t>
            </a:r>
            <a:r>
              <a:rPr lang="fr-FR" dirty="0"/>
              <a:t>) values(1,’nom1’,20);</a:t>
            </a:r>
          </a:p>
          <a:p>
            <a:r>
              <a:rPr lang="fr-FR" dirty="0"/>
              <a:t>select * </a:t>
            </a:r>
            <a:r>
              <a:rPr lang="fr-FR" dirty="0" err="1"/>
              <a:t>from</a:t>
            </a:r>
            <a:r>
              <a:rPr lang="fr-FR" dirty="0"/>
              <a:t> t1;</a:t>
            </a:r>
          </a:p>
          <a:p>
            <a:r>
              <a:rPr lang="fr-FR" dirty="0"/>
              <a:t>Filtrer des données : select * </a:t>
            </a:r>
            <a:r>
              <a:rPr lang="fr-FR" dirty="0" err="1"/>
              <a:t>from</a:t>
            </a:r>
            <a:r>
              <a:rPr lang="fr-FR" dirty="0"/>
              <a:t> t1 </a:t>
            </a:r>
            <a:r>
              <a:rPr lang="fr-FR" dirty="0" err="1"/>
              <a:t>where</a:t>
            </a:r>
            <a:r>
              <a:rPr lang="fr-FR" dirty="0"/>
              <a:t> nom=‘nom2’;</a:t>
            </a:r>
          </a:p>
          <a:p>
            <a:r>
              <a:rPr lang="fr-FR" dirty="0"/>
              <a:t>Select * </a:t>
            </a:r>
            <a:r>
              <a:rPr lang="fr-FR" dirty="0" err="1"/>
              <a:t>from</a:t>
            </a:r>
            <a:r>
              <a:rPr lang="fr-FR" dirty="0"/>
              <a:t> t1 </a:t>
            </a:r>
            <a:r>
              <a:rPr lang="fr-FR" dirty="0" err="1"/>
              <a:t>where</a:t>
            </a:r>
            <a:r>
              <a:rPr lang="fr-FR" dirty="0"/>
              <a:t> </a:t>
            </a:r>
            <a:r>
              <a:rPr lang="fr-FR" dirty="0" err="1"/>
              <a:t>age</a:t>
            </a:r>
            <a:r>
              <a:rPr lang="fr-FR" dirty="0"/>
              <a:t>&lt;22;</a:t>
            </a:r>
          </a:p>
          <a:p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270A8A5-7997-4565-AB05-EF39928DC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Cours SQL - OP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C4C3FA1-6A07-4CFF-82F9-377E4CA59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20F6E-6924-4912-B71F-79525538CA85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186552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0C2EBEB-C313-4AEF-84CB-96F5B1F3BC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06405"/>
            <a:ext cx="10396882" cy="1151965"/>
          </a:xfrm>
        </p:spPr>
        <p:txBody>
          <a:bodyPr/>
          <a:lstStyle/>
          <a:p>
            <a:r>
              <a:rPr lang="fr-FR" dirty="0"/>
              <a:t>La clé primaire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8A8205E-D5B3-4517-8248-78E9FE97F4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799" y="1468593"/>
            <a:ext cx="10396883" cy="4124339"/>
          </a:xfrm>
        </p:spPr>
        <p:txBody>
          <a:bodyPr>
            <a:normAutofit/>
          </a:bodyPr>
          <a:lstStyle/>
          <a:p>
            <a:r>
              <a:rPr lang="fr-FR" dirty="0"/>
              <a:t>Une clef primaire sert à garantir l’unicité (le caractère unique de chaque ligne)</a:t>
            </a:r>
          </a:p>
          <a:p>
            <a:r>
              <a:rPr lang="fr-FR" dirty="0"/>
              <a:t>Lors d’une requête, il faut toujours avoir la possibilité de retourner un seul enregistrement comme résultat.</a:t>
            </a:r>
          </a:p>
          <a:p>
            <a:r>
              <a:rPr lang="fr-FR" dirty="0"/>
              <a:t>Il faut donc empêcher que deux lignes (enregistrements) puissent être identiques dans une table</a:t>
            </a:r>
          </a:p>
          <a:p>
            <a:r>
              <a:rPr lang="fr-FR" dirty="0"/>
              <a:t>Très souvent, on va numéroter les enregistrements grâce à un champs « identifiant » (id), c’est ce champs qui garantira l’unicité de chaque enregistrement et que l’on nommera :  clef primaire.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92F029F-F763-49F6-B733-F54F3B2D0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Cours SQL - OP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E16F3D4-7121-42F1-8333-FA58219F1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20F6E-6924-4912-B71F-79525538CA85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051202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0CF4584-5D48-45B6-88FA-F8F4623C8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Ajout d’une clé primaire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7E91927-DC19-44B5-B929-B0D6747E4D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Alter table t1 </a:t>
            </a:r>
            <a:r>
              <a:rPr lang="fr-FR" dirty="0" err="1"/>
              <a:t>add</a:t>
            </a:r>
            <a:r>
              <a:rPr lang="fr-FR" dirty="0"/>
              <a:t> </a:t>
            </a:r>
            <a:r>
              <a:rPr lang="fr-FR" dirty="0" err="1"/>
              <a:t>constraint</a:t>
            </a:r>
            <a:r>
              <a:rPr lang="fr-FR" dirty="0"/>
              <a:t> cle_primaire_t1 </a:t>
            </a:r>
            <a:r>
              <a:rPr lang="fr-FR" dirty="0" err="1"/>
              <a:t>primary</a:t>
            </a:r>
            <a:r>
              <a:rPr lang="fr-FR" dirty="0"/>
              <a:t> key(id);</a:t>
            </a:r>
          </a:p>
          <a:p>
            <a:endParaRPr lang="fr-FR" dirty="0"/>
          </a:p>
          <a:p>
            <a:r>
              <a:rPr lang="fr-FR" dirty="0"/>
              <a:t>Ou bien dès la création de la table : </a:t>
            </a:r>
          </a:p>
          <a:p>
            <a:pPr lvl="1"/>
            <a:r>
              <a:rPr lang="en-US" dirty="0"/>
              <a:t>create table t3( id int primary key, col1 varchar(10), col2 varchar(15));</a:t>
            </a:r>
            <a:endParaRPr lang="fr-FR" dirty="0"/>
          </a:p>
          <a:p>
            <a:endParaRPr lang="fr-FR" dirty="0"/>
          </a:p>
          <a:p>
            <a:r>
              <a:rPr lang="fr-FR" dirty="0"/>
              <a:t>Remarque : il faut toujours attribuer la clef primaire avant d’insérer des données dans la table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EF91574C-B807-4C09-ABAF-638808339019}"/>
              </a:ext>
            </a:extLst>
          </p:cNvPr>
          <p:cNvSpPr txBox="1"/>
          <p:nvPr/>
        </p:nvSpPr>
        <p:spPr>
          <a:xfrm>
            <a:off x="3879542" y="183776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8A6ADBC-463B-4E29-90CF-0DA2D5A63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Cours SQL - OP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64FE0B5-6978-4FAF-8B32-9D15976FE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20F6E-6924-4912-B71F-79525538CA85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709941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45EA5C0-4FEF-4F0D-852B-CD1BCCB38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 err="1"/>
              <a:t>Selection</a:t>
            </a:r>
            <a:r>
              <a:rPr lang="fr-FR" dirty="0"/>
              <a:t> sur plusieurs tables : jointures d’égalité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A0D14AC-B163-4BF8-8983-CD7FDEAB85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Si on possède T1 et t2 : select * </a:t>
            </a:r>
            <a:r>
              <a:rPr lang="fr-FR" dirty="0" err="1"/>
              <a:t>from</a:t>
            </a:r>
            <a:r>
              <a:rPr lang="fr-FR" dirty="0"/>
              <a:t> t1 </a:t>
            </a:r>
            <a:r>
              <a:rPr lang="fr-FR" dirty="0" err="1"/>
              <a:t>natural</a:t>
            </a:r>
            <a:r>
              <a:rPr lang="fr-FR" dirty="0"/>
              <a:t> </a:t>
            </a:r>
            <a:r>
              <a:rPr lang="fr-FR" dirty="0" err="1"/>
              <a:t>join</a:t>
            </a:r>
            <a:r>
              <a:rPr lang="fr-FR" dirty="0"/>
              <a:t> t2;</a:t>
            </a:r>
          </a:p>
          <a:p>
            <a:r>
              <a:rPr lang="fr-FR" dirty="0"/>
              <a:t>Remarque : les </a:t>
            </a:r>
            <a:r>
              <a:rPr lang="fr-FR" dirty="0" err="1"/>
              <a:t>chaMps</a:t>
            </a:r>
            <a:r>
              <a:rPr lang="fr-FR" dirty="0"/>
              <a:t> qu’on veut afficher sont énumérés après le mot clé « select »</a:t>
            </a:r>
          </a:p>
          <a:p>
            <a:r>
              <a:rPr lang="fr-FR" dirty="0"/>
              <a:t>On peut aussi choisir les champs à afficher : </a:t>
            </a:r>
          </a:p>
          <a:p>
            <a:pPr lvl="1"/>
            <a:r>
              <a:rPr lang="fr-FR" dirty="0"/>
              <a:t>Select nom, tel </a:t>
            </a:r>
            <a:r>
              <a:rPr lang="fr-FR" dirty="0" err="1"/>
              <a:t>from</a:t>
            </a:r>
            <a:r>
              <a:rPr lang="fr-FR" dirty="0"/>
              <a:t> t1 ,t2;</a:t>
            </a:r>
          </a:p>
          <a:p>
            <a:pPr lvl="1"/>
            <a:r>
              <a:rPr lang="fr-FR" dirty="0"/>
              <a:t>Select nom, mail </a:t>
            </a:r>
            <a:r>
              <a:rPr lang="fr-FR" dirty="0" err="1"/>
              <a:t>from</a:t>
            </a:r>
            <a:r>
              <a:rPr lang="fr-FR" dirty="0"/>
              <a:t> t1,t2 </a:t>
            </a:r>
            <a:r>
              <a:rPr lang="fr-FR" dirty="0" err="1"/>
              <a:t>where</a:t>
            </a:r>
            <a:r>
              <a:rPr lang="fr-FR" dirty="0"/>
              <a:t> id=1;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31BCB856-9E74-4E8A-ACCE-6780E59F6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Cours SQL - OP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883065C-4A13-4A67-A347-18ED4978E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20F6E-6924-4912-B71F-79525538CA85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21046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2A1CB1-D1E8-0D49-78AF-7025C7AAD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26213"/>
            <a:ext cx="10396882" cy="1151965"/>
          </a:xfrm>
        </p:spPr>
        <p:txBody>
          <a:bodyPr/>
          <a:lstStyle/>
          <a:p>
            <a:r>
              <a:rPr lang="fr-FR" dirty="0"/>
              <a:t>Connexion a une BDD en </a:t>
            </a:r>
            <a:r>
              <a:rPr lang="fr-FR" dirty="0" err="1"/>
              <a:t>php</a:t>
            </a:r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2B0D092-09F3-F8C7-5F89-639C48AF6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Cours SQL - OP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8CC1A9F-BE2D-24FA-1CE3-F092678C6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20F6E-6924-4912-B71F-79525538CA85}" type="slidenum">
              <a:rPr lang="fr-FR" smtClean="0"/>
              <a:t>10</a:t>
            </a:fld>
            <a:endParaRPr lang="fr-FR"/>
          </a:p>
        </p:txBody>
      </p:sp>
      <p:graphicFrame>
        <p:nvGraphicFramePr>
          <p:cNvPr id="8" name="Tableau 7">
            <a:extLst>
              <a:ext uri="{FF2B5EF4-FFF2-40B4-BE49-F238E27FC236}">
                <a16:creationId xmlns:a16="http://schemas.microsoft.com/office/drawing/2014/main" id="{BE3B407C-6708-7846-F561-0FE17DDD23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8246900"/>
              </p:ext>
            </p:extLst>
          </p:nvPr>
        </p:nvGraphicFramePr>
        <p:xfrm>
          <a:off x="203200" y="1369906"/>
          <a:ext cx="11633199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17440">
                  <a:extLst>
                    <a:ext uri="{9D8B030D-6E8A-4147-A177-3AD203B41FA5}">
                      <a16:colId xmlns:a16="http://schemas.microsoft.com/office/drawing/2014/main" val="2950166703"/>
                    </a:ext>
                  </a:extLst>
                </a:gridCol>
                <a:gridCol w="4128286">
                  <a:extLst>
                    <a:ext uri="{9D8B030D-6E8A-4147-A177-3AD203B41FA5}">
                      <a16:colId xmlns:a16="http://schemas.microsoft.com/office/drawing/2014/main" val="1127307262"/>
                    </a:ext>
                  </a:extLst>
                </a:gridCol>
                <a:gridCol w="2587473">
                  <a:extLst>
                    <a:ext uri="{9D8B030D-6E8A-4147-A177-3AD203B41FA5}">
                      <a16:colId xmlns:a16="http://schemas.microsoft.com/office/drawing/2014/main" val="161971559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</a:rPr>
                        <a:t>&lt;?</a:t>
                      </a:r>
                      <a:r>
                        <a:rPr lang="fr-FR" dirty="0" err="1">
                          <a:solidFill>
                            <a:schemeClr val="tx1"/>
                          </a:solidFill>
                          <a:latin typeface="Agency FB" panose="020B0503020202020204" pitchFamily="34" charset="0"/>
                        </a:rPr>
                        <a:t>php</a:t>
                      </a:r>
                      <a:endParaRPr lang="fr-FR" dirty="0">
                        <a:solidFill>
                          <a:schemeClr val="tx1"/>
                        </a:solidFill>
                        <a:latin typeface="Agency FB" panose="020B0503020202020204" pitchFamily="34" charset="0"/>
                      </a:endParaRPr>
                    </a:p>
                    <a:p>
                      <a:r>
                        <a:rPr lang="fr-FR" dirty="0" err="1">
                          <a:solidFill>
                            <a:schemeClr val="tx1"/>
                          </a:solidFill>
                          <a:latin typeface="Agency FB" panose="020B0503020202020204" pitchFamily="34" charset="0"/>
                        </a:rPr>
                        <a:t>try</a:t>
                      </a:r>
                      <a:r>
                        <a:rPr lang="fr-FR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</a:rPr>
                        <a:t> {//</a:t>
                      </a:r>
                      <a:r>
                        <a:rPr lang="fr-FR" dirty="0" err="1">
                          <a:solidFill>
                            <a:schemeClr val="tx1"/>
                          </a:solidFill>
                          <a:latin typeface="Agency FB" panose="020B0503020202020204" pitchFamily="34" charset="0"/>
                        </a:rPr>
                        <a:t>creation</a:t>
                      </a:r>
                      <a:r>
                        <a:rPr lang="fr-FR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</a:rPr>
                        <a:t> de l'objet PDO</a:t>
                      </a:r>
                    </a:p>
                    <a:p>
                      <a:r>
                        <a:rPr lang="fr-FR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</a:rPr>
                        <a:t>$</a:t>
                      </a:r>
                      <a:r>
                        <a:rPr lang="fr-FR" dirty="0" err="1">
                          <a:solidFill>
                            <a:schemeClr val="tx1"/>
                          </a:solidFill>
                          <a:latin typeface="Agency FB" panose="020B0503020202020204" pitchFamily="34" charset="0"/>
                        </a:rPr>
                        <a:t>db</a:t>
                      </a:r>
                      <a:r>
                        <a:rPr lang="fr-FR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</a:rPr>
                        <a:t> = new PDO('</a:t>
                      </a:r>
                      <a:r>
                        <a:rPr lang="fr-FR" dirty="0" err="1">
                          <a:solidFill>
                            <a:schemeClr val="tx1"/>
                          </a:solidFill>
                          <a:latin typeface="Agency FB" panose="020B0503020202020204" pitchFamily="34" charset="0"/>
                        </a:rPr>
                        <a:t>mysql:host</a:t>
                      </a:r>
                      <a:r>
                        <a:rPr lang="fr-FR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</a:rPr>
                        <a:t>=127.0.0.1;dbname=mabase1','root','olivier');</a:t>
                      </a:r>
                    </a:p>
                    <a:p>
                      <a:r>
                        <a:rPr lang="fr-FR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</a:rPr>
                        <a:t>$</a:t>
                      </a:r>
                      <a:r>
                        <a:rPr lang="fr-FR" dirty="0" err="1">
                          <a:solidFill>
                            <a:schemeClr val="tx1"/>
                          </a:solidFill>
                          <a:latin typeface="Agency FB" panose="020B0503020202020204" pitchFamily="34" charset="0"/>
                        </a:rPr>
                        <a:t>strSQL</a:t>
                      </a:r>
                      <a:r>
                        <a:rPr lang="fr-FR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</a:rPr>
                        <a:t> = "SELECT * FROM table1";</a:t>
                      </a:r>
                    </a:p>
                    <a:p>
                      <a:r>
                        <a:rPr lang="fr-FR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</a:rPr>
                        <a:t>//</a:t>
                      </a:r>
                      <a:r>
                        <a:rPr lang="fr-FR" dirty="0" err="1">
                          <a:solidFill>
                            <a:schemeClr val="tx1"/>
                          </a:solidFill>
                          <a:latin typeface="Agency FB" panose="020B0503020202020204" pitchFamily="34" charset="0"/>
                        </a:rPr>
                        <a:t>execution</a:t>
                      </a:r>
                      <a:r>
                        <a:rPr lang="fr-FR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</a:rPr>
                        <a:t> de la requête et affichage des résultats</a:t>
                      </a:r>
                    </a:p>
                    <a:p>
                      <a:r>
                        <a:rPr lang="fr-FR" dirty="0" err="1">
                          <a:solidFill>
                            <a:schemeClr val="tx1"/>
                          </a:solidFill>
                          <a:latin typeface="Agency FB" panose="020B0503020202020204" pitchFamily="34" charset="0"/>
                        </a:rPr>
                        <a:t>foreach</a:t>
                      </a:r>
                      <a:r>
                        <a:rPr lang="fr-FR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</a:rPr>
                        <a:t>($</a:t>
                      </a:r>
                      <a:r>
                        <a:rPr lang="fr-FR" dirty="0" err="1">
                          <a:solidFill>
                            <a:schemeClr val="tx1"/>
                          </a:solidFill>
                          <a:latin typeface="Agency FB" panose="020B0503020202020204" pitchFamily="34" charset="0"/>
                        </a:rPr>
                        <a:t>db</a:t>
                      </a:r>
                      <a:r>
                        <a:rPr lang="fr-FR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</a:rPr>
                        <a:t>-&gt;</a:t>
                      </a:r>
                      <a:r>
                        <a:rPr lang="fr-FR" dirty="0" err="1">
                          <a:solidFill>
                            <a:schemeClr val="tx1"/>
                          </a:solidFill>
                          <a:latin typeface="Agency FB" panose="020B0503020202020204" pitchFamily="34" charset="0"/>
                        </a:rPr>
                        <a:t>query</a:t>
                      </a:r>
                      <a:r>
                        <a:rPr lang="fr-FR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</a:rPr>
                        <a:t>($</a:t>
                      </a:r>
                      <a:r>
                        <a:rPr lang="fr-FR" dirty="0" err="1">
                          <a:solidFill>
                            <a:schemeClr val="tx1"/>
                          </a:solidFill>
                          <a:latin typeface="Agency FB" panose="020B0503020202020204" pitchFamily="34" charset="0"/>
                        </a:rPr>
                        <a:t>strSQL</a:t>
                      </a:r>
                      <a:r>
                        <a:rPr lang="fr-FR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</a:rPr>
                        <a:t>) as $</a:t>
                      </a:r>
                      <a:r>
                        <a:rPr lang="fr-FR" dirty="0" err="1">
                          <a:solidFill>
                            <a:schemeClr val="tx1"/>
                          </a:solidFill>
                          <a:latin typeface="Agency FB" panose="020B0503020202020204" pitchFamily="34" charset="0"/>
                        </a:rPr>
                        <a:t>row</a:t>
                      </a:r>
                      <a:r>
                        <a:rPr lang="fr-FR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</a:rPr>
                        <a:t>){</a:t>
                      </a:r>
                    </a:p>
                    <a:p>
                      <a:r>
                        <a:rPr lang="fr-FR" dirty="0" err="1">
                          <a:solidFill>
                            <a:schemeClr val="tx1"/>
                          </a:solidFill>
                          <a:latin typeface="Agency FB" panose="020B0503020202020204" pitchFamily="34" charset="0"/>
                        </a:rPr>
                        <a:t>echo</a:t>
                      </a:r>
                      <a:r>
                        <a:rPr lang="fr-FR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</a:rPr>
                        <a:t> $</a:t>
                      </a:r>
                      <a:r>
                        <a:rPr lang="fr-FR" dirty="0" err="1">
                          <a:solidFill>
                            <a:schemeClr val="tx1"/>
                          </a:solidFill>
                          <a:latin typeface="Agency FB" panose="020B0503020202020204" pitchFamily="34" charset="0"/>
                        </a:rPr>
                        <a:t>row</a:t>
                      </a:r>
                      <a:r>
                        <a:rPr lang="fr-FR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</a:rPr>
                        <a:t>['id']." ".$</a:t>
                      </a:r>
                      <a:r>
                        <a:rPr lang="fr-FR" dirty="0" err="1">
                          <a:solidFill>
                            <a:schemeClr val="tx1"/>
                          </a:solidFill>
                          <a:latin typeface="Agency FB" panose="020B0503020202020204" pitchFamily="34" charset="0"/>
                        </a:rPr>
                        <a:t>row</a:t>
                      </a:r>
                      <a:r>
                        <a:rPr lang="fr-FR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</a:rPr>
                        <a:t>['nom'];   //." ".$</a:t>
                      </a:r>
                      <a:r>
                        <a:rPr lang="fr-FR" dirty="0" err="1">
                          <a:solidFill>
                            <a:schemeClr val="tx1"/>
                          </a:solidFill>
                          <a:latin typeface="Agency FB" panose="020B0503020202020204" pitchFamily="34" charset="0"/>
                        </a:rPr>
                        <a:t>row</a:t>
                      </a:r>
                      <a:r>
                        <a:rPr lang="fr-FR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</a:rPr>
                        <a:t>['id']."&lt;</a:t>
                      </a:r>
                      <a:r>
                        <a:rPr lang="fr-FR" dirty="0" err="1">
                          <a:solidFill>
                            <a:schemeClr val="tx1"/>
                          </a:solidFill>
                          <a:latin typeface="Agency FB" panose="020B0503020202020204" pitchFamily="34" charset="0"/>
                        </a:rPr>
                        <a:t>br</a:t>
                      </a:r>
                      <a:r>
                        <a:rPr lang="fr-FR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</a:rPr>
                        <a:t>/&gt;";</a:t>
                      </a:r>
                    </a:p>
                    <a:p>
                      <a:r>
                        <a:rPr lang="fr-FR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</a:rPr>
                        <a:t>}</a:t>
                      </a:r>
                    </a:p>
                    <a:p>
                      <a:r>
                        <a:rPr lang="fr-FR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</a:rPr>
                        <a:t>} catch (</a:t>
                      </a:r>
                      <a:r>
                        <a:rPr lang="fr-FR" dirty="0" err="1">
                          <a:solidFill>
                            <a:schemeClr val="tx1"/>
                          </a:solidFill>
                          <a:latin typeface="Agency FB" panose="020B0503020202020204" pitchFamily="34" charset="0"/>
                        </a:rPr>
                        <a:t>PDOException</a:t>
                      </a:r>
                      <a:r>
                        <a:rPr lang="fr-FR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</a:rPr>
                        <a:t> $e){ </a:t>
                      </a:r>
                    </a:p>
                    <a:p>
                      <a:r>
                        <a:rPr lang="fr-FR" dirty="0" err="1">
                          <a:solidFill>
                            <a:schemeClr val="tx1"/>
                          </a:solidFill>
                          <a:latin typeface="Agency FB" panose="020B0503020202020204" pitchFamily="34" charset="0"/>
                        </a:rPr>
                        <a:t>print</a:t>
                      </a:r>
                      <a:r>
                        <a:rPr lang="fr-FR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</a:rPr>
                        <a:t> "Erreur : ".$e-&gt;</a:t>
                      </a:r>
                      <a:r>
                        <a:rPr lang="fr-FR" dirty="0" err="1">
                          <a:solidFill>
                            <a:schemeClr val="tx1"/>
                          </a:solidFill>
                          <a:latin typeface="Agency FB" panose="020B0503020202020204" pitchFamily="34" charset="0"/>
                        </a:rPr>
                        <a:t>getMessage</a:t>
                      </a:r>
                      <a:r>
                        <a:rPr lang="fr-FR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</a:rPr>
                        <a:t>();</a:t>
                      </a:r>
                    </a:p>
                    <a:p>
                      <a:r>
                        <a:rPr lang="fr-FR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</a:rPr>
                        <a:t>die();</a:t>
                      </a:r>
                    </a:p>
                    <a:p>
                      <a:r>
                        <a:rPr lang="fr-FR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</a:rPr>
                        <a:t>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</a:rPr>
                        <a:t>$q = $</a:t>
                      </a:r>
                      <a:r>
                        <a:rPr lang="fr-FR" dirty="0" err="1">
                          <a:solidFill>
                            <a:schemeClr val="tx1"/>
                          </a:solidFill>
                          <a:latin typeface="Agency FB" panose="020B0503020202020204" pitchFamily="34" charset="0"/>
                        </a:rPr>
                        <a:t>db</a:t>
                      </a:r>
                      <a:r>
                        <a:rPr lang="fr-FR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</a:rPr>
                        <a:t>-&gt;</a:t>
                      </a:r>
                      <a:r>
                        <a:rPr lang="fr-FR" dirty="0" err="1">
                          <a:solidFill>
                            <a:schemeClr val="tx1"/>
                          </a:solidFill>
                          <a:latin typeface="Agency FB" panose="020B0503020202020204" pitchFamily="34" charset="0"/>
                        </a:rPr>
                        <a:t>prepare</a:t>
                      </a:r>
                      <a:r>
                        <a:rPr lang="fr-FR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</a:rPr>
                        <a:t>("DESCRIBE </a:t>
                      </a:r>
                      <a:r>
                        <a:rPr lang="fr-FR" dirty="0" err="1">
                          <a:solidFill>
                            <a:schemeClr val="tx1"/>
                          </a:solidFill>
                          <a:latin typeface="Agency FB" panose="020B0503020202020204" pitchFamily="34" charset="0"/>
                        </a:rPr>
                        <a:t>reponse</a:t>
                      </a:r>
                      <a:r>
                        <a:rPr lang="fr-FR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</a:rPr>
                        <a:t>");</a:t>
                      </a:r>
                    </a:p>
                    <a:p>
                      <a:r>
                        <a:rPr lang="fr-FR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</a:rPr>
                        <a:t>$q-&gt;</a:t>
                      </a:r>
                      <a:r>
                        <a:rPr lang="fr-FR" dirty="0" err="1">
                          <a:solidFill>
                            <a:schemeClr val="tx1"/>
                          </a:solidFill>
                          <a:latin typeface="Agency FB" panose="020B0503020202020204" pitchFamily="34" charset="0"/>
                        </a:rPr>
                        <a:t>execute</a:t>
                      </a:r>
                      <a:r>
                        <a:rPr lang="fr-FR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</a:rPr>
                        <a:t>();</a:t>
                      </a:r>
                    </a:p>
                    <a:p>
                      <a:r>
                        <a:rPr lang="fr-FR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</a:rPr>
                        <a:t>$</a:t>
                      </a:r>
                      <a:r>
                        <a:rPr lang="fr-FR" dirty="0" err="1">
                          <a:solidFill>
                            <a:schemeClr val="tx1"/>
                          </a:solidFill>
                          <a:latin typeface="Agency FB" panose="020B0503020202020204" pitchFamily="34" charset="0"/>
                        </a:rPr>
                        <a:t>table_fields</a:t>
                      </a:r>
                      <a:r>
                        <a:rPr lang="fr-FR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</a:rPr>
                        <a:t> = $q-&gt;</a:t>
                      </a:r>
                      <a:r>
                        <a:rPr lang="fr-FR" dirty="0" err="1">
                          <a:solidFill>
                            <a:schemeClr val="tx1"/>
                          </a:solidFill>
                          <a:latin typeface="Agency FB" panose="020B0503020202020204" pitchFamily="34" charset="0"/>
                        </a:rPr>
                        <a:t>fetchAll</a:t>
                      </a:r>
                      <a:r>
                        <a:rPr lang="fr-FR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</a:rPr>
                        <a:t>(PDO::FETCH_COLUMN);</a:t>
                      </a:r>
                    </a:p>
                    <a:p>
                      <a:r>
                        <a:rPr lang="fr-FR" dirty="0" err="1">
                          <a:solidFill>
                            <a:schemeClr val="tx1"/>
                          </a:solidFill>
                          <a:latin typeface="Agency FB" panose="020B0503020202020204" pitchFamily="34" charset="0"/>
                        </a:rPr>
                        <a:t>foreach</a:t>
                      </a:r>
                      <a:r>
                        <a:rPr lang="fr-FR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</a:rPr>
                        <a:t>($</a:t>
                      </a:r>
                      <a:r>
                        <a:rPr lang="fr-FR" dirty="0" err="1">
                          <a:solidFill>
                            <a:schemeClr val="tx1"/>
                          </a:solidFill>
                          <a:latin typeface="Agency FB" panose="020B0503020202020204" pitchFamily="34" charset="0"/>
                        </a:rPr>
                        <a:t>table_fields</a:t>
                      </a:r>
                      <a:r>
                        <a:rPr lang="fr-FR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</a:rPr>
                        <a:t> as $value)</a:t>
                      </a:r>
                    </a:p>
                    <a:p>
                      <a:r>
                        <a:rPr lang="fr-FR" dirty="0" err="1">
                          <a:solidFill>
                            <a:schemeClr val="tx1"/>
                          </a:solidFill>
                          <a:latin typeface="Agency FB" panose="020B0503020202020204" pitchFamily="34" charset="0"/>
                        </a:rPr>
                        <a:t>echo</a:t>
                      </a:r>
                      <a:r>
                        <a:rPr lang="fr-FR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</a:rPr>
                        <a:t> ''.$value.'';</a:t>
                      </a:r>
                    </a:p>
                    <a:p>
                      <a:r>
                        <a:rPr lang="fr-FR" dirty="0" err="1">
                          <a:solidFill>
                            <a:schemeClr val="tx1"/>
                          </a:solidFill>
                          <a:latin typeface="Agency FB" panose="020B0503020202020204" pitchFamily="34" charset="0"/>
                        </a:rPr>
                        <a:t>echo</a:t>
                      </a:r>
                      <a:r>
                        <a:rPr lang="fr-FR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</a:rPr>
                        <a:t> '&lt;</a:t>
                      </a:r>
                      <a:r>
                        <a:rPr lang="fr-FR" dirty="0" err="1">
                          <a:solidFill>
                            <a:schemeClr val="tx1"/>
                          </a:solidFill>
                          <a:latin typeface="Agency FB" panose="020B0503020202020204" pitchFamily="34" charset="0"/>
                        </a:rPr>
                        <a:t>br</a:t>
                      </a:r>
                      <a:r>
                        <a:rPr lang="fr-FR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</a:rPr>
                        <a:t>&gt;';</a:t>
                      </a:r>
                    </a:p>
                    <a:p>
                      <a:r>
                        <a:rPr lang="fr-FR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</a:rPr>
                        <a:t>$</a:t>
                      </a:r>
                      <a:r>
                        <a:rPr lang="fr-FR" dirty="0" err="1">
                          <a:solidFill>
                            <a:schemeClr val="tx1"/>
                          </a:solidFill>
                          <a:latin typeface="Agency FB" panose="020B0503020202020204" pitchFamily="34" charset="0"/>
                        </a:rPr>
                        <a:t>strSQL</a:t>
                      </a:r>
                      <a:r>
                        <a:rPr lang="fr-FR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</a:rPr>
                        <a:t> = "SELECT * FROM </a:t>
                      </a:r>
                      <a:r>
                        <a:rPr lang="fr-FR" dirty="0" err="1">
                          <a:solidFill>
                            <a:schemeClr val="tx1"/>
                          </a:solidFill>
                          <a:latin typeface="Agency FB" panose="020B0503020202020204" pitchFamily="34" charset="0"/>
                        </a:rPr>
                        <a:t>mot_passe</a:t>
                      </a:r>
                      <a:r>
                        <a:rPr lang="fr-FR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</a:rPr>
                        <a:t> WHERE id='1’  ;</a:t>
                      </a:r>
                    </a:p>
                    <a:p>
                      <a:r>
                        <a:rPr lang="fr-FR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</a:rPr>
                        <a:t>$</a:t>
                      </a:r>
                      <a:r>
                        <a:rPr lang="fr-FR" dirty="0" err="1">
                          <a:solidFill>
                            <a:schemeClr val="tx1"/>
                          </a:solidFill>
                          <a:latin typeface="Agency FB" panose="020B0503020202020204" pitchFamily="34" charset="0"/>
                        </a:rPr>
                        <a:t>stmt</a:t>
                      </a:r>
                      <a:r>
                        <a:rPr lang="fr-FR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</a:rPr>
                        <a:t> = $</a:t>
                      </a:r>
                      <a:r>
                        <a:rPr lang="fr-FR" dirty="0" err="1">
                          <a:solidFill>
                            <a:schemeClr val="tx1"/>
                          </a:solidFill>
                          <a:latin typeface="Agency FB" panose="020B0503020202020204" pitchFamily="34" charset="0"/>
                        </a:rPr>
                        <a:t>db</a:t>
                      </a:r>
                      <a:r>
                        <a:rPr lang="fr-FR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</a:rPr>
                        <a:t>-&gt;</a:t>
                      </a:r>
                      <a:r>
                        <a:rPr lang="fr-FR" dirty="0" err="1">
                          <a:solidFill>
                            <a:schemeClr val="tx1"/>
                          </a:solidFill>
                          <a:latin typeface="Agency FB" panose="020B0503020202020204" pitchFamily="34" charset="0"/>
                        </a:rPr>
                        <a:t>prepare</a:t>
                      </a:r>
                      <a:r>
                        <a:rPr lang="fr-FR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</a:rPr>
                        <a:t>($</a:t>
                      </a:r>
                      <a:r>
                        <a:rPr lang="fr-FR" dirty="0" err="1">
                          <a:solidFill>
                            <a:schemeClr val="tx1"/>
                          </a:solidFill>
                          <a:latin typeface="Agency FB" panose="020B0503020202020204" pitchFamily="34" charset="0"/>
                        </a:rPr>
                        <a:t>strSQL</a:t>
                      </a:r>
                      <a:r>
                        <a:rPr lang="fr-FR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</a:rPr>
                        <a:t>); // création de l'objet </a:t>
                      </a:r>
                      <a:r>
                        <a:rPr lang="fr-FR" dirty="0" err="1">
                          <a:solidFill>
                            <a:schemeClr val="tx1"/>
                          </a:solidFill>
                          <a:latin typeface="Agency FB" panose="020B0503020202020204" pitchFamily="34" charset="0"/>
                        </a:rPr>
                        <a:t>PDOStatment</a:t>
                      </a:r>
                      <a:endParaRPr lang="fr-FR" dirty="0">
                        <a:solidFill>
                          <a:schemeClr val="tx1"/>
                        </a:solidFill>
                        <a:latin typeface="Agency FB" panose="020B0503020202020204" pitchFamily="34" charset="0"/>
                      </a:endParaRPr>
                    </a:p>
                    <a:p>
                      <a:r>
                        <a:rPr lang="fr-FR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</a:rPr>
                        <a:t>$</a:t>
                      </a:r>
                      <a:r>
                        <a:rPr lang="fr-FR" dirty="0" err="1">
                          <a:solidFill>
                            <a:schemeClr val="tx1"/>
                          </a:solidFill>
                          <a:latin typeface="Agency FB" panose="020B0503020202020204" pitchFamily="34" charset="0"/>
                        </a:rPr>
                        <a:t>stmt</a:t>
                      </a:r>
                      <a:r>
                        <a:rPr lang="fr-FR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</a:rPr>
                        <a:t>-&gt;</a:t>
                      </a:r>
                      <a:r>
                        <a:rPr lang="fr-FR" dirty="0" err="1">
                          <a:solidFill>
                            <a:schemeClr val="tx1"/>
                          </a:solidFill>
                          <a:latin typeface="Agency FB" panose="020B0503020202020204" pitchFamily="34" charset="0"/>
                        </a:rPr>
                        <a:t>execute</a:t>
                      </a:r>
                      <a:r>
                        <a:rPr lang="fr-FR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</a:rPr>
                        <a:t>(</a:t>
                      </a:r>
                      <a:r>
                        <a:rPr lang="fr-FR" dirty="0" err="1">
                          <a:solidFill>
                            <a:schemeClr val="tx1"/>
                          </a:solidFill>
                          <a:latin typeface="Agency FB" panose="020B0503020202020204" pitchFamily="34" charset="0"/>
                        </a:rPr>
                        <a:t>array</a:t>
                      </a:r>
                      <a:r>
                        <a:rPr lang="fr-FR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</a:rPr>
                        <a:t>('</a:t>
                      </a:r>
                      <a:r>
                        <a:rPr lang="fr-FR" dirty="0" err="1">
                          <a:solidFill>
                            <a:schemeClr val="tx1"/>
                          </a:solidFill>
                          <a:latin typeface="Agency FB" panose="020B0503020202020204" pitchFamily="34" charset="0"/>
                        </a:rPr>
                        <a:t>root','olivier</a:t>
                      </a:r>
                      <a:r>
                        <a:rPr lang="fr-FR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</a:rPr>
                        <a:t>'));</a:t>
                      </a:r>
                    </a:p>
                    <a:p>
                      <a:endParaRPr lang="fr-FR" dirty="0">
                        <a:solidFill>
                          <a:schemeClr val="tx1"/>
                        </a:solidFill>
                        <a:latin typeface="Agency FB" panose="020B050302020202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  <a:latin typeface="Agency FB" panose="020B0503020202020204" pitchFamily="34" charset="0"/>
                      </a:endParaRPr>
                    </a:p>
                    <a:p>
                      <a:r>
                        <a:rPr lang="fr-FR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</a:rPr>
                        <a:t>//affichage du résultat</a:t>
                      </a:r>
                    </a:p>
                    <a:p>
                      <a:r>
                        <a:rPr lang="fr-FR" dirty="0" err="1">
                          <a:solidFill>
                            <a:schemeClr val="tx1"/>
                          </a:solidFill>
                          <a:latin typeface="Agency FB" panose="020B0503020202020204" pitchFamily="34" charset="0"/>
                        </a:rPr>
                        <a:t>while</a:t>
                      </a:r>
                      <a:r>
                        <a:rPr lang="fr-FR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</a:rPr>
                        <a:t>($</a:t>
                      </a:r>
                      <a:r>
                        <a:rPr lang="fr-FR" dirty="0" err="1">
                          <a:solidFill>
                            <a:schemeClr val="tx1"/>
                          </a:solidFill>
                          <a:latin typeface="Agency FB" panose="020B0503020202020204" pitchFamily="34" charset="0"/>
                        </a:rPr>
                        <a:t>row</a:t>
                      </a:r>
                      <a:r>
                        <a:rPr lang="fr-FR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</a:rPr>
                        <a:t> = $</a:t>
                      </a:r>
                      <a:r>
                        <a:rPr lang="fr-FR" dirty="0" err="1">
                          <a:solidFill>
                            <a:schemeClr val="tx1"/>
                          </a:solidFill>
                          <a:latin typeface="Agency FB" panose="020B0503020202020204" pitchFamily="34" charset="0"/>
                        </a:rPr>
                        <a:t>stmt</a:t>
                      </a:r>
                      <a:r>
                        <a:rPr lang="fr-FR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</a:rPr>
                        <a:t>-&gt;</a:t>
                      </a:r>
                      <a:r>
                        <a:rPr lang="fr-FR" dirty="0" err="1">
                          <a:solidFill>
                            <a:schemeClr val="tx1"/>
                          </a:solidFill>
                          <a:latin typeface="Agency FB" panose="020B0503020202020204" pitchFamily="34" charset="0"/>
                        </a:rPr>
                        <a:t>fetch</a:t>
                      </a:r>
                      <a:r>
                        <a:rPr lang="fr-FR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</a:rPr>
                        <a:t>(PDO::FETCH_OBJ)){</a:t>
                      </a:r>
                    </a:p>
                    <a:p>
                      <a:r>
                        <a:rPr lang="fr-FR" dirty="0" err="1">
                          <a:solidFill>
                            <a:schemeClr val="tx1"/>
                          </a:solidFill>
                          <a:latin typeface="Agency FB" panose="020B0503020202020204" pitchFamily="34" charset="0"/>
                        </a:rPr>
                        <a:t>echo</a:t>
                      </a:r>
                      <a:r>
                        <a:rPr lang="fr-FR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</a:rPr>
                        <a:t> $</a:t>
                      </a:r>
                      <a:r>
                        <a:rPr lang="fr-FR" dirty="0" err="1">
                          <a:solidFill>
                            <a:schemeClr val="tx1"/>
                          </a:solidFill>
                          <a:latin typeface="Agency FB" panose="020B0503020202020204" pitchFamily="34" charset="0"/>
                        </a:rPr>
                        <a:t>row</a:t>
                      </a:r>
                      <a:r>
                        <a:rPr lang="fr-FR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</a:rPr>
                        <a:t>-&gt;id." ".$</a:t>
                      </a:r>
                      <a:r>
                        <a:rPr lang="fr-FR" dirty="0" err="1">
                          <a:solidFill>
                            <a:schemeClr val="tx1"/>
                          </a:solidFill>
                          <a:latin typeface="Agency FB" panose="020B0503020202020204" pitchFamily="34" charset="0"/>
                        </a:rPr>
                        <a:t>row</a:t>
                      </a:r>
                      <a:r>
                        <a:rPr lang="fr-FR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</a:rPr>
                        <a:t>-&gt;nom;//." ".$</a:t>
                      </a:r>
                      <a:r>
                        <a:rPr lang="fr-FR" dirty="0" err="1">
                          <a:solidFill>
                            <a:schemeClr val="tx1"/>
                          </a:solidFill>
                          <a:latin typeface="Agency FB" panose="020B0503020202020204" pitchFamily="34" charset="0"/>
                        </a:rPr>
                        <a:t>row</a:t>
                      </a:r>
                      <a:r>
                        <a:rPr lang="fr-FR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</a:rPr>
                        <a:t>-&gt;id."&lt;</a:t>
                      </a:r>
                      <a:r>
                        <a:rPr lang="fr-FR" dirty="0" err="1">
                          <a:solidFill>
                            <a:schemeClr val="tx1"/>
                          </a:solidFill>
                          <a:latin typeface="Agency FB" panose="020B0503020202020204" pitchFamily="34" charset="0"/>
                        </a:rPr>
                        <a:t>br</a:t>
                      </a:r>
                      <a:r>
                        <a:rPr lang="fr-FR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</a:rPr>
                        <a:t>/&gt;";</a:t>
                      </a:r>
                    </a:p>
                    <a:p>
                      <a:r>
                        <a:rPr lang="fr-FR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</a:rPr>
                        <a:t>}</a:t>
                      </a:r>
                      <a:endParaRPr lang="fr-FR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87230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912748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Grand événement">
  <a:themeElements>
    <a:clrScheme name="Grand événement">
      <a:dk1>
        <a:sysClr val="windowText" lastClr="000000"/>
      </a:dk1>
      <a:lt1>
        <a:sysClr val="window" lastClr="FFFFFF"/>
      </a:lt1>
      <a:dk2>
        <a:srgbClr val="424242"/>
      </a:dk2>
      <a:lt2>
        <a:srgbClr val="C8C8C8"/>
      </a:lt2>
      <a:accent1>
        <a:srgbClr val="B80E0F"/>
      </a:accent1>
      <a:accent2>
        <a:srgbClr val="A6987D"/>
      </a:accent2>
      <a:accent3>
        <a:srgbClr val="7F9A71"/>
      </a:accent3>
      <a:accent4>
        <a:srgbClr val="64969F"/>
      </a:accent4>
      <a:accent5>
        <a:srgbClr val="9B75B2"/>
      </a:accent5>
      <a:accent6>
        <a:srgbClr val="80737A"/>
      </a:accent6>
      <a:hlink>
        <a:srgbClr val="F21213"/>
      </a:hlink>
      <a:folHlink>
        <a:srgbClr val="B6A394"/>
      </a:folHlink>
    </a:clrScheme>
    <a:fontScheme name="Grand événement">
      <a:maj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rand événemen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Event" id="{AC372BB4-D83D-411E-B849-B641926BA760}" vid="{F1EFBDE3-1A95-4E3D-81AD-1F53D65BEA01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Grand événement</Template>
  <TotalTime>0</TotalTime>
  <Words>709</Words>
  <Application>Microsoft Office PowerPoint</Application>
  <PresentationFormat>Grand écran</PresentationFormat>
  <Paragraphs>95</Paragraphs>
  <Slides>10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5" baseType="lpstr">
      <vt:lpstr>Agency FB</vt:lpstr>
      <vt:lpstr>Arial</vt:lpstr>
      <vt:lpstr>Calibri</vt:lpstr>
      <vt:lpstr>Impact</vt:lpstr>
      <vt:lpstr>Grand événement</vt:lpstr>
      <vt:lpstr>Les bases de données</vt:lpstr>
      <vt:lpstr>Définitions</vt:lpstr>
      <vt:lpstr>Structure d’une table</vt:lpstr>
      <vt:lpstr>Connexion au serveur</vt:lpstr>
      <vt:lpstr>Construction d’une table</vt:lpstr>
      <vt:lpstr>Quelques instructions en SQL</vt:lpstr>
      <vt:lpstr>La clé primaire</vt:lpstr>
      <vt:lpstr>Ajout d’une clé primaire</vt:lpstr>
      <vt:lpstr>Selection sur plusieurs tables : jointures d’égalité</vt:lpstr>
      <vt:lpstr>Connexion a une BDD en php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 bases de données</dc:title>
  <dc:creator>Olivier Payet</dc:creator>
  <cp:lastModifiedBy>olivier Payet</cp:lastModifiedBy>
  <cp:revision>30</cp:revision>
  <dcterms:created xsi:type="dcterms:W3CDTF">2021-10-08T13:26:54Z</dcterms:created>
  <dcterms:modified xsi:type="dcterms:W3CDTF">2024-11-07T14:07:01Z</dcterms:modified>
</cp:coreProperties>
</file>