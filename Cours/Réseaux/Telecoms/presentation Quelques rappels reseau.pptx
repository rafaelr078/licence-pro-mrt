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sldIdLst>
    <p:sldId id="274" r:id="rId2"/>
    <p:sldId id="256" r:id="rId3"/>
    <p:sldId id="266" r:id="rId4"/>
    <p:sldId id="257" r:id="rId5"/>
    <p:sldId id="258" r:id="rId6"/>
    <p:sldId id="259" r:id="rId7"/>
    <p:sldId id="263" r:id="rId8"/>
    <p:sldId id="268" r:id="rId9"/>
    <p:sldId id="260" r:id="rId10"/>
    <p:sldId id="261" r:id="rId11"/>
    <p:sldId id="262" r:id="rId12"/>
    <p:sldId id="272" r:id="rId13"/>
    <p:sldId id="269" r:id="rId14"/>
    <p:sldId id="270" r:id="rId15"/>
    <p:sldId id="271" r:id="rId16"/>
    <p:sldId id="264" r:id="rId17"/>
    <p:sldId id="273" r:id="rId18"/>
    <p:sldId id="265" r:id="rId1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744" autoAdjust="0"/>
  </p:normalViewPr>
  <p:slideViewPr>
    <p:cSldViewPr>
      <p:cViewPr varScale="1">
        <p:scale>
          <a:sx n="89" d="100"/>
          <a:sy n="89" d="100"/>
        </p:scale>
        <p:origin x="224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33BEFB-2714-4587-8926-CF0193DCBD5C}" type="datetimeFigureOut">
              <a:rPr lang="fr-FR" smtClean="0"/>
              <a:t>23/09/2025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E9800C-904A-4096-A332-00BD865C079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701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DAC46-1A2B-4953-AEC6-B1B2771538BC}" type="datetime1">
              <a:rPr lang="fr-FR" smtClean="0"/>
              <a:t>23/09/2025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5331-A332-4A03-BB19-E41DE03E39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4109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B81E0-6765-4B7A-9298-E60C2519BAF7}" type="datetime1">
              <a:rPr lang="fr-FR" smtClean="0"/>
              <a:t>23/09/2025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5331-A332-4A03-BB19-E41DE03E39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4357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875D9-FF78-46CE-8A0E-6D0DF65F4B7A}" type="datetime1">
              <a:rPr lang="fr-FR" smtClean="0"/>
              <a:t>23/09/2025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5331-A332-4A03-BB19-E41DE03E39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3229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1B605-7FEE-468C-8AB4-45A4D9FA63E5}" type="datetime1">
              <a:rPr lang="fr-FR" smtClean="0"/>
              <a:t>23/09/2025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5331-A332-4A03-BB19-E41DE03E39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4044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1F79F-9FA0-46AB-B628-9C9C64563FFD}" type="datetime1">
              <a:rPr lang="fr-FR" smtClean="0"/>
              <a:t>23/09/2025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5331-A332-4A03-BB19-E41DE03E39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3003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D9CA9-7AF9-44D8-9386-1E6880980E28}" type="datetime1">
              <a:rPr lang="fr-FR" smtClean="0"/>
              <a:t>23/09/2025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5331-A332-4A03-BB19-E41DE03E39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2523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A7B86-D969-4F70-860C-03ABE5933244}" type="datetime1">
              <a:rPr lang="fr-FR" smtClean="0"/>
              <a:t>23/09/2025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5331-A332-4A03-BB19-E41DE03E39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4102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E07A8-22B5-4FC1-989E-126D35FC9B6F}" type="datetime1">
              <a:rPr lang="fr-FR" smtClean="0"/>
              <a:t>23/09/2025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5331-A332-4A03-BB19-E41DE03E39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1331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461CE-3AFF-4305-9BC4-7990608EF018}" type="datetime1">
              <a:rPr lang="fr-FR" smtClean="0"/>
              <a:t>23/09/2025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5331-A332-4A03-BB19-E41DE03E39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3191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D0882-FBB2-4728-96CD-DB5D019DD78D}" type="datetime1">
              <a:rPr lang="fr-FR" smtClean="0"/>
              <a:t>23/09/2025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5331-A332-4A03-BB19-E41DE03E39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0063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26ED0-D1BF-4175-891B-44A443397ED7}" type="datetime1">
              <a:rPr lang="fr-FR" smtClean="0"/>
              <a:t>23/09/2025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5331-A332-4A03-BB19-E41DE03E39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7391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066E9-4C89-4B48-B2DA-7EF785AE7FA3}" type="datetime1">
              <a:rPr lang="fr-FR" smtClean="0"/>
              <a:t>23/09/2025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055331-A332-4A03-BB19-E41DE03E39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3513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8CCE54-7796-51DB-8379-5A8DFA9806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Quelques bases de réseau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6A3CA9C-2F9F-292A-B137-8366C01D8F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Rappels (ou pas…)</a:t>
            </a:r>
          </a:p>
        </p:txBody>
      </p:sp>
    </p:spTree>
    <p:extLst>
      <p:ext uri="{BB962C8B-B14F-4D97-AF65-F5344CB8AC3E}">
        <p14:creationId xmlns:p14="http://schemas.microsoft.com/office/powerpoint/2010/main" val="1174769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Quelques rappels</a:t>
            </a:r>
            <a:br>
              <a:rPr lang="fr-FR" dirty="0"/>
            </a:br>
            <a:r>
              <a:rPr lang="fr-FR" dirty="0"/>
              <a:t>(ou pas…)</a:t>
            </a:r>
          </a:p>
        </p:txBody>
      </p:sp>
    </p:spTree>
    <p:extLst>
      <p:ext uri="{BB962C8B-B14F-4D97-AF65-F5344CB8AC3E}">
        <p14:creationId xmlns:p14="http://schemas.microsoft.com/office/powerpoint/2010/main" val="1095738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Vocabulaire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Serveur</a:t>
            </a:r>
          </a:p>
          <a:p>
            <a:r>
              <a:rPr lang="fr-FR" dirty="0"/>
              <a:t>Client</a:t>
            </a:r>
          </a:p>
          <a:p>
            <a:r>
              <a:rPr lang="fr-FR" dirty="0"/>
              <a:t>Routeur</a:t>
            </a:r>
          </a:p>
          <a:p>
            <a:r>
              <a:rPr lang="fr-FR" dirty="0"/>
              <a:t>RJ45</a:t>
            </a:r>
          </a:p>
          <a:p>
            <a:r>
              <a:rPr lang="fr-FR" dirty="0"/>
              <a:t>protocole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5331-A332-4A03-BB19-E41DE03E396E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7171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Format d’une adresse IPv4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Format : X.X.X.X</a:t>
            </a:r>
          </a:p>
          <a:p>
            <a:r>
              <a:rPr lang="fr-FR" dirty="0"/>
              <a:t>Composée de deux parties :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0655308"/>
              </p:ext>
            </p:extLst>
          </p:nvPr>
        </p:nvGraphicFramePr>
        <p:xfrm>
          <a:off x="1143000" y="2895600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Partie Réseau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rgbClr val="FF0000"/>
                          </a:solidFill>
                        </a:rPr>
                        <a:t>Partie Hôtes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Ellipse 4"/>
          <p:cNvSpPr/>
          <p:nvPr/>
        </p:nvSpPr>
        <p:spPr>
          <a:xfrm>
            <a:off x="2971800" y="3429000"/>
            <a:ext cx="3124200" cy="2819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3102429" y="4419600"/>
            <a:ext cx="304800" cy="228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/>
          <p:cNvSpPr/>
          <p:nvPr/>
        </p:nvSpPr>
        <p:spPr>
          <a:xfrm>
            <a:off x="4191000" y="5410200"/>
            <a:ext cx="304800" cy="228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/>
          <p:cNvSpPr/>
          <p:nvPr/>
        </p:nvSpPr>
        <p:spPr>
          <a:xfrm>
            <a:off x="5181600" y="4419600"/>
            <a:ext cx="304800" cy="228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/>
          <p:cNvSpPr/>
          <p:nvPr/>
        </p:nvSpPr>
        <p:spPr>
          <a:xfrm>
            <a:off x="4191000" y="3733800"/>
            <a:ext cx="304800" cy="228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" name="Connecteur droit avec flèche 10"/>
          <p:cNvCxnSpPr/>
          <p:nvPr/>
        </p:nvCxnSpPr>
        <p:spPr>
          <a:xfrm flipV="1">
            <a:off x="1981200" y="4953000"/>
            <a:ext cx="9906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/>
          <p:cNvSpPr txBox="1"/>
          <p:nvPr/>
        </p:nvSpPr>
        <p:spPr>
          <a:xfrm>
            <a:off x="1224005" y="4838700"/>
            <a:ext cx="18623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Réseau</a:t>
            </a:r>
          </a:p>
          <a:p>
            <a:r>
              <a:rPr lang="fr-FR" dirty="0"/>
              <a:t>Avec son numéro </a:t>
            </a:r>
          </a:p>
          <a:p>
            <a:r>
              <a:rPr lang="fr-FR" dirty="0"/>
              <a:t>de réseau</a:t>
            </a:r>
          </a:p>
        </p:txBody>
      </p:sp>
      <p:cxnSp>
        <p:nvCxnSpPr>
          <p:cNvPr id="14" name="Connecteur droit avec flèche 13"/>
          <p:cNvCxnSpPr>
            <a:endCxn id="9" idx="6"/>
          </p:cNvCxnSpPr>
          <p:nvPr/>
        </p:nvCxnSpPr>
        <p:spPr>
          <a:xfrm flipH="1" flipV="1">
            <a:off x="4495800" y="3848100"/>
            <a:ext cx="2209800" cy="13646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>
            <a:endCxn id="8" idx="7"/>
          </p:cNvCxnSpPr>
          <p:nvPr/>
        </p:nvCxnSpPr>
        <p:spPr>
          <a:xfrm flipH="1">
            <a:off x="5441763" y="4191000"/>
            <a:ext cx="1263837" cy="26207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/>
          <p:cNvSpPr txBox="1"/>
          <p:nvPr/>
        </p:nvSpPr>
        <p:spPr>
          <a:xfrm>
            <a:off x="6674556" y="3806332"/>
            <a:ext cx="24764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Hôtes avec</a:t>
            </a:r>
          </a:p>
          <a:p>
            <a:r>
              <a:rPr lang="fr-FR" dirty="0"/>
              <a:t>Son numéro de machine</a:t>
            </a:r>
          </a:p>
          <a:p>
            <a:r>
              <a:rPr lang="fr-FR" dirty="0"/>
              <a:t> dans le réseau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1474A1C2-8778-4D21-994B-AB8514001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5331-A332-4A03-BB19-E41DE03E396E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7395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Reconnaissance de chaque partie de l’adresse IP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Chaque champs est un entier compris entre 0 et 255 soit en binaire de 0 à 11111111</a:t>
            </a:r>
          </a:p>
          <a:p>
            <a:r>
              <a:rPr lang="fr-FR" dirty="0"/>
              <a:t>Le masque :</a:t>
            </a:r>
          </a:p>
          <a:p>
            <a:endParaRPr lang="fr-FR" dirty="0"/>
          </a:p>
          <a:p>
            <a:endParaRPr lang="fr-FR" dirty="0"/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5509749"/>
              </p:ext>
            </p:extLst>
          </p:nvPr>
        </p:nvGraphicFramePr>
        <p:xfrm>
          <a:off x="1447800" y="3429000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FFFF00"/>
                          </a:solidFill>
                        </a:rPr>
                        <a:t>11000000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FFFF00"/>
                          </a:solidFill>
                        </a:rPr>
                        <a:t>10101000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FFFF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FF0000"/>
                          </a:solidFill>
                        </a:rPr>
                        <a:t>0010000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FF0000"/>
                          </a:solidFill>
                        </a:rPr>
                        <a:t>00000001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Masque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FFFF00"/>
                          </a:solidFill>
                        </a:rPr>
                        <a:t>11111111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FFFF00"/>
                          </a:solidFill>
                        </a:rPr>
                        <a:t>11111111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FFFF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FF0000"/>
                          </a:solidFill>
                        </a:rPr>
                        <a:t>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FF0000"/>
                          </a:solidFill>
                        </a:rPr>
                        <a:t>00000000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fr-FR" dirty="0"/>
                        <a:t>Partie réseau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FR" dirty="0"/>
                        <a:t>Partie machine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2F8BDC8-C3B3-4B80-B94C-A1E36C050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5331-A332-4A03-BB19-E41DE03E396E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4353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Notation </a:t>
            </a:r>
            <a:r>
              <a:rPr lang="fr-FR" dirty="0" err="1"/>
              <a:t>cidr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Classless</a:t>
            </a:r>
            <a:r>
              <a:rPr lang="fr-FR" dirty="0"/>
              <a:t> inter </a:t>
            </a:r>
            <a:r>
              <a:rPr lang="fr-FR" dirty="0" err="1"/>
              <a:t>domain</a:t>
            </a:r>
            <a:r>
              <a:rPr lang="fr-FR" dirty="0"/>
              <a:t> </a:t>
            </a:r>
            <a:r>
              <a:rPr lang="fr-FR" dirty="0" err="1"/>
              <a:t>Routing</a:t>
            </a:r>
            <a:endParaRPr lang="fr-FR" dirty="0"/>
          </a:p>
          <a:p>
            <a:r>
              <a:rPr lang="fr-FR" dirty="0"/>
              <a:t>Il s’agit de préciser à la fin de l’adresse IP le nombre de bits correspondant à la partie réseau de l’adresse. Ce nombre est séparé de l’adresse IP par un slash « / »</a:t>
            </a:r>
          </a:p>
          <a:p>
            <a:r>
              <a:rPr lang="fr-FR" dirty="0"/>
              <a:t>Exemple : 145.236.63.12 / 18</a:t>
            </a:r>
          </a:p>
          <a:p>
            <a:pPr lvl="1"/>
            <a:r>
              <a:rPr lang="fr-FR" dirty="0"/>
              <a:t>Cela signifie que la partie réseau correspond aux 18 bits de poids fort de l’adresse IP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8B4C6FC-2C8A-44F1-A246-17BB27859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5331-A332-4A03-BB19-E41DE03E396E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6033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Architecture réseau de base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47" t="23470" r="40769" b="55922"/>
          <a:stretch/>
        </p:blipFill>
        <p:spPr bwMode="auto">
          <a:xfrm>
            <a:off x="1219200" y="1956875"/>
            <a:ext cx="6611815" cy="1688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1143000" y="1684020"/>
            <a:ext cx="1600200" cy="2590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4419600" y="1447800"/>
            <a:ext cx="3733800" cy="3124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/>
          <p:cNvSpPr txBox="1"/>
          <p:nvPr/>
        </p:nvSpPr>
        <p:spPr>
          <a:xfrm>
            <a:off x="873095" y="4387334"/>
            <a:ext cx="2140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Domaine de collision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5029200" y="4735592"/>
            <a:ext cx="2199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Domaine de diffusion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D6D600A-4705-4ED5-9D44-DFDA28C8D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5331-A332-4A03-BB19-E41DE03E396E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4474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31838"/>
          </a:xfrm>
        </p:spPr>
        <p:txBody>
          <a:bodyPr>
            <a:normAutofit fontScale="90000"/>
          </a:bodyPr>
          <a:lstStyle/>
          <a:p>
            <a:r>
              <a:rPr lang="fr-FR" dirty="0"/>
              <a:t>Adresse MAC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4525963"/>
          </a:xfrm>
        </p:spPr>
        <p:txBody>
          <a:bodyPr/>
          <a:lstStyle/>
          <a:p>
            <a:r>
              <a:rPr lang="fr-FR" dirty="0"/>
              <a:t>48 bits (6 octets)</a:t>
            </a:r>
          </a:p>
          <a:p>
            <a:r>
              <a:rPr lang="fr-FR" dirty="0"/>
              <a:t>Format : X:X:X:X:X:X</a:t>
            </a:r>
          </a:p>
          <a:p>
            <a:endParaRPr lang="fr-F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91" r="55081" b="56230"/>
          <a:stretch/>
        </p:blipFill>
        <p:spPr bwMode="auto">
          <a:xfrm>
            <a:off x="-76200" y="2438400"/>
            <a:ext cx="5847982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A583FC6-998E-464F-9FEB-0C37302DF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5331-A332-4A03-BB19-E41DE03E396E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3930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La commutation : remplissage de la table MAC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Rôle du commutateur : </a:t>
            </a:r>
          </a:p>
          <a:p>
            <a:pPr lvl="1"/>
            <a:r>
              <a:rPr lang="fr-FR" dirty="0"/>
              <a:t>il permet de transférer des données entre différents systèmes dans un LAN. Pour cela, il associe un numéro de port physique à l’adresse MAC du système connecté à ce port.</a:t>
            </a:r>
          </a:p>
          <a:p>
            <a:r>
              <a:rPr lang="fr-FR" dirty="0"/>
              <a:t>Adresse MAC :</a:t>
            </a:r>
          </a:p>
          <a:p>
            <a:pPr lvl="1"/>
            <a:r>
              <a:rPr lang="fr-FR" dirty="0"/>
              <a:t> il s’agit d’un numéro unique qui identifie un matériel réseau dans le monde :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8ECE0FD-3508-4468-8EEC-BF4B711C3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5331-A332-4A03-BB19-E41DE03E396E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6435961"/>
      </p:ext>
    </p:extLst>
  </p:cSld>
  <p:clrMapOvr>
    <a:masterClrMapping/>
  </p:clrMapOvr>
  <p:transition spd="slow"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08569" y="7937"/>
            <a:ext cx="7086600" cy="632460"/>
          </a:xfrm>
        </p:spPr>
        <p:txBody>
          <a:bodyPr>
            <a:normAutofit fontScale="90000"/>
          </a:bodyPr>
          <a:lstStyle/>
          <a:p>
            <a:r>
              <a:rPr lang="fr-FR" dirty="0"/>
              <a:t>Remplissage de la table MAC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94" t="40182" r="42395" b="23969"/>
          <a:stretch/>
        </p:blipFill>
        <p:spPr bwMode="auto">
          <a:xfrm>
            <a:off x="559278" y="1524000"/>
            <a:ext cx="3830158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53" t="25933" r="44077" b="25152"/>
          <a:stretch/>
        </p:blipFill>
        <p:spPr bwMode="auto">
          <a:xfrm>
            <a:off x="4691079" y="703971"/>
            <a:ext cx="3989221" cy="2572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AutoShape 5" descr="data:image/png;base64,iVBORw0KGgoAAAANSUhEUgAAApoAAAHhCAYAAADOAR5gAAAgAElEQVR4XuydCZgU1bn+36runpmeHRiGfRVkUzCiRoxxSUyMZl/IfhNjctWbXI0xLjeLIGgUV1DjAkExMTEL2f4xiVdzE9FoYgyoiCggOzPMvvfeVXX+TxUMjDID3TPVXXVOv/08PvFK1Tnf93urb/84tWnghwRIgARIgARIgARIgARyQEDLwZgckgRIgARIgARIgARIgARA0eRBQAIkQAIkQAIkQAIkkBMCFM2cYOWgJEACJEACJEACJEACFE0eAyRAAiRAAiRAAiRAAjkhQNHMCVYOSgIkQAIkQAIkQAIkUDCiKYQomF55WJMACZAACZAACfibgKZpwt8VulNdwciXEEJ3BxlHIQESIAESIAESIIGhEdA0zRraCHLsTdGUIydWSQIkQAIkQAIkoBABiqZCYdqtcEVTsUDZDgmQAAmQAAlITICiKXF4/ZVO0VQsULZDAiRAAiRAAhIToGhKHB5FU7Hw2A4JkAAJkAAJKEaAoqlYoFzRVCxQtkMCJEACJEACEhOgaEocHlc0FQuP7ZAACZAACZCAYgQomooFyhVNxQJlOyRAAiRAAiQgMQGKpsThcUVTsfDYDgmQAAmQAAkoRoCiqVigXNFULFC2QwIkQAIkQAISE6BoShweVzQVC4/tkAAJkAAJkIBiBCiaigXKFU3FAmU7JEACJEACJCAxAYqmxOFxRVOx8NgOCZAACZAACShGgKKpWKBc0VQsULZDAiRAAiRAAhIToGhKHB5XNBULj+2QAAmQAAmQgGIEKJqKBcoVTcUCZTskQAIkQAIkIDEBiqbE4XFFU7Hw2A4JkAAJkAAJKEaAoqlYoFzRVCxQtkMCJEACJEACEhOgaEocHlc0FQuP7ZAACZAACZCAYgQomooFyhVNxQJlOyRAAiRAAiQgMQGKpsThcUVTsfDYDgmQAAmQAAkoRoCiqVigXNFULFC2QwIkQAIkQAISE6BoShweVzQVC4/tkAAJkAAJkIBiBCiaigXKFU3FAmU7JEACJEACJCAxAYqmxOFxRVOx8NgOCZAACZAACShGgKKpWKBc0VQsULZDAiRAAiRAAhIToGhKHB5XNBULj+2QAAmQAAmQgGIEKJqKBcoVTcUCZTskQAIkQAIkIDEBiqbE4XFFU7Hw2A4JkAAJkAAJKEaAoqlYoFzRVCxQtkMCJEACJEACEhOgaEocHlc0FQuP7ZAACZAACZCAYgQomooFyhVNxQJlOyRAAiRAAiQgMQGKpsThcUVTsfDYDgmQAAmQAAkoRoCiqVigXNFULFC2QwIkQAIkQAISE6BoShweVzQVC4/tkAAJkAAJkIBiBCiaigXKFU3FAmU7JEACJEACJCAxAYqmxOFxRVOx8NgOCZAACZAACShGgKKpWKBc0VQsULZDAiRAAiRAAhIToGhKHB5XNBULj+2QAAmQAAmQgGIEKJqKBcoVTcUCZTskQAIkQAIkIDEBiqbE4XFFU7Hw2A4JkAAJkAAJKEaAoqlYoFzRVCxQtkMCJEACJEACEhOgaEocHlc0FQuP7ZAACZAACZCAYgQomooFyhVNxQJlOyRAAiRAAiQgMQGKpsThcUVTsfDYDgmQAAmQAAkoRoCiqVigXNFULFC2QwIkQAIkQAISE6BoShweVzQVC4/tkAAJkAAJkIBiBCiaigXKFU3FAmU7JEACJEACJCAxAYqmxOFxRVOx8NgOCZAACZAACShGgKKpWKBc0VQsULZDAiRAAiRAAhIToGhKHB5XNBULj+2QAAmQAAmQgGIEKJqKBcoVTcUCZTskQAIkQAIkIDEBiqbE4XFFU7Hw2A4JkAAJkAAJKEaAoqlYoFzRVCxQtkMCJEACJEACEhOgaEocHlc0FQuP7ZAACZAACZCAYgQomooFyhVNxQJlOyRAAiRAAiQgMQGKpsThcUVTsfDYDgmQAAmQAAkoRoCiqVigXNFULFC2QwIkQAIkQAISE6BoShweVzQVC4/tkAAJkAAJkIBiBCiaigXKFU3FAmU7JEACJEACJCAxAYqmxOFxRVOx8NgOCZAACZAACShGgKKpWKBc0VQsULZDAiRAAiRAAhIToGhKHB5XNBULz+V2Ine8qyaQ7J4GU4xxeWgORwIk0JdAQDSFi8q245oXmwmGBEjgrQQomoodEVzRVCzQQbQTu3H2ZZplfg/A2EHszl1IgAQGS0CgDQF9Wfj6N+4a7BDcjwRUI0DRVCxRiqZigWbRTsOqj5RUN2x9AsBZWezGTUmABFwnoK0X4dKPll77UqPrQ3NAEpCMAEVTssCOVS5F81iE1P3z+NJZt0FY37Y71CedgsCs86FVjYFWMUrdptkZCfiAgIi0QHQ1wNz2N1g7nncq0jTtoZJFWy7xQXksgQQ8JUDR9BS/+5NTNN1nKsOI6WUnzTOS8ZfsWgMnfBDBM74qQ9mskQSUI2Bs+CXMDb88KJvB80oWbX5auSbZEAlkQYCimQUsGTalaMqQkvs1xpbOvlQT5v0IlaD4iw8BobD7k3BEEiCBjAikHrsUziqnrl1fev2WmzPaiRuRgKIEKJqKBUvRVCzQDNvpPW2ujZiCok/emeFe3IwESCAXBNJ/WgyrfhM04JGSxVt5eiEXkDmmNAQomtJElVmhFM3MOKm2VXzpzN9CiI/qUxcgdN41qrXHfkhAKgLG3x+E+cZT9pWaz4UXbzlbquJZLAm4TICi6TJQr4ejaHqdgDfzJ5bMeFwAFwamn4PguVd4UwRnJQEScAgY/1wDc9Pj9r/+K7x46xnEQgKFTICiqVj6FE3FAs2wHYpmhqC4GQnkgQBFMw+QOYU0BCia0kSVWaEUzcw4qbYVRVO1RNmPzAQomjKnx9rdJkDRdJuox+NRND0OwKPpKZoegee0JNAPAYomDwsSOEyAoqnY0UDRVCzQDNuhaGYIipuRQB4IUDTzAJlTSEOAoilNVJkVStHMjJNqW1E0VUuU/chMgKIpc3qs3W0CFE23iXo8HkXT4wA8mp6i6RF4TksCPHXOY4AEjkqAoqnYAULRVCzQDNuhaGYIipuRQB4IcEUzD5A5hTQEKJrSRJVZoRTNzDipthVFU7VE2Y/MBCiaMqfH2t0mQNF0m6jH41E0PQ7Ao+kpmh6B57QkwFPnPAZIgKfO7feAFcpxQNEslKTf2idFszBzZ9f+JMAVTX/mwqq8IcAVTW+452xWimbO0Pp6YIqmr+NhcQVGgKJZYIGzXa5ockWT3wLVCVA0VU+Y/clEgKIpU1qsNdcEuKKZa8J5Hp8rmnkG7pPpKJo+CYJlkAAAiiYPAxI4TICiqdjRQNFULNAM26FoZgiKm5FAHghQNPMAmVNIQ4CiKU1UmRVK0cyMk2pbUTRVS5T9yEyAoilzeqzdbQIUTbeJejweRdPjADyanqLpEXhOSwL9EKBo8rAgAZ46V/YYoGgqG+1RG6NoFmbu7NqfBCia/syFVXlDgCua3nDP2awUzZyh9fXAFE1fx8PiCowARbPAAme7RyVA0VTsAKFoKhZohu1QNDMExc1IIA8EKJp5gMwppCFA0ZQmqswKpWhmxkm1rSiaqiXKfmQmQNGUOT3W7jYBiqbbRD0ej6LpcQAeTU/R9Ag8pyWBfghQNHlYkMBhAhRNxY4GiqZigWbYDkUzQ1DcjATyQICimQfInEIaAhRNaaLKrFCKZmacVNuKoqlaouxHZgIUTZnTY+1uE6Bouk3U4/Eomh4H4NH0FE2PwHNaEuCpcx4DJHBUAhRNxQ4QiqZigWbYDkUzQ1DcjATyQIArmnmAzCmkIUDRlCaqzAqlaGbGSbWtKJqqJcp+ZCZA0ZQ5PdbuNgGKpttEPR6PoulxAB5NT9H0CDynJQGeOucxQAI8dQ5AK5TjgKJZKEm/tU+KZmHmzq79SYArmv7MhVV5Q4Armt5wz9msFM2cofX1wBRNX8fD4gqMAEWzwAJnu1zR5IomvwWqE6Boqp4w+5OJAEVTprRYa64JcEUz14TzPD5XNPMM3CfTUTR9EgTLIAEAFE0eBiRwmABFU7GjgaKpWKAZtkPRzBAUNyOBPBCgaOYBMqeQhgBFU5qoMiuUopkZJ9W2omiqlij7kZkARVPm9Fi72wQomm4T9Xg8iqbHAXg0PUXTI/CclgT6IUDR5GFBAjx1ruwxQNFUNtqjNkbRLMzc2bU/CVA0/ZkLq/KGAFc0veGes1kpmjlD6+uBKZq+jofFFRgBimaBBc52j0qAoqnYAULRVCzQDNuhaGYIipuRQB4IUDTzAJlTSEOAoilNVJkVStHMjJNqW1E0VUuU/chMgKIpc3qs3W0CFE23iXo8HkXT4wA8mp6i6RF4TksC/RCgaPKwIIHDBCiaih0NFE3FAs2wHYpmhqC4GQnkgQBFMw+QOYU0BCia0kSVWaEUzcw4qbYVRVO1RNmPzAQomjKnx9rdJkDRdJuox+NRND0OwKPpKZoegee0JMBT5zwGSOCoBCiaih0gFE3FAs2wHYpmhqC4GQnkgQBXNPMAmVNIQ4CiKU1UmRVK0cyMk2pbUTRVS5T9yEyAoilzeqzdbQIUTbeJejweRdPjADyanqLpEXhOSwI8dc5jgAR46hyAVijHAUWzUJJ+a58UzcLMnV37kwBXNP2ZC6vyhgBXNL3hnrNZKZo5Q+vrgSmavo6HxRUYAYpmgQXOdrmiyRVNfgtUJ0DRVD1h9icTAYqmTGmx1lwT4IpmrgnneXyuaOYZuE+mo2j6JAiWQQIAKJo8DEjgMAGKpmJHA0VTsUAzbIeimSEobkYCeSBA0cwDZE4hDQGKpjRRZVYoRTMzTqptRdFULVH2IzMBiqbM6bF2twlQNN0m6vF4FE2PA/BoeoqmR+A5LQn0Q4CiycOCBHjqXNljgKKpbLRHbYyiWZi5s2t/EqBo+jMXVuUNAa5oesM9Z7NSNHOG1tcDUzR9HQ+LKzACFM0CC5ztHpUARVOxA4SiqVigGbZD0cwQFDcjgTwQoGjmATKnkIYARVOaqDIrlKKZGSfVtqJoqpYo+5GZAEVT5vRYu9sEKJpuE/V4PIqmxwF4ND1F0yPwnJYE+iFA0eRhQQKHCVA0FTsaKJqKBZphOxTNDEFxMxLIAwGKZh4gcwppCFA0pYkqs0IpmplxUm0riqZqibIfmQlQNGVOj7W7TYCi6TZRj8ejaHocgEfTUzQ9As9pSYCnznkMkMBRCVA0FTtAKJqKBZphOxTNDEFxMxLIAwGuaOYBMqeQhgBFU5qoMiuUopkZJ9W2SiyZuVJAfE0fMwehD9+oWnvshwSkIpD+y62wdv0L0PTfhRe98SmpimexJOAyAYqmy0C9Ho6i6XUC3swfv2n2NTDNZVrZcBR9YbU3RXBWEiABh0Dq19+CaN8DQLsjvHjLdcRCAoVMgKKpWPoUTcUCzbCd1E2zPmaa1m/szUPvuRL6tLMy3JObkQAJuEnA2rsB6f/9gTOkpumXlCx64yE3x+dYJCAbAYqmbIkdo16KpmKBZtFOfMmMpwGcpVWMQvDUz0Of9u4s9uamJEACQyVg7fk3jH8/dnA1E6+GF299x1DH5P4kIDsBiqbsCb6tfoqmYoFm0U7ixrnvFlZyXe8uWkUttMrRsP+XHxIggdwREJFWiO4GiO6mQ5MEtODHihZtfjx3s3JkEpCDAEVTjpwyrpKimTEqJTdMLD3hbCHSSwGcqWSDbIoEfE9Ae0lo+qLSRa8/4ftSWSAJ5IEARTMPkPM5BUUzn7T9O1d86eyFmmZNt4SYBoFx/q2UlZGA/AQ0aI2apm0H9O0lizb/XP6O2AEJuEeAoukeS1+MRNH0RQxKF7EW0F549tmxcdNYogFfEUp3y+YKhIB9GA/+UBYC0PFiLQLvu+Gcc2IFwoxtkkBGBCiaGWGSZyOKpjxZyV7pqg0bAq9HIieZwvqGBnxWAMWy98T6SWBQBAT+MGHs2C9eO2NGdFD7cycSUJgARVOxcCmaigUqSTtXPvf0qcLETdD0szUhQpKUzTJJYOgEdPHzFe8+94tDH4gjkICaBCiaiuVK0VQsUMna+f6zz46LCfEnaJgNICBZ+SyXBLIkoD1211ln/UeWO3FzEigoAhRNxeKmaCoWqITtLP/nP4sbDONkAXE7NCyQsAWWTALHJCAEfjy6qvobV8+dGz/mxtyABAqYAEVTsfApmooFKnE79z7xRGh/RcWFFnCtBnG6xK2wdBJ4CwEBPHpcuPSyS+bPTxANCZDA0QlQNBU7QiiaigWqSDvfe/75T1kQizT7lLqApkhbbKPwCAhND9z/gwULrii81tkxCQyOAEVzcNx8uxdF07fRsDAA17/wwsdgmfcLaLWAoHDyqJCGgH2wCk1fcdOCBd+WpmgWSgI+IEDR9EEIbpZA0XSTJsfKBYFbd+6sSLQ0ftgS2gohMEKjbuYCM8d0l4CApi+rtqwbv7VgQdLdoTkaCahNgKKpWL4UTcUCVaidR3bvLkq1tenD5s93fqgb//Wvsg5NfNkSuEaDmACeUVcobaVasXTgweoRNVddPm1aWqnO2AwJ5IEARTMPkPM5BUUzn7Q5V7YE7LcKLXzbG1ge3rq1rLGn6zrLsr4MYHy2Y3J7EsghAQPAD75/2ulLczgHhyYBpQlQNBWLl6KpWKAF1M4T27eHXmlvvxkQ34Sm8RmcBZS9X1vVIa687tR33uvX+lgXCchAgKIpQ0pZ1EjRzAIWN/Ulgbs3bxifTFhfgxDfF5qmDeEN1L7sj0XJQECYmq5fPaU4fP/COXPsVU1+SIAEBkmAojlIcH7djaLp12RYV7YE7tr44jQzrV+habDfvFIpsh2A25PAIAhoGtIC1vdPPfm0u84BrEEMwV1IgAT6EKBoKnY4UDQVC5TtYMX69ZNFQL8NQrwfGiqIhARyRkAgrmn49pXvmL8yZ3NwYBIoMAIUTcUCp2gqFijbcQjYNxH1bN1a2hOL/g7Ae4mFBHJBQBf45OUnn/z7XIzNMUmgUAlQNBVLnqKpWKBs5y0E1q1bp79WVXUSArhaCHyGeEjADQIakNCE9sk5J530FE+Xu0GUY5DAYQIUTcWOBoqmYoGynQEJrHz11XNNYX0LwPsBhIiKBAZFQNN6NA3frDlx208WYiEvBR4URO5EAgMToGgqdnRQNBULlO0ck8CDr7yyAAH9bk2Ik4QGPhbpmMS4QR8CPZrQLr507tzfkgoJkEBuCFA0c8PVs1Epmp6h58QeEtgABF59440TTSO1Fpo2lW8Z8jAMWaYWAsFgaMFFs2a9KEvJrJMEZCRA0ZQxtaPUTNFULFC2kxWBtXV1xT2dnR8AsBQaTshqZ25cMAQ0iO5QQLvgizNPeKFgmmajJOARAYqmR+BzNS1FM1dkOa5MBGzhjEe7PyksXCeEoHDKFF7ua20DtC9eNHv2U7mfijOQAAlQNBU7BiiaigXKdoZM4Kdb37jUsqzvAJgw5ME4gNQEhBCdIV377OdnzvmL1I2weBKQiABFU6KwMimVopkJJW5TaAT+2NBQ0t3d+TkAKwCUF1r/7BcQwkJRUWDuwqkzN5MHCZBA/ghQNPPHOi8zUTTzgpmTSEpg7e7dtVYq8SkIcaOAVu20oUnaDMvOnIAQLYGQ9l5KZubIuCUJuEWAoukWSZ+MQ9H0SRAsw9cE/rht2/AE9G9ZMC8CMNbXxbK4oRLYH9IDn/r4tGn/GupA3J8ESCB7AhTN7Jn5eg+Kpq/jYXHeEtCe2L49eMG0aQYA58HcT2zfXh6HdYsAvgCgytvyOLvbBDRoHXog+IGPTZmy3u2xOR4JkEBmBCiamXGSZiuKpjRRsVAPCDxZV1ddbBixcyZPTvWZXvvdjh0jdF0sEpb4uuDJdA+ScX9KAaSLtMCcD02dusP90TkiCZBApgQompmSkmQ7iqYkQbFMXxJ4cu/2WQkD/6UJXAJN42stfZlSRkXt1QLGOR+eNGNPRltzIxIggZwRoGjmDK03A1M0veHOWdUi8MTevTOFaSwVGj4ghCjj/UJS5bszFCz66PsnTHhdqqpZLAkoSoCiqViwFE3FAmU7nhJ4as+eSRasNZYlFmgaijwthpMfm4CGTmHinRdOnbr92BtzCxIggXwQoGjmg3Ie56Bo5hE2pyoIApuBYEvD7qnJtPZDTVjvPfA4JK5x+i58gXpND5z2vgkTGn1XGwsigQImQNFULHyKpmKBsh1fEfjr/r3vsUxcq8F6H2XTR9EIbNBM64PvnTKlxUdVsRQSIAH7r+WaZhUCiIJZfqBoFsLhzB69JLBhw4ZAZMzIcyxT3AhNnw8hgl7WU+hzaxpeLgoVf+CMUaNaC50F+ycBPxKgaPoxlSHURNEcAjzuSgJZEvhHQ8N5actYqQGThOD59CzxDWlz7cDywc5gsGgBJXNIKLkzCeSUAEUzp3jzPzhFM//MOWNhE9iAhpJEo3m2MPEjaBhX2DTy2L0QLxRB/9Bp48Z15HFWTkUCJJAlAYpmlsD8vjlF0+8JsT5VCTzf2lqmpVKf0jXxP0KI43FwyU3Vfr3sS0A8pZn42ILx45Ne1sG5SYAEjk2AonlsRlJtQdGUKi4WqyCBV5uawkmYlwsLFwsN0+0WC+Yi8Rzn6bw3FOKJYHHp5+YPG9aT4+k4PAmQgAsEKJouQPTTEBRNP6XBWgqdwEtt+6+2DO0GAOFCZ+FG/zq0DUFoZ88dNSruxngcgwRIIPcEKJq5Z5zXGSiaecXNyUjgmARebWqqSevWZ2Fpt0BD6TF34Ab9EhDAHyr04Bdn1NREiYgESEAeAhRNebLKqFKKZkaYuBEJ5J3AK42NE4WOiy2B/4KGmrwXIPGEAnj0lNrRFwMoiOfxSRwVSyeBIwhQNBU7KCiaigXKdpQj8HpdXXUiFLrbgrhQ0zBcuQZdbkho+MUpI0d/0b440+WhORwJkEAeCFA08wA5n1NQNPNJm3ORQOYE1q5dqy1cuFDbAGjN27frJ1dUBOt0sQaW+CQ0Tc98pMLZUkD7wym1oz5BySyczNmpegQomoplmivRLF+06EQLKPcTrqAQrd033vimn2piLSTQh4BWV1dX1DV+vFm2e7ceLSsLJvbuTVZVVekl06bpCcBKtrSETE0blxbm1cISF2ka+JahgwA1XVvZHYlfec7kySkeVSSQawKlixYtyPUc2Y4fLi7e2/a979Vnu5/ftqdo+i2RIdYzWNFcsm6d/mRLSygerS82urTixlR0XDyaOM8QOM+COE0DqoZYmiu7CyFgmSZELAb0RH5hrn7oC64MzEFIwGMCL7c3v1OY1hWWwEINCHhcjrfTC3H3/FFjrvK2CM6uEoFLV60KNACh3aZZnDLNcHNX19S4kTpPCLFACHEugJAf+u39jbMiEWiRyPfMh9Ys80NdQ6mBojkUej7cNxvRnPTAA1XBsF6jG9YI07AmGpY5w0ylT7Ug5kNgrK/aEwLpVBrxWAyJ7i5YsTj0tPkLc80aiqavgmIxQyWwsb1xVtoQq3Ro8wVQPNTx8rm//YMihEhBCA2altY0zRBC2I+uTwpoFiA0IRDTtEPXW0YA6EIgoetog9ACloYXTxk56vp81s251CQwbtWq4SHdGBnU9OFWyphimMZs0xLzhWXOFwIjfNW1EEglk4hHY0h2d8NKJKCbJkXTVyEdvZiCeV5yNqIZWHHXd4oC2jlFmj41oGnjART5NVORSiPR0YFENAqkkkAyRdH0a1isyxUC6/fvn64H9ccaenpOdmXALAaxTBEVQIO9smpqVrNlotOCpRuWucsUSAvNEpF4areAEKYlzO5UsgEmkDbNRH13d2tI1/XXm5s7t7S02CI54CcB+8U+xUDy2C/4CQmROGfOnPZfLVxoZNEKNy1gAoEVd60sDurHF2naFB2avXji2zMFIpFErKMDKftsXSrl/EPRlOvgpWj2k5e24s7nAPjuupR+D614AujqBFJpIJ2iaMr1/WO1gyBwxvLlxS+3t19ZUhxaOLaycoquac71m5YlDAvChICWtkx79dCyX3eZMs0khL1SKBA3DeeB5paAaVqmI2bCEvZOli40zYRlCqE5d3FblmU6/+tsf+Df7VEsTQj7DiXL/gN7HdLLjymgxeMvVwmsaL/77jovS+Hc8hDQVtx54HiW4ROJApGeA79xFE0ZEjuiRoomRVPKA5dFFyaBUTffPLI1Fr1BQHweQKUsFAJCoDaVRJWZRlcwhLgeQGdwiJe+CeFck611dz1dHiz+evfKldtk4cE6vSVA0fSWf+/svEbTHzm4VkU2p877rmjaJq5r9mVVGkqDQVQWeXMWvTEWcy7esuwfl76LKFzRdO0Y4UD+JWA/Aunira8eH09ZtwD4IJC7u9Dt73ytkcbEdAq6S4+oHBcO47Kzz8Xo0WPQ0LAfnZ0d2LNnN95sa0N9PI6uQAAtgRDigQDaAkGkdc1edT30FPb+lk1tybTa2u1F1afLi8MUTf8evr6rrK9o2r9tzm8cgIpQEcpC+X/AQ9qy0JZIOL9tzm9cX2Jc0fTd8ZNtQVzRPMqKpv3lm1RZiVNGjcawkpJs2bq+fU8qhc2trdja0Y6kefDMB0XTdc4c0F8ELt2wIfDYn/5wZtI0bxYCp+eyOvv/IY61DFw0fRreO+9kBAJDu3StvCiE6nApyssqMHzEW++xSJsm4oaBrkgEDS1N2Fu3F22dnahv2I/GRBw7Y3FsSyQR1XV0B/qsfgoLViQKq7vbOX9P0czlEaHm2L2iGdR1TK8ehpNqa1Hh0SJKX8KdySQ2tjRje0cHzN4FFYqm9AchRfMoommvYJ47cSLGlVf4JmhbNp+tq0O9fc2K/aFo+iYbFuI+gUkPLKtqbU1+0rTM70NgkvszvHVE+/8hjtGA6ePGIVxaNqTpSkwTF0yejNNnzUF3MoFIMoVIKuX8ezSdRk8ygcZIBO2xONriMXQlEmiJRhFPp1FvS2Q/H/tSUbMnArOn58BFokJQNIeUUmHu3CuaI0pKcOb48Rg1xGPdTZ+Rmt4AACAASURBVIpt8Tiera9Di33zj/2haLqJ15OxKJpHEc0R4TDOHj8eNeFST8Lp94dGCKyr24c3Ozoomr5JhYXkgkDtsmVTo0bySgjri0JovnhebTZ9FlsmZlZXo2r4cHQnk45kRm3RtO+iTaezPilvS6bR0wOjJwLYZzTsFR+KZjaRcNuDBHpFc2x5Od49bjyqiv3ztDD7u/H8/nrs6uqiaCpyxFI0jyKao8vKnC+hH06b9y1z3b592NbRTtFU5EvINo4kULPsxvkJw1oKAfuB0YP6FSwxDdj/FFkWKow0ukJFaC0OS4lbWBbSjmT2QPSRTIqmlHF6XnSvaE6srHR+48pCQ7wxzcWO7MtJnq+vx077aSpc0XSRrHdDUTQpmt4dfZyZBPohMOLWH5yeTpuPQdMmOg84H+BTbqRR6vxjoMxIoTKdcsQybJoYGQigdtRoVFVVY+LESdi5vx6/27EDhv2IdBc+DeEytOdRWlPd3UjaKzwHT5f3rmZSNF0IswCHoGj6I3Tede6PHFyrYjB3nXNF0zX8HIgEjknglFWrKna2tl4ghPmQ0HDoepVhyQSqoxEMMw2UCYGRmsCI4hIMq6zE2DFjHZkcNmw4Ro6sRXlFBcaMGYeiogOLoCnThGFZzp3eW7dsPmYNx9ogYaTx+PbteDwSQz6ejm7fhZvs6UGy68CNPxTNYyXEP8+EAEUzE0q534aimXvGeZ2BoplX3JyMBDImsGTdOn3Niy9Oj8L4imXhmn53FBaKUkkMLyrGpJEj8c7jpmNsZSVqy8pQXVKC6pIwhpeGUVlUjKqDT4hoi8Xw+LYt2N998Ma5jCsaeMPdnZ34v53b0ZU49ht7hjqdaaSRjESR6L1WjaI5VKTc/yABiqY/DgWKpj9ycK0KP4hmOHjg+WT2NSgDfQIHT+0derRDPxvyGk3XDgsO5DGBC5+4N/Tq1uS7UinjKmg4L9vrMUO6jpFlZagpLcXo8goMKwljTEWFI6BbW1vx2zdeR4/9albJPkY6jVhXF1KRKOzrM50PRVOyFP1bbq5EsyQQcJ7JGTvKb9yxqPAazWMRku/P3blgSYK+cyGas4ePwPsnvvWJK0nLxMvNzXihseEQleOqqnDm2HEYGbZvRNDQEo85j2/Y9bZHmNh//unpM9Aaj+OXb24dkCpFU4IDjiUek8Cn164N/qNuz8dMS1wvhJjp1kPYA7qO0lAISdNAysjdm/Y0CIyIRjEq2o1EIIhUMIhoUTGSgRCiQ3gmoWkaiHR0IBmNQpgHHmFE0Tzm4cQNsiCQqWgeP2wYLpw05S0jpywTm1pb8ff99Yf++2T7pqKx4zCqtBT2o99bE3E8v38/tnd1Og9gtwX0pJG1OGnkSJQEgnizsxN/3bcHid7nQfeZgaKZRZCSbErR7Ceo3jcDHesazQVjxuCiWXOcL5IhBOzVFftjP8bk19vfdGRz1vDh+OLMWRheXOJ8qew3IFQ4P4Imbl3/bzTEos4+9huH7O3mjqjBjq4u3P7SeoqmJF8iljk4AhNX3H6VCX0xBMqAgW/6Gdzob90raJqY1N6KYfED3zc3PkWBAD5y+rvw0Q98EPsbG9DW1uo8dL2lpRn7G/ZjT1cXYpqGjtIyGLqOrpJSR0TTB89s9FeDfU1mR0sLEtEYYL9e3X49EEXTjbg4Rh8CmYrmqaNG42tzTjj0Gxc8+JY8+/frN2++iWf312FadTW+MGMmRpeWIWlZSBgGqoqKnOuj7974MnZ2dWHWsOG47MS5SFgmSoMh5y1Ez+2vxy+2HbmgQtFU71ClaA5RNL80czaeb9iPn255w3lN5UenHocLJk3Gq62tePj11/C1OSdizogR+O2ON/HUnj2wf5zsbU4fPRovtTTjZ1u2YEpllfNFtVc0i4NB7OjspGiq911jRwAuXbUq8FcjMjpl6DcIy7o4H1B0IXBqpAv/cfJ8TJ46bchTBjQgHAohEAhi7NjDNx71Dmz/ZdKyLOcvn7v37kJ7ewd279mFXfvr8Mb+enSmDewfXoNEMIRY8eE3jtn7tLcelExx8MYfiuaQ8+IARxLIRjS/OucEvNzSjJWbXnV+4+zfN/s3zF4QuWfjy85vly2kf9y10/nHXnA5f9JknDNuPDa1teKxrVucM39za0biV29uRUs8jtvPPAt7e3pw78aX0Z1KvaVAiqZ6RyxF0yXR/NmWN2C/zuudo8fgP2bOwqutLfjL3r34/IyZzmm8a5979tBMEyoqUFVUjLqebnSlUs4phfdMmICXmpvw8eOmY19PD0VTve9awXf0kT+uKtm6J7EgbeE7AuIcAEN7v2OGRMOpJGZXV2P8hIkZ7jHwZgHTwuxwCT5yymnO6ykj6RQSacO57to+k2GfrrdXMjsTCTRFImiMRtAYiTr/3plMDDhwOp1GR3sbYpEInCe5UzSHnBUHGJhAtqL5ykHRtH/j5teOwldmz3FOi//6zW343PEzMTxcgv95/jnnCQ/2Z0xZGUaUhLE/0oP25IFrpO037dn/zf6zi215bW7Cw69vds7y9f1QNNU7cimaQxTNL8+ag7093c4KZnEggBNH1KAmHMafdu1EUzyOz0w/Hs3xGO58acOAR499msG+rsze77/nnkTRVO97VvAdnf/oo+E93d2fMSGuEBAnAjhwnYlknyIjjTnFxZg67XhA19ASjTkCad+F3hw78PrIbD/JVAodHe2OZDo3/lA0s0XI7bMkkI1o2qfOG6JRrG9uQpGuY/aIERhXVo4n9+7Bto4OfGHmTHQnU7jjpfWH308+QD2fOG4a3jNhonPDkL26ua6u7ogtKZpZhinB5hTNIYpm7zWa9t/K7DvF7XeRr29qwrr6fc61K5+ZPgNtiQRu2/DvYx4Ox1dX47/nvYOieUxS3EAmAueuXVva2Nb6HUsTX4IQ44dau2ZZKEkmYQV0JA8+L3OoY3q1fyKRQGtrG+LxOOxXTB54EDtXNL3Ko1DmzVY07fsQen/jIuk07BXOv+7bi7Fl5c6pc/u/2b9xR3tais3WPps3KhzGJ6fPcP5i9qs3t6HeXsXv86FoqncUUjSHKJpfnjkb65ub8fud253fCPsLGbOff2eamO5cJD0L1cXFuPLZdYdmmjN8BM4cNxbbO7ucL2vvh6Kp3hes0Duat3r1JEOYy4UQ79c0LeP3PwaMNEqSCefZmbZUFicTKE4lUW6ZGDt8BDpNC5tqx6BTz8vZ95zEaK9k1jc0wJbNAw9iP3iHOUUzJ7w56GEC2YimfY3m621teGzbliN+4yZVVDormrXhUlz93LOHTp1Prx6Gs8eNw75IBE/u2e2sYFaEipxLS+ybYj9nX9dZOwq/27H9LXev2xVSNNU7UimaQxTNvjcDvX2okmAQF8+e41wE/b+7d+HPe3ajLBh0vmTOf9uzG7/fsZ2iqd73quA7unTDhsD6TZvmG5Zxv9BwUu+rJJ3/hyMENCFQZL86MhF3BLIklUJ5tAdBAQwzUhg/ajRG1o7CiBE1GDFiJGpHjUJt7WiUl1c4bP/4+O+wc8ebrnC2/3K4Wwg8XzkMyYNPjnBl4KMMYhgGdu7di2Qy1edtPxTNXHPn+AcIZCuavTcDvZ2ffbmY/Xt2+ugx+OvePfjDrp3Oo4w+Pm2689/+tm8v/rBzh7ONfdPrz7a+4dyFftmJ8zChvNy569y+Kbbvh6Kp3lFK0cyhaNpD23+z+9S06RhfXu6scloQKNYD2Bfpwf2vbnROOXBFU70vViF3dOETPytvak1/Qlji+0KI43pZ6Jb9dp8ESqMRlHd3Yfbw4RhWVY2xI2sxdtRo1FZX47jJx6H3xQZvZ2j/ADVFo4dWTdxgbC8evtTUiDWbXnXGzscnkUxiT30d4vZKpl3AofeXUzTzwZ9zuCeaNktbID8xbZrzv/bpdfuGIPs7XB/pwarXNqEjmcQptaOwcPrxztm+eNpwTqHbd6T/bOsW53IziqbaRyVFcwiiaX+x3jl6tPM3tBebGgc8UiZWVOAdI2sxzH41noBzc5B9jcv+t/2w1YbDOHvceOeL+X99Tqm/fWA+sF3tL6XM3Z27dm1tLBm/zBTivwDUHq0X+yVY9um0UWVlzndjYmUlKoqKYD+/1v7vVcUlKAuFUFta6jyTz14x+cvu3c6PlVsfezXTvkO871/43Bq7v3ESqST2NTSiu6f78PWYFM1cIufY/f/GOW8ysL9z7x433vme9feZWFGJM8aMQV0k4jz3cqCPvZDyjtpajCgOw/5e248w2tjSgrpoBPazYW3xnFtTg2lV1QgFAuhIJPDPhgbnt7C/v1A+X1+PnV2dB/4oEgUiPUAqDdhSmkpBN83vmQ+tWSZ7uHwFpewJvq3+XLwZKFtE9mkG+2P/aB5810e2QzjbUzQHhY075ZjAWb/85UkpM30NID4CaKWDnc6+nqs8FEJlcbHzcOea0rDzndna3n7E6sdg5/BiP1sy65qa0NHVDcs0KJpehCDbnOuW6Ni9O4iL1rx12W+IfWR66jzbaezfOHv1yj57199vnP2MTfv7bf/5QB+eOs+Wuv+354pmPxll+mYgr+KlaHpFnvMORODcX/7ywjSspRBirtA0ee/QyVHE9jWZ+5qa0NTWBsv+ke17489QVzQh/rciUHR51+rVO3NUPof1isC6JXr8mcfuBpAwh49aVn75s21ulJIr0XSjNoqmGxT9NQZFk6LpryOS1UhHYPSPHvx0ka4v1zV9tHTF56ngeE83mptb+r8ec2iiuScQ0K80Vq/5Q55a4TT5JrDh0kD0j+t+qgMfA2C/nudpSyt6tOz6VzcPthSK5mDJubsfT527y9Pz0fxw6twtCFzRdIskx3GDQODuu66xhJD+eik3WAw4Rk8EOPQYI/tZmX1u/Bm0aFp7Arr+XWP1ml/ktHYO7gsC8aUzfgqBz/Up5lUEAo9A058PH/+pV7DwBiPTQimamZLK7XYUzdzyzfvoFM28I+eEBUKAoplB0C6LZgDW3smB9A9emb779xnMzk0UIRCItv4cwHuOaEdDC6DfGq6q+imOP60TF9xz1DvmKJr+OCAomv7IwbUqBiOa9p2wZ4+f4Nz16peP/fiIZ/btO3xHXjwB2Hfn2XfkpVNA0rkj7xHzoTVf9UvNrENtAhTNDPJ1UTSnB+PWjZW7jI+E2we+oyKDkriJhAR06PYT8o5SeRLQmgD81iqtvLXsmhff+pDKgzv2iqb93vF3jx+P6uIS38CwH3dk33Vuv9rZ+fR317llXWWufti+dlXqD0VT6viOLH4womnfIXfmuPHOqyQ1+5kNPvg0xaJ4rq7Oea2l83m7aKZS/yoNaN+I3v+jl31QLksoAAIUzQxCdkk0ZwSiuLlyF84Pt8v5svgMUHET1wjYd6q/EgjotxZ9/423rHz3iqb9WCP7N25SZaVrkw51oLqeHjxTtw/R3mdMv000tVT6d8NCRd9su+++gZ+3NNQi8rQ/RTNPoPM1zWBE067Nfn3kaaPHYHJVVb5KHXCeWDqNfzbsx87OzsOPjugjmlra+FtNuPQL9516asvChQuH8gQlz3tlAfIQoGhmkJULolmKdNuDldsqP17aGgoM6QFpGdTLTWQmkIamvQrg/8xg8U/Lv7vx9bc30yua9vLJyNJSnD5mrPP8Wq8/Xcmks5pZZz83s/fTRzT1dPqh4cGi61uWL7dXbaX/UDSlj/CtDQxWNH2PwRHNLvtu1ka9KPQkDKujMpm6u2P58sMvUfd9EyxQZgJei6b9XL6ApsEUAvYD2Af62D+qnv3ta6iiKUS7rmm3Pz/p1V/MM7vHy3y8sPbBExCWcYFm4bv9jGCvXrYLXVv9xqizl86/ZOVRL6voFc3BV5LHPXtFU4idejC4Dql0t3n7nd/OYwU5m4qimTO03gyssmjqkR5omg5hv+KysxNhw1oQ+9GPXvSGNGctNAJeiaYtl8cPG+68yrK2rAz2asj+SASb21qdN5P0/dinBu23c21sbcEu+y9m+f4MTTS7dOD2s9654M6nL7rI1Qd35xsD5xs8gdiNMy7WLNwHoOjwKGIv7EeLhYr+UHzczAYs/FUykxlkE03dfoOQ/RuXTkN0dkCsXK3Es3opmpkcrRJtk41oBu6+815LaHN629NMc6qwzAm+adcSzvP49ICOgGkhmErBMgyku7pgRSIohT4/+vDDr/imXhaiNAGvRHPmsOFYed77nVfbdadSqCouRsI08OPNm3HLv/+FzuSB39yR4VLcc+65+OCU43DVM09j9Wub8p/H4EWzTRfiB2eNHvvA04sXUzLzn5wvZozdNOurummuEJpm3wi0Hrr2GxEMriv9n9c2DKZAbcVdf+u7n2Yac4Rp1Tiv9fHDxz4zYZrQgyEEUikEDQNWKoV0ZyeseDwpHn7EP3foDoEXRXMI8Py4azaiWf3DH04yhQjbfQTSiTkwjFsSydRxyd6Lk71u0DCgp9OoGDHcuUlJpNKIdXQgHYlAN61Vk0fWXrtj2bI+F7l4XTDnV5mAV6L53dNOx3WnnIqHXtuE/7dzO8LBEB563/mObP7nX57C3/btxQcmT8G33jEf50yY4Lz2TirRNK1WXdeuP//4WWv+fPnl7r3gXeWDUbne1mqxHyy6UDOt70Foz5jh0CPl127aOtQ2K+69d2bvGHoqfo5IG9+NJ5PjjKO8GnKoc2a1v5FG0BIora46cFlMMoVoWxvMWCypW9Yy86E1S7Maz6cbUzR9Gsxgy8pGNHvnOP7+FTPiKXO5JXCeZVmBeDIJw364stcfy0JJIIDicBiWZaGnvR3Rjg5gf0OL/tzzD6Kz05XXlHndJueXg4D40hfeK+bN+3C+q73xjHfhulNOwy+2bsF1zz2LhmgUn5sxC5F0Cq+1tWJPdzf+8smFOG3UaKx4eQO++Y758ohmPAbt9S1Pa69sfArxt10HkG/QnM8zAmXFeiiatHL2l4zyM88cVv7BCz6CUGiu/RsXjcfhg184wDJRWlyMUKjI+Y3rbG5CorsHumWtrC0pvb7hnnuU+I2jaHr21crNxNmK5ik///nw7o72myxhXZqbitwYVaCtpRWdrS3A/kZg3TMHbgzq+7FPQfQ+mskPkuxG2xzDXwTecy7w4Q/mvaYTa2rw909/FuWhItg3BG1oasIvt211To13pZLOWUBbPH+7fRsumzsPSxa8Sw7RtG/w+/d6YOOrB15ZyQ8J5IBAcNgw1HzqEyibNy8Ho7szpBACTfvrEe3qgmaJP1SGiq/6zJe/3P+Nrhs2YOUll0j1bFmKpjvHiW9GyUY0z3/00ZpmM3m1JfDNt1547Zt2YBgGmlta0NrU5FzLgrr9+7HljT1IGYdfQ2b/0toPcg8FAV0LYX9jCQyj92/HAul0RheO+6drVuJLAh/64Hi899wp+a4tqOs4d/wE/OeJczFj2HCMDIcxqqwML7c04WtPPYVXWg4/q/pbJ8+XQzQtqwtvbH0NT6+z0OernG+2nE9tAkU1I0aN+uhHjx/2rgW+bTSVSmH//gZ022frTAN6MLi6ZNL4+/sWrCUs0741SggEtTSMkaWle0eUljrXMtdOSJp/vsDfl5xQNH17+A2usGxEs+qBe++pDhX9p18l0yYQb2tHS1PjAck0TVM3cefU0aN/8ObixZH+CE1fsqS8pbi4piSZdP7cCAZDVjAYOH3u3KY/X3BBzk7NDC4t7iUTAa+u0fzglKnOpSz2neRVRUU4uXYULjlxHt45ejRuXf9vLHnhH4cwSiKa7TrErWdV19zDG39k+gbIVWvt/ffXmpq1vDwU+qxvK7csdLe0oKutHcL+C5dlpHRLLDHvX7lsoJrH3HLLiJiWqgon4bxSKFUiSoJ6War5mmv6fTuSH3qnaPohBRdryEY0pXj0Q1MzkEwApmXBMl4sMbVrv3TSSS9keurg3CVLijZVVo5IWVZF97e/vc1F1ByqwAh4JZp/+ugnMKGyAov/+Q/8bvubDvUbFpyB7592Ou555SVc9cw6mUSzVYe5+Pwpxz/EG38K7AuU53ZL7733lLiZ+leep81uOlsu29oB+w14hmFqlvnX0kDRtZF77sn4kRFTVqyojBtdRTG9orr7qqu2Z1dAframaOaHc95mUVg0Xw/r4msfOuPsDb9auPDwafMMyE7/2c/KG+vqJvRcd90bGWzOTUigXwJeiaa9ennfe96L3d1dWN/UBOeVsWPHwYJwJNO+Saj34+sVTWG16dC+f8LosY9uvPrqtz4AlMccCbhMQDrRNI0XKvTQRQ+tWLF9YZbvXChbtmzehNra7VsuvjjqMkZXhqNouoLRP4NkI5pr8daniX368m/Yv1jTPO8mGATCYeeOvIOnzFGqh06L3nHHoJ6lFlq6+Nz0oiVPe94XC5CagFeiGQ4Gcc0pp+Lyk07GiJISh6H9CKNvrvsbVm2y38B3+ONj0bQfxn7D+RMnP8CVTKm/BlIV3/c37qtXXz29J5X4DYSY7XkToRBgf5cPXBJm/9Z1Ta4aPnnX4sXO6fBsPjMffrhsX339tOj112/MZr98bkvRzCftPMyVjWi+vRztim9sgcD0PJR59CkCAaC09KBoWo0BiMuM2+96PNO6zn3kkaK9qVRxU0fTZKDIilx33eZM9+V2JDAQAa9Es7ee4kAAY8vKnddP7ukZ+PfId6+gtKyIrum3nzX7hNv4xh9+v7wiUHndldN7YsZvAR+JpmVaSJvbSzX9i9kspJyxdm3x3ubm0s5IZHxA12NXnXrqrsXnnOPbRzdQNL066nM077FEc96jj4YbGhsrRCh9xLsRWnc1PA8g73fVHoHCFk17RdM0m3Vd+8Hw2qq19ja6BmtCuKZn/SWXJPrDN+mBB6rG1dQkXq+vH2MkkxUji4v37Lryyqz/hpijaDis5AS8Fk0p8B35ZqCULqyHR5ZVLW5cvLhVih5YpNQEZt52W1lbkVH+9iaizZ1T49H4wwCO97xB+wkpxcX2vQc7A1pgUXVt+TpbxgJGkTmrpqZ7oL+Q2ddjFldWmg3NzaOsoFVSW1mzb8cll/j+pSUUTc+POHcLOJpoznv0jvDmPbHPC2GdJwD97TOLZOoDEOKIL6i7FWYwmv08TFs2gf2aHngJOhyx1NLpzuJ46uHY7bf3e4F36S03Ljhp2syX6ltbS/b813958KLnDHrjJtISoGhmEN1bRTOpC+uHo0srltUvXtyewd7chASGRGD8LbcMazDTXxLCOuOIgSyrXKSNMyBE5ZAmcWNnXQP0gP3s552aHtgETThPRNFS6YZwNP6jyF13HXEWzhboeiEm1hQX19uy6dfrMfvDQ9F046Dx0RgDieaSdev0Zf/4x9mGZdwrhJjlo5IzK0VYsLp6GvVI9Apj5crf2DtdumpV4FcNDeNSpjnM/r8TAbyrxIS9Kut83jF5ctNNF1/cfA788RKIzBrlVn4lQNHMIJnDopnUYd01pnL4nXXf+U5HBntyExIYEgH79+CRlpaPmJZxD4CxQxrMi53t37iOjm2BeOzr6QdXO/cU2L/bdz7zzDTTNO1XRQeTAZxYbOJl+8/KQiGMqqzcv+mb32zxotxs5qRoZkNLgm0HEs2pd989sinWs0oA9iv0jjht7vfWzFgMqebmxoBpXmGsXuOI5sibbx7VFov8vs81N0H70ZlOL5aFkMBlyVtu/bnfe2N9chCgaGaQ0wHRTOlC3DOmomoZJTMDZtzEFQITli+vbo1H/q7p+iwIId1vXLqnB0ZL27agwNfTqw+IZs0Pvj+mLW6s16D1nmm0T/UdeCuQZTWHDOPa5G13/s4VgDkchKKZQ7heDN2faNp/K7pn/Yv/bVrmci9qGuqcpmEi2tgIEYs3BmAdEs2ypUv/0xLmg0eMLwSMeBxaIn5R6u4fPjrU+bk/CdgEKJoZHAeRaFyPx388uqjkep4uz4AXN3GFwIVPPBF64bWN91hCXOLKgHkeJJ1IItbYCKTT24JCc0TT/t2+9ZmnVwjgG/3/xsWaRHf0CuOBB36d53Kzno6imTUyf+/Qn2hOvuees5Nm6tcC2nB/V39kdZZloqu1FamubiBt7AgK/Hd69eqnZqxaNby5rcU+TX7Ehd2WaSLe0QErHrvIuH8lRVO20H1ab/DeFR+zTOtLfilP9PQMx+7d70ZZaaM2fvxGFBX3e5NcPuvVYrHtI9PmbbzxJ5/UC3uuSzdsCPzp+b9/1jDNn8hIwjTS6GhqghmNCRjGK2GhXRZbvXr9hOXL50Tj0ReEppW+vS/LMBBta2tCMnGF8cAqiqZPgpduGX2w3N4umvNWr54USSX+YAlxwmDH9HK/9vZ2dLe12u8y79JNc0VNGA80rfhRy6QVd11nWNbN/dUWj8fR2dgI3TQoml6Gx7lzSiAcDp+RSCT+rmna48OGDft6W1vb/mNOuPaGYOL1n28WB5+XKzTxZOmibRcecz9uQAI+JTDr4ZXvTCbSPxNCeP/ElCwZWZaF9rY2ROz3nKfTbbqRXjJ1XNmPp592QfK1La+vNIX4cn9DRiI96G5qagpYFkUzS+a53LwgRfN9a9dWNEW7b7cs66v204FyCTgXY3f19KCxoRFGIg7dMK8fXVL6YP0dd7SftmbN5K5k7G9CYNLb5xXCwv6GRsTa2xsDwvqacf/KJ3JRG8ckAa8JUDS9ToDze03gzJ/8ZHyXlb4LlvVRAdjX6EvzEUKgvbMTLc0tMOPxWMAyL59RM+pXm2+4ITZ3zY/enUykHhP93NRkCQt79+5Duqd7c4mJr8cffPA5vzfNU+d+TyjL+npXNO1rVrbX1V0SCuqLAYzIchjPN0+lUmhobkK0uwe6YVwzs2rYg/YX0C7s1Ed/vNQS1rUAQm8vtDsaxY6du5JaKnX/5HDZkh3Llvn+GWOew2YBUhKgaEoZG4t2iYD9TOhUMn5NIKBfI3Dk6WWXpsnZMIlEAvsbG5GIRGMBYX7l/VOm/T/7rVlfWbeuN21RUgAAIABJREFUaNO+3T8UwvoyoB0hz03t7ajfVxfRjdSys4bX3vn04sWpnBXp0sAUTZdA+mWYXtEccdttYzuM5P0H7zL3S3mZ12GYQDKR0g1zkXnr7bf37jjirrvGGTB+B2jz+xssEYla6UjPUyO04Fdbbr21MfMJuSUJyEWAoilXXqzWXQIVd9w8O5Iy7wfwbndHztNohgHE4p0BC9/86mc+8/OV8+c7d5NX3XXbaQL6gxrEvP4qiXZ2CRGN/fwEPXDJxttvj+ep2iFNQ9EcEj7/7dwrmrX3317b1pW8yRLivf6rMoOKDCOtp9I/mVxRde+O6647tCpZffvtU7rSiTUQOLHfUeKJ5jC0/4jddNP6DGbhJiQgLQGKprTRsXAXCFTedde0aDJ2oyXEaS4Ml/8hDDOiJxMPnjCs5pGNV199SBhLb7llQVwYd0JgRr9FxeLbqzX9Ux033bQv/0UPbkaK5uC4+XavXtG034W6cceO2SlgpG+LPUphQZGO1pSUb973rW919t1s0rJlVfVW+nwhUNPf7pqR2m0svvHPMvbMmkkgGwIUzWxocVvVCEy/997y+mRkVtrQnBd2yPYJiXTXuJS1+c3FiyN9a69ZvnxMZzxythDo9ykxxcn0v2NLl/5bpn4pmjKllUGtx3rXeQZDcBMSIAEJCFA0JQiJJZIACYCiqdhBQNFULFC2QwIDEKBo8tAgARKQgQBFU4aUsqiRopkFLG5KAhIToGhKHB5LJ4ECIkDRVCxsiqZigbIdEuCKJo8BEiABiQlQNCUOr7/SKZqKBcp2SICiyWOABEhAYgIUTYnDo2gqFh7bIYEsCPDUeRawuCkJkIBnBCianqHPzcRc0cwNV45KAn4jQNH0WyKshwRIoD8CFE3FjguKpmKBsh0S4KlzHgMkQAISE6BoShweT50rFh7bIYEsCHBFMwtY3JQESMAzAhRNz9DnZmKuaOaGK0clAb8RoGj6LRHWQwIkwFPnBXAMUDQLIGS2SAIAKJo8DEiABGQgwBVNGVLKokaKZhawuCkJSEyAoilxeCydBAqIAEVTsbApmooFynZIYAACFE0eGiRAAjIQoGjKkFIWNVI0s4DFTUlAYgIUTYnDY+kkUEAEKJqKhU3RVCxQtkMCXNHkMUACJCAxAYqmxOH1VzpFU7FA2Q4JUDR5DJAACUhMgKIpcXgUTcXCYzskkAUBnjrPAhY3JQES8IwARdMz9LmZmCuaueHKUUnAbwQomn5LhPWQAAn0R4CiqdhxQdFULFC2QwI8dc5jgARIQGICFE2Jw+Opc8XCYzskkAUBrmhmAYubkgAJeEaAoukZ+txMzBXN3HDlqCTgNwIUTb8lwnpIgAR46rwAjgGKZgGEzBZJgK+g5DFAAiQgCQGuaEoSVKZlUjQzJcXtSEBuAlzRlDs/Vk8ChUKAoqlY0hRNxQJlOyQwAAGKJg8NEiABGQhQNGVIKYsaKZpZwOKmJCAxAYqmxOGxdBIoIAIUTcXCpmgqFijbIQGuaPIYIAESkJgARVPi8PornaKpWKBshwQomjwGSIAEJCZA0ZQ4PIqmYuGxHRLIggBPnWcBi5uSAAl4RoCi6Rn63EzMFc3ccOWoJOA3AhRNvyXCekiABPojQNFU7LigaCoWKNshAZ465zFAAiQgMQGKpsTh8dS5YuGxHRLIggBXNLOAxU1JgAQ8I0DR9Ax9bibmimZuuHJUEvAbAYqm3xJhPSRAAjx1XgDHAEWzAEJmiyTAV1DyGCABEpCEAFc0JQkq0zIpmpmS4nYkIDcBrmjKnR+rJ4FCIUDRVCxpiqZigbIdEhiAAEWThwYJkIAMBCiaMqSURY0UzSxgcVMSkJgARVPi8Fg6CRQQAYqmYmFTNBULlO2QAFc0eQyQAAlITICiKXF4/ZVO0VQsULZDAhRNHgMkQAISE6BoShweRVOx8NgOCWRBgKfOs4DFTUmABDwjQNH0DH1uJuaKZm64clQS8BsBiqbfEmE9JEAC/RGgaCp2XFA0FQuU7ZAAT53zGCABEpCYAEVT4vB46lyx8NgOCWRBgCuaWcDipiRAAp4RoGh6hj43E3NFMzdcOSoJ+I0ARdNvibAeEiABnjovgGOAolkAIbNFEuArKHkMkAAJSEKAK5qSBJVpmRTNTElxOxKQmwBXNOXOj9WTQKEQoGgqljRFU7FA2Q4JDECAoslDgwRIQAYCFE0ZUsqiRopmFrC4KQlITICiKXF4LJ0ECogARVOxsCmaigXKdkiAK5o8BkiABCQmQNGUOLz+SqdoKhYo2yEBiiaPARIgAYkJUDQlDo+iqVh4bIcEsiDAU+dZwOKmJEACnhGgaHqGPjcTc0UzN1w5Kgn4jQBF02+JsB4SIIH+CFA0FTsuKJqKBcp2SICnznkMkAAJSEyAoilxeDx1rlh4bIcEsiDAFc0sYHFTEiABzwhQND1Dn5uJuaKZG64clQT8RoCi6bdEWA8JkABPnRfAMUDRLICQ2SIJ8BWUPAZIgAQkIcAVTUmCyrRMimampLgdCchNgCuacufH6kmgUAhQNBVLmqKpWKBshwQGIEDR5KFBAiQgAwGKpgwpZVEjRTMLWNyUBCQmQNGUODyWTgIFRICiqVjYFE3FAmU7JODiimbDqo+UVDdu3QaBcc6wGurDi7ZOJGQSIAESyBUBimauyHo0LkXTI/CclgTyTGAwK5r9iGZDeNHW8XkundORAAkUEAGKpmJhUzQVC5TtkEBuVzQpmjzCSIAEckqAoplTvPkfnKKZf+ackQS8IMAVTS+oc04SIIFsCVA0syXm8+0pmj4PiOWRgEsEKJougeQwJEACOSVA0cwp3vwPTtHMP3POSAJeEKBoekGdc5IACWRLgKKZLTGfb0/R9HlALI8EXCIwGNHEI18pSuz95xYhxCS7DA3itZLF2+a5VBKHIQESIIEjCFA0FTsoKJqKBcp2SGAAAoMSzbU3BBOv/3yzAKbZwwpNPFm6aNuFhEwCJEACuSJA0cwVWY/GpWh6BJ7TkkCeCVA08wyc05EACQyKAEVzUNj8uxNF07/ZsDIScJMARdNNmhyLBEggVwQomrki69G4FE2PwHNaEsgzAYpmnoFzOhIggUERoGgOCpt/d6Jo+jcbVkYCbhLISDTXrtUw8nUN5yy2nLmPdY3mI18pwkVrUm7WybFIgAQKmwBFU7H8KZqKBcp2SGAAAhmJ5roleuyZn60sPe0DX8cF96SPJprxW05YEC4v2obLX2ojdBIgARJwiwBF0y2SPhmHoumTIFgGCeSYQEaiCSB+46yvC2GdVzrxjM+ibJLV313nsZtnX6ClzZvCi7fOz3HZHJ4ESKDACFA0FQucoqlYoGyHBIayomnvu+ojJYmGrU1C054OT5n0ucTO3a/0Pt5I08STCIZuF4bxG0B7Krxoy2cJnARIgATcJEDRdJOmD8aiaPogBJZAAnkgkOmKpl1KYumM/xUC7xOa2KAJfSQgJtr/XWhis2ZhKjQtrAVC7y35/mvr8lA6pyABEiggAhRNxcKmaCoWKNshgaGuaAJI3jj7Cssylw8EU9Owo+Ssz888dNMQqZMACZCASwQomi6B9MswFE2/JME6SCC3BLJZ0cStp4yPJ3r2DFiRpt8XXvTGFbmtmKOTAAkUIgGKpmKpUzQVC5TtkIALK5r2ELElM5/QIN7f33BCC15Yumjzk4RNAiRAAm4ToGi6TdTj8SiaHgfA6UkgTwSyWtF0rtOc/QUhzJ/0U54Rnj2vEgt/lcxT6ZyGBEiggAhQNBULm6KpWKBshwRcWtFM3nLSNCsV33rkcNqK8OIt3yZoEiABEsgFAYpmLqh6OCZF00P4nJoE8kgg2xVNrFuix595bBOAmX3KtERx6PTS/3ltQx5L51QkQAIFRICiqVjYFE3FAmU7JODSiqY9TPzGOZ+CZfyyz5DJdOWIsZXf+kcnQZMACZBALghQNHNB1cMxKZoewufUJJBHAlmvaNq13Xtheaxtx15NQ5X9f2oafl6yaOsX81g2pyIBEigwAhRNxQKnaCoWKNshARdXNO3T57FnHntVA2bZw4bLSqbi6o0DP/aI9EmABEhgiAQomkME6LfdKZp+S4T1kEBuCAxqRdM5fT7zv2GJuzVge8nirTNyUx1HJQESIIEDBCiaih0JFE3FAmU7JODmiqY91qPnh+M7drdA0x4PL97yOQImARIggVwSoGjmkq4HY1M0PYDOKUlgiAQmLVtW1ZFMjspmmNiTT55sbt36M624+OniBQtuCM2d25zp/v8rnvjRKxjx0P9op71wtH0+N2bMjpWXXGJmOi63IwESIIG3E6BoKnZMUDQVC5TtKElgLaBddOOik9KGOBOWOFVoYqYGrSKbZq10Oozu7gkIFUVRVtakB3Qj0/3LYZRFtGAUov89RNqA2d2NCZVVp++55ZauTMfldiRAAiRA0VT8GKBoKh4w25OSwKfXrg2u379rSjQl3iMgLgRwgX3pkvOPpgFC2P/u+ceyLMS6u5Ho6oJIJDG2evjI+jvuaPe8MBZAAiQgLQGuaEob3QArEULoirXEdkhASgJV998/1TTTHw8HAvOLdLxLgzbez40YkShaW1thJuJAKgWk0hRNPwfG2khAEgIUTUmCyrRMrmhmSorbkUBuCQRXrPiCCet+QJTndiaXRm9pPSCYaVsyKZouUeUwJFDwBCiaih0CFE3FAmU70hKgaEobHQsnARJwkQBF00WYfhiKoumHFFgDCQBHE83hJSWeIIobBhKG0f89QFzR9CQTTkoCqhOgaCqWMEVTsUDZjrQE+opmSNcxfdgwnFAzEiXBILy6kNq+ydz+Z3dnJ15sanSk89CHointscbCScDPBCiafk5nELVRNAcBjbuQQA4I9BXNceXl+MCUqQjYd5j74GPL5vaODqyr2wchDj7jiKLpg2RYAgmoR4CiqVimFE3FAmU70hLoFU0NonxKVTXOmzTJV720xeN4cvcuRNLpA3VRNH2VD4shAVUIUDRVSfJgHxRNxQJlO9IS6BVNXUP5iTU1eOeYsb7qpT0Rx1O7d6PbvsOcoumrbFgMCahEgKKpUpr29Vd8jqZiibIdWQlQNGVNjnWTAAm4SYCi6SZNH4xF0fRBCCyBBHD4rnOuaPJwIAESKGQCFE3F0qdoKhYo25GWAFc0pY2OhZMACbhIgKLpIkw/DEXR9EMKrIEEcreiqWsagrqOlGkOCTOv0RwSPu5MAiSQIQGKZoagZNmMoilLUqxTdQKZrmhWFRVj9ojhCAeCh5CYQqAtEccb7e2w/93+lIVCmFpZhTFlZc6/tyUSqIv0YF9PD9KW5WxTW1qKKZVVKAsGkbRMbO/sRFMs1i9qiqbqRyD7IwF/EKBo+iMH16qgaLqGkgORwJAIZCqax1VV4+LZc1ATDsOwLNgrlvanI5nAn3fvxnP761EeCuHc8ROwYMxYVBYVOY8ksv+3IRpxtnmlpRn2Q+EvOWEuJlZUABoQ1HTsi/Tg4c2bnbHe/qFoDile7kwCJJAhAYpmhqBk2YyiKUtSrFN1AtmKZkVREW7b8G9omoZZw4bj/RMnOf9+9d+fwdyakfjK7DmOOD6+ayd6UinMHDYcHztuGnZ1deEnW17HxIpKfG3OCfhXYwP+b99evGf8BLxr7Dj8cttWPFNfR9FU/YBjfyTgUwIUTZ8GM9iyKJqDJcf9SMBdAtmKpn06/Mpn1zlF2KfHvzr7BEyoqMBVf38GH5t6HM4YOxarX3sNL7c0O9tUFxfjHSNrUR/pwa7ubkyurMLIcAkiaQOvtrbg/EmT8ZEpU/HHXTvxxJ7dFE134+VoJEACGRKgaGYISpbNKJqyJMU6VSeQrWjaK5p3vLQexYEAThpZi3eNGes8TH3Z+hdx2dx5qCkJ45E3NmNbR8dR0dkn3mtLy5zVzVGlpbh34yt4s/PIfXjqXPUjkP2RgD8IUDT9kYNrVVA0XUPJgUhgSASyFc3eazTtW3/sm3ta4jE8vnMndnZ34fJ573Bu8PnxG69je1fngHXZkmmvhn546nGYUT0MT9ftc0619/ehaA4pXu5MAiSQIQGKZoagZNmMoilLUqxTdQLZimZVcTHWvrkNAgIp00JDNOpck2mvcH551mznmsyHNr+GTW2tDrrSYAhza2qc7V9tbUXcMDAyHManph2P46qq8FxDPZ7YvRvJAR6DRNFU/QhkfyTgDwIUTX/k4FoVFE3XUHIgEhgSgWxFs+81mn0nDmgazhk/AQunH49n6+vwux3bkTAMnFBTgy/PnI1dPd14bMsW587yr805EXOGD8ff6vbhr/v2ImYYA/ZA0RxSvNyZBEggQwIUzQxBybIZRVOWpFin6gTcEk2bk32t5ednzMT06mHOdZv2MzYnlh94jJEtns/W1+PkkbXOnen2nepp04Rx8Pmb9h3nv9+x/QjcFE3Vj0D2RwL+IEDR9EcOrlVB0XQNJQcigSERyFQ07ccSfXr68SgNBrH0xRcGnNO+9tK+k3x6dbXzjMxoOu08Y/OFxgZn5fJLzun1YUfs/3xDA/7Uz3WaFM0hxcudSYAEMiRA0cwQlCybUTRlSYp1qk4gU9G0ORx4RDtw4B1AR/+Eg0FHSjuTyUNvDeo7Rn979zcuRfNYpPnnJEACbhCgaLpB0UdjUDR9FAZLKWgC2YimF6Aoml5Q55wkUHgEKJqKZU7RVCxQtiMtAYqmtNGxcBIgARcJUDRdhOmHoSiafkiBNZAAQNHkUUACJEACsG9QtAqBQ+8lUMr3StFUPmI2KAkBiqYkQbFMEiCBnBKgaOYUb/4Hp2jmnzlnJIH+CPQVzZnDh+PMceN9BaotHseTu3chkk4fqKulFUilgHTqwP+m0ua42tJRdTf/8OjvvPRVVyyGBEjAbwQomn5LZIj1UDSHCJC7k4BLBHpFExDl9qOJ3jdpMkqCQZdGH9ow9l3o2zs68EzdPlgHn7f5VtFMRzQj/X/HD6v50pZbb40ObTbuTQIkUMgEKJqKpU/RVCxQtiMtgb6iaQvmCSNqMHvECF/Ipr2a+WzdPrTE44f5HlrRTEf1dPrH5UGxYvWZ7925cOHCTJ66JG1OLJwESCC3BCiaueWb99EpmnlHzglJoF8CfUXT3qAoEHCefxnQdM+JpSwTkVTqrc/ttEUznbZgiY16cdFvdFgvfPykU/7+q4ULB36PpeedsAASIAG/E6Bo+j2hLOujaGYJjJuTQI4IvF00czSNe8PaommZ0AIBiFQKenf3T06oqP76xttv77Ps6d50HIkESKAwCFA0FcuZoqlYoGxHWgLBFSs+YcJcBoEypwkNQViiChAh3zR18PpM+/3ogc4uBHUdViqFdEcHtGRyzQkjRl5O0fRNWiyEBKQkQNGUMraBi6ZoKhYo25GWwPC77x7fbVnzoGmBgGaFAkb63WYq/fl02hghem/A8bI7u4Z0GqGAjqLSUoQsASOVRLy9A2Ys1qqbYun5J5+86s+XX37wtnQvi+XcJEACshKgaMqa3AB1UzQVC5TtSE9gybp1+ppXX3p3Om3eYljWqYlUSk8aPrjsUQjopolwSQmKiothmgY6m5qRjkZjumU9MGZk+BY+2kj6w48NkIDnBCiankfgbgEUTXd5cjQSGCqBE9esGReL9vxaCHEKNE23VzMtyz8vytB1HaZhoHn/fiQj0ZRuWb+sLg99r+3O++qH2jv3JwESIAGKpmLHAEVTsUDZjtQE3rd2bUVjV8dfhIZTNPsqTR9+Uqk06vbtRawnAlhWh15SsrxodO26vqVqhmGbsSGCwaKqitDWxsuubvVhKyyJBEjAhwQomj4MZSglUTSHQo/7koB7BKatWTMuHMAvdOAM90Z1dyTDMLC/rh5dHe0QhgmYZmMA1qXG/av+2N9MS5Ys0W8rDc0Ntfd0mmVlxUFNi5WXlvacOHNm9M8XXMBrOd2Nh6ORgBIEKJpKxHi4CYqmYoGyHWkJBO6+c5kl8E37EZq+bcJ+YHt7h3NTEEwTmmn9oULTv9113307M6l57dq12iXbto1PF2tVkau/+1om+3AbEiCBwiJA0VQsb4qmYoGyHWkJyCaammn+vhz6d7rvvXdbttBLl992Suxb167Pdj9uTwIkoD4BiqZiGVM0FQuU7UhLoOK++2bFrdRUCDivAhIdHWdZ8cRXAftZmh5/iosBTQPSBpBMQDPNJ6sQuKxj+fK92VY26uabRyaLrNLOq7+/J9t9uT0JkID6BCiaimVM0VQsULajDIHgFd/4nClwF4Baz5sqLQV03TldDtNcXxbSvxZZduembOqasmJFZXMicVxJUVHzO2fNauY1mtnQ47YkUDgEKJqKZU3RVCxQtiMdgUs3rArs+0fyiBeaP7Xjzc+YpnkHgJGeN+WIpiZgiU0lAe2Kc8dMeMGuqXz0aDHQu83t54Ha2+yvqNB+8renTodliTnDRr60/pJLEp73wwJIgAR8S4Ci6dtoBlcYRXNw3LgXCbhBYMLy5dUNsZ4PCkscKZPJ5MlWOvVRCJS7MdeQxigqsk+dJzRN/18tFPx771haIt5q/GDZT/sbe8Rdd42zfzAM0yzqvPpqniYfUgDcmQQKhwBFU7GsKZqKBcp2pCJQdNPSS00hbgOE9zKZJTlhWhCtbZvED+87qXfXcx95pGjj7t3Oqf5EIDABuiWKDezXhLDKQiHzwnnzOlZ+6ENc0cySNTcngUIiQNFULG2KpmKBsh1pCFTffvNJybT5ewFMkKbo3kKFQLq9HVZn1ybx0JpDohm8/rsfswQu+//t3U+IXXcZBuDfybRqqkQlRKso4k4Q0aaoCwsKrkURI7iQLoR046auKkhSStogDTQR2kZsiVZtRFfu3Agi4spNRIIL/9CpJraZzjBp5t+dc++RGbG1MYWZxT3le/tkfbnnvM+7eflo7+x+rNv5mabu9taG9Ta04cAw/ft7utsfuXLq1PPl8nphAgRGEzA0R6Me50GG5jjOnkLgfwU++sQTd/zj5dXfDG24u6LM5OUbbeulpdYm268MzY+fOXPwzzdWf9uGdvRWmfq1tUvvuLF+bPX8+b9WzOydCRAYR8DQHMd5tKcYmqNRexCBXYGdHy3/5uJzp4eufau1YaEaSz+ZtOsvvNimG+s7P3f0x+HpC3ftZDh8+tS906E9PgzDwZszzfq+3fjXC5cODc3QrFa49yUwsoChOTL4vB9naM5b2PcTeFVg5//E/tHly1+azvpzbRjeX82mn07bytK1trF6vbXtyUsH+uHE9Kmnzn/s3LkjS/3Wxda6z7VheM3faB9a2/2TlZvLK5cODZ2hWa1070tgZAFDc2TweT/O0Jy3sO8n8KrA0Z9e+Mjm5uTsMGuf77r//DB7lX/T2dCWV1ba8tK1NtucLC7Mth7qH//BhZ3xfPHyn+7tW3ukDcP//ebn5tZWu/L84jBsbv7ucFv42tKTT16tktl7EiAwvoChOb75XJ9oaM6V15cTeEXg08888+7r/eTEQtcd71p7WyWanavk+vp6++fVq22ysfG3hX77oYv3fPYnx44dGz7z7LMfXNtef2yYtS+29trxPAxDW7xyta0uLW0ubE/u+/KRO3/28wcf7Ctl964ECIwrYGiO6z33pxmacyf2AAK7Am9/9NFP9K3/9W3dgXdVJOk3Nttkfe25hen0xKfe94Ff/P7++7d2ctz5vce+MHTd013XHb45185/m7l8bakNG2sn73rn4TN/OHnSTxtVLN87ExhRwNAcEXuMRxmaYyh7BoHW7jhz+pMbk373L+qU/Lc1eXGh77/9jQ99+MffP358+t8Mt51++OuzYfbDW2bqp61tbP7yK0fv/urr/QWhkhZemgCBuQkYmnOjfWO+2NB8Y9w99c0ncOTs2fcub6wdK5l81lo39H/pv3PyVze//8HvPnzPZDq779ZDc7Zx6C1vPbXywAOLJXN7aQIERhcwNEcnn+8DDc35+vp2AgQIECBAYO8ChuberUp80tAsUZOXJECAAAECbwoBQzOsZkMzrFBxCBAgQIBAYQFDs3B5t3p1QzOsUHEIECBAgEBhAUOzcHmGZlh54hAgQIAAgTABQzOsUBfNsELFIUCAAAEChQUMzcLluWiGlScOAQIECBAIEzA0wwp10QwrVBwCBAgQIFBYwNAsXJ6LZlh54hAgQIAAgTABQzOsUBfNsELFIUCAAAEChQUMzcLluWiGlScOAQIECBAIEzA0wwp10QwrVBwCBAgQIFBYwNAsXJ6LZlh54hAgQIAAgTABQzOsUBfNsELFIUCAAAEChQUMzcLluWiGlScOAQIECBAIEzA0wwp10QwrVBwCBAgQIFBYwNAsXJ6LZlh54hAgQIAAgTABQzOsUBfNsELFIUCAAAEChQUMzcLluWiGlScOAQIECBAIEzA0wwp10QwrVBwCBAgQIFBYwNAsXJ6LZlh54hAgQIAAgTABQzOsUBfNsELFIUCAAAEChQUMzcLluWiGlScOAQIECBAIEzA0wwp10QwrVBwCBAgQIFBYwNAsXJ6LZlh54hAgQIAAgTABQzOsUBfNsELFIUCAAAEChQUMzcLluWiGlScOAQIECBAIEzA0wwp10QwrVBwCBAgQIFBYwNAsXJ6LZlh54hAgQIAAgTABQzOsUBfNsELFIUCAAAEChQUMzcLluWiGlScOAQIECBAIEzA0wwp10QwrVBwCBAgQIFBYwNAsXJ6LZlh54hAgQIAAgTABQzOsUBfNsELFIUCAAAEChQUMzcLluWiGlScOAQIECBAIEzA0wwp10QwrVBwCBAgQIFBYwNAsXJ6LZlh54hAgQIAAgTABQzOsUBfNsELFIUCAAAEChQUMzcLluWiGlScOAQIECBAIEzA0wwp10QwrVBwCBAgQIFBYwNAsXJ6LZlh54hAgQIAAgTABQzOsUBfNsELFIUCAAAEChQUMzcLluWiGlScOAQIECBAIEzA0wwp10QycsFt7AAADaElEQVQrVBwCBAgQIFBYwNAsXJ6LZlh54hAgQIAAgTABQzOsUBfNsELFIUCAAAEChQUMzcLluWiGlScOAQIECBAIEzA0wwp10QwrVBwCBAgQIFBYwNAsXJ6LZlh54hAgQIAAgTABQzOsUBfNsELFIUCAAAEChQUMzcLluWiGlScOAQIECBAIEzA0wwp10QwrVBwCBAgQIFBYwNAsXJ6LZlh54hAgQIAAgTABQzOsUBfNsELFIUCAAAEChQUMzcLluWiGlScOAQIECBAIEzA0wwp10QwrVBwCBAgQIFBYwNAsXJ6LZlh54hAgQIAAgTABQzOsUBfNsELFIUCAAAEChQUMzcLluWiGlScOAQIECBAIEzA0wwp10QwrVBwCBAgQIFBYwNAsXJ6LZlh54hAgQIAAgTABQzOsUBfNsELFIUCAAAEChQUMzcLluWiGlScOAQIECBAIEzA0wwp10QwrVBwCBAgQIFBYwNAsXJ6LZlh54hAgQIAAgTABQzOsUBfNsELFIUCAAAEChQUMzcLluWiGlScOAQIECBAIEzA0wwp10QwrVBwCBAgQIFBYwNAsXJ6LZlh54hAgQIAAgTABQzOsUBfNsELFIUCAAAEChQUMzcLluWiGlScOAQIECBAIEzA0wwp10QwrVBwCBAgQIFBYwNAsXJ6LZlh54hAgQIAAgTABQzOsUBfNsELFIUCAAAEChQUMzcLluWiGlScOAQIECBAIEzA0wwp10QwrVBwCBAgQIFBYwNAsXJ6LZlh54hAgQIAAgTABQzOsUBfNsELFIUCAAAEChQUMzcLluWiGlScOAQIECBAIEzA0wwp10QwrVBwCBAgQIFBYwNAsXJ6LZlh54hAgQIAAgTABQzOsUBfNsELFIUCAAAEChQUMzcLluWiGlScOAQIECBAIEzA0wwp10QwrVBwCBAgQIFBYwNAsXJ6LZlh54hAgQIAAgTABQzOsUBfNsELFIUCAAAEChQUMzcLlvc5FswuLJA4BAgQIECBQVKDruqHoq+/rtY2vfXH5MAECBAgQIECAwF4FDM29SvkcAQIECBAgQIDAvgQMzX1x+TABAgQIECBAgMBeBQzNvUr5HAECBAgQIECAwL4EDM19cfkwAQIECBAgQIDAXgUMzb1K+RwBAgQIECBAgMC+BP4Nz0Qr7nwJQv4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54" t="25815" r="43845" b="24598"/>
          <a:stretch/>
        </p:blipFill>
        <p:spPr bwMode="auto">
          <a:xfrm>
            <a:off x="151765" y="3886200"/>
            <a:ext cx="4336913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08" t="26620" r="44077" b="24293"/>
          <a:stretch/>
        </p:blipFill>
        <p:spPr bwMode="auto">
          <a:xfrm>
            <a:off x="4644888" y="3886200"/>
            <a:ext cx="4220308" cy="2741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ZoneTexte 4"/>
          <p:cNvSpPr txBox="1"/>
          <p:nvPr/>
        </p:nvSpPr>
        <p:spPr>
          <a:xfrm>
            <a:off x="561352" y="2209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7772400" y="1524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863038" y="5638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3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7620000" y="5638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4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712195" y="1066800"/>
            <a:ext cx="3694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PC1 veut envoyer une trame vers PC3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1164724" y="3657600"/>
            <a:ext cx="2149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Diffusion de la trame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87BD38E-930C-4C69-93C7-7FD707695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5331-A332-4A03-BB19-E41DE03E396E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5102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Remplissage de la table MAC (suite)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92" t="26762" r="43461" b="24579"/>
          <a:stretch/>
        </p:blipFill>
        <p:spPr bwMode="auto">
          <a:xfrm>
            <a:off x="304800" y="1676400"/>
            <a:ext cx="4295334" cy="2684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61" t="27191" r="44077" b="25489"/>
          <a:stretch/>
        </p:blipFill>
        <p:spPr bwMode="auto">
          <a:xfrm>
            <a:off x="4578289" y="1672559"/>
            <a:ext cx="4260911" cy="2678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ZoneTexte 3"/>
          <p:cNvSpPr txBox="1"/>
          <p:nvPr/>
        </p:nvSpPr>
        <p:spPr>
          <a:xfrm>
            <a:off x="914400" y="3733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5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7848600" y="391846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6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FA2A87D-0C28-4AFC-B489-EA105E7B2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5331-A332-4A03-BB19-E41DE03E396E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2978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6A2E0A-F3FE-417D-BA88-452D78A8C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routage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E38212D3-1654-4671-8C3E-6B6DF3348D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5916" r="23656" b="33655"/>
          <a:stretch/>
        </p:blipFill>
        <p:spPr>
          <a:xfrm>
            <a:off x="533400" y="1417638"/>
            <a:ext cx="8462108" cy="4648200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CC17D88-F14F-48FC-99A7-BD169B93A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5331-A332-4A03-BB19-E41DE03E396E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0826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Wireshark</a:t>
            </a:r>
            <a:r>
              <a:rPr lang="fr-FR" dirty="0"/>
              <a:t> 1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853431"/>
            <a:ext cx="6217970" cy="4471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ZoneTexte 3"/>
          <p:cNvSpPr txBox="1"/>
          <p:nvPr/>
        </p:nvSpPr>
        <p:spPr>
          <a:xfrm>
            <a:off x="972926" y="1283558"/>
            <a:ext cx="7015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Rôle : observer, sauvegarder, analyser, retracer, espionner le trafic réseau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935FF53-13FB-4344-A727-2FFA28D39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5331-A332-4A03-BB19-E41DE03E396E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1042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Wireshark</a:t>
            </a:r>
            <a:r>
              <a:rPr lang="fr-FR" dirty="0"/>
              <a:t> 2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4915" y="1600200"/>
            <a:ext cx="629417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B93D182-8F70-4318-A813-37852BA95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5331-A332-4A03-BB19-E41DE03E396E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35120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Wireshark</a:t>
            </a:r>
            <a:r>
              <a:rPr lang="fr-FR" dirty="0"/>
              <a:t> 3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5898" y="1600200"/>
            <a:ext cx="6672203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461322C-0126-49CE-A903-457059CAF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5331-A332-4A03-BB19-E41DE03E396E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99918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Wireshark 4 : Le filtrage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snmp</a:t>
            </a:r>
            <a:r>
              <a:rPr lang="fr-FR" dirty="0"/>
              <a:t>||</a:t>
            </a:r>
            <a:r>
              <a:rPr lang="fr-FR" dirty="0" err="1"/>
              <a:t>dns</a:t>
            </a:r>
            <a:r>
              <a:rPr lang="fr-FR" dirty="0"/>
              <a:t>||</a:t>
            </a:r>
            <a:r>
              <a:rPr lang="fr-FR" dirty="0" err="1"/>
              <a:t>icmp</a:t>
            </a:r>
            <a:endParaRPr lang="fr-FR" dirty="0"/>
          </a:p>
          <a:p>
            <a:r>
              <a:rPr lang="fr-FR" dirty="0" err="1"/>
              <a:t>ip.addr</a:t>
            </a:r>
            <a:r>
              <a:rPr lang="fr-FR" dirty="0"/>
              <a:t> == 192.168.1.230</a:t>
            </a:r>
          </a:p>
          <a:p>
            <a:r>
              <a:rPr lang="fr-FR" dirty="0" err="1"/>
              <a:t>ip.src</a:t>
            </a:r>
            <a:r>
              <a:rPr lang="fr-FR" dirty="0"/>
              <a:t> != 192.168.1.1 or </a:t>
            </a:r>
            <a:r>
              <a:rPr lang="fr-FR" dirty="0" err="1"/>
              <a:t>ip.dst</a:t>
            </a:r>
            <a:r>
              <a:rPr lang="fr-FR" dirty="0"/>
              <a:t> != 20.23.56.24</a:t>
            </a:r>
          </a:p>
          <a:p>
            <a:r>
              <a:rPr lang="fr-FR" dirty="0" err="1"/>
              <a:t>tcp.port</a:t>
            </a:r>
            <a:r>
              <a:rPr lang="fr-FR" dirty="0"/>
              <a:t> == 25</a:t>
            </a:r>
          </a:p>
          <a:p>
            <a:r>
              <a:rPr lang="fr-FR" dirty="0" err="1"/>
              <a:t>tcp.dstport</a:t>
            </a:r>
            <a:r>
              <a:rPr lang="fr-FR" dirty="0"/>
              <a:t> == 25</a:t>
            </a:r>
          </a:p>
          <a:p>
            <a:r>
              <a:rPr lang="fr-FR" dirty="0" err="1"/>
              <a:t>tcp.flags</a:t>
            </a:r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F8B6401-6B12-4528-AB1E-CD7DE7745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5331-A332-4A03-BB19-E41DE03E396E}" type="slidenum">
              <a:rPr lang="fr-FR" smtClean="0"/>
              <a:t>16</a:t>
            </a:fld>
            <a:endParaRPr lang="fr-FR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AECADE7-C071-45AE-A33A-D27107037B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06" b="81480"/>
          <a:stretch/>
        </p:blipFill>
        <p:spPr bwMode="auto">
          <a:xfrm>
            <a:off x="607035" y="5222239"/>
            <a:ext cx="7733830" cy="1086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567272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D3BAC0-CCB3-4D22-B7C9-7AF089AF7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Autres types de filtrage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3754608-3174-4077-9B70-FD651C86F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Frame </a:t>
            </a:r>
            <a:r>
              <a:rPr lang="fr-FR" dirty="0" err="1"/>
              <a:t>contains</a:t>
            </a:r>
            <a:r>
              <a:rPr lang="fr-FR" dirty="0"/>
              <a:t> SIP</a:t>
            </a:r>
          </a:p>
          <a:p>
            <a:r>
              <a:rPr lang="fr-FR" dirty="0"/>
              <a:t>Frame </a:t>
            </a:r>
            <a:r>
              <a:rPr lang="fr-FR" dirty="0" err="1"/>
              <a:t>contains</a:t>
            </a:r>
            <a:r>
              <a:rPr lang="fr-FR" dirty="0"/>
              <a:t> UDP</a:t>
            </a:r>
          </a:p>
          <a:p>
            <a:r>
              <a:rPr lang="fr-FR" dirty="0" err="1"/>
              <a:t>ip.addr</a:t>
            </a:r>
            <a:r>
              <a:rPr lang="fr-FR" dirty="0"/>
              <a:t>==192.168.100.151 ||</a:t>
            </a:r>
            <a:r>
              <a:rPr lang="fr-FR" dirty="0" err="1"/>
              <a:t>ip.addr</a:t>
            </a:r>
            <a:r>
              <a:rPr lang="fr-FR" dirty="0"/>
              <a:t>==192.168.100.182 || </a:t>
            </a:r>
            <a:r>
              <a:rPr lang="fr-FR" dirty="0" err="1"/>
              <a:t>ip.addr</a:t>
            </a:r>
            <a:r>
              <a:rPr lang="fr-FR" dirty="0"/>
              <a:t>==192.168.100.126 &amp;&amp; (frame </a:t>
            </a:r>
            <a:r>
              <a:rPr lang="fr-FR" dirty="0" err="1"/>
              <a:t>contains</a:t>
            </a:r>
            <a:r>
              <a:rPr lang="fr-FR" dirty="0"/>
              <a:t> </a:t>
            </a:r>
            <a:r>
              <a:rPr lang="fr-FR" dirty="0" err="1"/>
              <a:t>sip</a:t>
            </a:r>
            <a:r>
              <a:rPr lang="fr-FR" dirty="0"/>
              <a:t> or frame </a:t>
            </a:r>
            <a:r>
              <a:rPr lang="fr-FR" dirty="0" err="1"/>
              <a:t>contains</a:t>
            </a:r>
            <a:r>
              <a:rPr lang="fr-FR" dirty="0"/>
              <a:t> </a:t>
            </a:r>
            <a:r>
              <a:rPr lang="fr-FR" dirty="0" err="1"/>
              <a:t>rtp</a:t>
            </a:r>
            <a:r>
              <a:rPr lang="fr-FR" dirty="0"/>
              <a:t>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ECC864F-49F4-494B-893E-054D3BDF3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5331-A332-4A03-BB19-E41DE03E396E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78980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fr-FR" dirty="0"/>
              <a:t>Quelques commandes Linux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r>
              <a:rPr lang="fr-FR" dirty="0"/>
              <a:t>Attention ! Toutes les commandes s’écrivent en lettres minuscules</a:t>
            </a:r>
          </a:p>
          <a:p>
            <a:r>
              <a:rPr lang="fr-FR" dirty="0"/>
              <a:t>Quelques commandes :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92C7C83-30E7-4E30-A5C9-362A49DEC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5331-A332-4A03-BB19-E41DE03E396E}" type="slidenum">
              <a:rPr lang="fr-FR" smtClean="0"/>
              <a:t>18</a:t>
            </a:fld>
            <a:endParaRPr lang="fr-FR"/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E245CD62-C000-63A9-C999-DFD5F3C5BF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692958"/>
              </p:ext>
            </p:extLst>
          </p:nvPr>
        </p:nvGraphicFramePr>
        <p:xfrm>
          <a:off x="990600" y="3276600"/>
          <a:ext cx="5410200" cy="33067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95286">
                  <a:extLst>
                    <a:ext uri="{9D8B030D-6E8A-4147-A177-3AD203B41FA5}">
                      <a16:colId xmlns:a16="http://schemas.microsoft.com/office/drawing/2014/main" val="2662347684"/>
                    </a:ext>
                  </a:extLst>
                </a:gridCol>
                <a:gridCol w="2214914">
                  <a:extLst>
                    <a:ext uri="{9D8B030D-6E8A-4147-A177-3AD203B41FA5}">
                      <a16:colId xmlns:a16="http://schemas.microsoft.com/office/drawing/2014/main" val="2453465305"/>
                    </a:ext>
                  </a:extLst>
                </a:gridCol>
              </a:tblGrid>
              <a:tr h="3006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800" u="none" strike="noStrike">
                          <a:effectLst/>
                        </a:rPr>
                        <a:t>su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800" u="none" strike="noStrike">
                          <a:effectLst/>
                        </a:rPr>
                        <a:t>ifconfig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74729433"/>
                  </a:ext>
                </a:extLst>
              </a:tr>
              <a:tr h="3006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800" u="none" strike="noStrike">
                          <a:effectLst/>
                        </a:rPr>
                        <a:t>apt update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800" u="none" strike="noStrike">
                          <a:effectLst/>
                        </a:rPr>
                        <a:t>ping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75203541"/>
                  </a:ext>
                </a:extLst>
              </a:tr>
              <a:tr h="3006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800" u="none" strike="noStrike">
                          <a:effectLst/>
                        </a:rPr>
                        <a:t>apt upgrade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800" u="none" strike="noStrike">
                          <a:effectLst/>
                        </a:rPr>
                        <a:t>find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5709709"/>
                  </a:ext>
                </a:extLst>
              </a:tr>
              <a:tr h="3006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800" u="none" strike="noStrike">
                          <a:effectLst/>
                        </a:rPr>
                        <a:t>apt install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800" u="none" strike="noStrike">
                          <a:effectLst/>
                        </a:rPr>
                        <a:t>gedit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03381352"/>
                  </a:ext>
                </a:extLst>
              </a:tr>
              <a:tr h="3006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800" u="none" strike="noStrike">
                          <a:effectLst/>
                        </a:rPr>
                        <a:t>mkdir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800" u="none" strike="noStrike">
                          <a:effectLst/>
                        </a:rPr>
                        <a:t>nano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4872035"/>
                  </a:ext>
                </a:extLst>
              </a:tr>
              <a:tr h="3006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800" u="none" strike="noStrike">
                          <a:effectLst/>
                        </a:rPr>
                        <a:t>&gt;fichier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800" u="none" strike="noStrike">
                          <a:effectLst/>
                        </a:rPr>
                        <a:t>grep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7755414"/>
                  </a:ext>
                </a:extLst>
              </a:tr>
              <a:tr h="3006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800" u="none" strike="noStrike">
                          <a:effectLst/>
                        </a:rPr>
                        <a:t>ls (et ses options)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800" u="none" strike="noStrike">
                          <a:effectLst/>
                        </a:rPr>
                        <a:t>cp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5503624"/>
                  </a:ext>
                </a:extLst>
              </a:tr>
              <a:tr h="3006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800" u="none" strike="noStrike">
                          <a:effectLst/>
                        </a:rPr>
                        <a:t>chmod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800" u="none" strike="noStrike">
                          <a:effectLst/>
                        </a:rPr>
                        <a:t>rm -F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22149674"/>
                  </a:ext>
                </a:extLst>
              </a:tr>
              <a:tr h="3006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800" u="none" strike="noStrike">
                          <a:effectLst/>
                        </a:rPr>
                        <a:t>pwd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800" u="none" strike="noStrike">
                          <a:effectLst/>
                        </a:rPr>
                        <a:t>wc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67156041"/>
                  </a:ext>
                </a:extLst>
              </a:tr>
              <a:tr h="3006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800" u="none" strike="noStrike">
                          <a:effectLst/>
                        </a:rPr>
                        <a:t>pipe |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800" u="none" strike="noStrike" dirty="0">
                          <a:effectLst/>
                        </a:rPr>
                        <a:t>Redirections (&gt;, &gt;&gt;, 2&gt;)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83063420"/>
                  </a:ext>
                </a:extLst>
              </a:tr>
              <a:tr h="3006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800" u="none" strike="noStrike">
                          <a:effectLst/>
                        </a:rPr>
                        <a:t>touch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800" u="none" strike="noStrike" dirty="0">
                          <a:effectLst/>
                        </a:rPr>
                        <a:t>cat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708804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10853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456</Words>
  <Application>Microsoft Office PowerPoint</Application>
  <PresentationFormat>Affichage à l'écran (4:3)</PresentationFormat>
  <Paragraphs>125</Paragraphs>
  <Slides>18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2" baseType="lpstr">
      <vt:lpstr>Aptos Narrow</vt:lpstr>
      <vt:lpstr>Arial</vt:lpstr>
      <vt:lpstr>Calibri</vt:lpstr>
      <vt:lpstr>Thème Office</vt:lpstr>
      <vt:lpstr>Quelques bases de réseau</vt:lpstr>
      <vt:lpstr>Quelques rappels (ou pas…)</vt:lpstr>
      <vt:lpstr>Vocabulaire</vt:lpstr>
      <vt:lpstr>Format d’une adresse IPv4</vt:lpstr>
      <vt:lpstr>Reconnaissance de chaque partie de l’adresse IP</vt:lpstr>
      <vt:lpstr>Notation cidr</vt:lpstr>
      <vt:lpstr>Architecture réseau de base</vt:lpstr>
      <vt:lpstr>Adresse MAC</vt:lpstr>
      <vt:lpstr>La commutation : remplissage de la table MAC</vt:lpstr>
      <vt:lpstr>Remplissage de la table MAC</vt:lpstr>
      <vt:lpstr>Remplissage de la table MAC (suite)</vt:lpstr>
      <vt:lpstr>Le routage</vt:lpstr>
      <vt:lpstr>Wireshark 1</vt:lpstr>
      <vt:lpstr>Wireshark 2</vt:lpstr>
      <vt:lpstr>Wireshark 3</vt:lpstr>
      <vt:lpstr>Wireshark 4 : Le filtrage</vt:lpstr>
      <vt:lpstr>Autres types de filtrage</vt:lpstr>
      <vt:lpstr>Quelques commandes Linux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Quelques rappels</dc:title>
  <dc:creator>Olivier TOTO</dc:creator>
  <cp:lastModifiedBy>olivier Payet</cp:lastModifiedBy>
  <cp:revision>47</cp:revision>
  <dcterms:created xsi:type="dcterms:W3CDTF">2017-09-27T07:05:28Z</dcterms:created>
  <dcterms:modified xsi:type="dcterms:W3CDTF">2025-09-23T15:01:39Z</dcterms:modified>
</cp:coreProperties>
</file>